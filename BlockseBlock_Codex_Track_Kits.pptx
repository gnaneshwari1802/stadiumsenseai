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75599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hyperlink" Target="#page=5&amp;view=Fit" TargetMode="External"/><Relationship Id="rId5" Type="http://schemas.openxmlformats.org/officeDocument/2006/relationships/hyperlink" Target="#page=6&amp;view=Fit" TargetMode="External"/><Relationship Id="rId6" Type="http://schemas.openxmlformats.org/officeDocument/2006/relationships/hyperlink" Target="#page=7&amp;view=Fit" TargetMode="External"/><Relationship Id="rId7" Type="http://schemas.openxmlformats.org/officeDocument/2006/relationships/hyperlink" Target="#page=8&amp;view=Fit" TargetMode="External"/><Relationship Id="rId8" Type="http://schemas.openxmlformats.org/officeDocument/2006/relationships/hyperlink" Target="#page=9&amp;view=Fit" TargetMode="External"/><Relationship Id="rId9" Type="http://schemas.openxmlformats.org/officeDocument/2006/relationships/hyperlink" Target="#page=10&amp;view=Fit" TargetMode="External"/><Relationship Id="rId10" Type="http://schemas.openxmlformats.org/officeDocument/2006/relationships/hyperlink" Target="#page=11&amp;view=Fit" TargetMode="External"/><Relationship Id="rId11" Type="http://schemas.openxmlformats.org/officeDocument/2006/relationships/hyperlink" Target="#page=12&amp;view=Fit" TargetMode="External"/><Relationship Id="rId12" Type="http://schemas.openxmlformats.org/officeDocument/2006/relationships/hyperlink" Target="#page=13&amp;view=Fit" TargetMode="External"/><Relationship Id="rId13" Type="http://schemas.openxmlformats.org/officeDocument/2006/relationships/hyperlink" Target="#page=14&amp;view=Fit" TargetMode="External"/><Relationship Id="rId14" Type="http://schemas.openxmlformats.org/officeDocument/2006/relationships/hyperlink" Target="#page=15&amp;view=Fit" TargetMode="External"/><Relationship Id="rId15" Type="http://schemas.openxmlformats.org/officeDocument/2006/relationships/hyperlink" Target="#page=16&amp;view=Fit" TargetMode="External"/><Relationship Id="rId16" Type="http://schemas.openxmlformats.org/officeDocument/2006/relationships/hyperlink" Target="#page=17&amp;view=Fit" TargetMode="External"/><Relationship Id="rId17" Type="http://schemas.openxmlformats.org/officeDocument/2006/relationships/hyperlink" Target="#page=18&amp;view=Fit" TargetMode="External"/><Relationship Id="rId18" Type="http://schemas.openxmlformats.org/officeDocument/2006/relationships/hyperlink" Target="#page=19&amp;view=Fit" TargetMode="External"/><Relationship Id="rId19" Type="http://schemas.openxmlformats.org/officeDocument/2006/relationships/hyperlink" Target="#page=20&amp;view=Fit" TargetMode="External"/><Relationship Id="rId20" Type="http://schemas.openxmlformats.org/officeDocument/2006/relationships/hyperlink" Target="#page=21&amp;view=Fit" TargetMode="External"/><Relationship Id="rId21" Type="http://schemas.openxmlformats.org/officeDocument/2006/relationships/hyperlink" Target="#page=22&amp;view=Fit" TargetMode="External"/><Relationship Id="rId22" Type="http://schemas.openxmlformats.org/officeDocument/2006/relationships/hyperlink" Target="#page=23&amp;view=Fit" TargetMode="External"/><Relationship Id="rId23" Type="http://schemas.openxmlformats.org/officeDocument/2006/relationships/hyperlink" Target="#page=24&amp;view=Fit" TargetMode="External"/><Relationship Id="rId24" Type="http://schemas.openxmlformats.org/officeDocument/2006/relationships/hyperlink" Target="#page=25&amp;view=Fit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hyperlink" Target="#page=26&amp;view=Fit" TargetMode="External"/><Relationship Id="rId5" Type="http://schemas.openxmlformats.org/officeDocument/2006/relationships/hyperlink" Target="#page=27&amp;view=Fit" TargetMode="External"/><Relationship Id="rId6" Type="http://schemas.openxmlformats.org/officeDocument/2006/relationships/hyperlink" Target="#page=28&amp;view=Fit" TargetMode="External"/><Relationship Id="rId7" Type="http://schemas.openxmlformats.org/officeDocument/2006/relationships/hyperlink" Target="#page=29&amp;view=Fit" TargetMode="External"/><Relationship Id="rId8" Type="http://schemas.openxmlformats.org/officeDocument/2006/relationships/hyperlink" Target="#page=30&amp;view=Fit" TargetMode="External"/><Relationship Id="rId9" Type="http://schemas.openxmlformats.org/officeDocument/2006/relationships/hyperlink" Target="#page=31&amp;view=Fit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23.png"/><Relationship Id="rId10" Type="http://schemas.openxmlformats.org/officeDocument/2006/relationships/image" Target="../media/image3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Relationship Id="rId9" Type="http://schemas.openxmlformats.org/officeDocument/2006/relationships/image" Target="../media/image36.png"/><Relationship Id="rId10" Type="http://schemas.openxmlformats.org/officeDocument/2006/relationships/image" Target="../media/image3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40.png"/><Relationship Id="rId8" Type="http://schemas.openxmlformats.org/officeDocument/2006/relationships/image" Target="../media/image41.png"/><Relationship Id="rId9" Type="http://schemas.openxmlformats.org/officeDocument/2006/relationships/image" Target="../media/image23.png"/><Relationship Id="rId10" Type="http://schemas.openxmlformats.org/officeDocument/2006/relationships/image" Target="../media/image3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42.png"/><Relationship Id="rId8" Type="http://schemas.openxmlformats.org/officeDocument/2006/relationships/image" Target="../media/image43.png"/><Relationship Id="rId9" Type="http://schemas.openxmlformats.org/officeDocument/2006/relationships/image" Target="../media/image44.png"/><Relationship Id="rId10" Type="http://schemas.openxmlformats.org/officeDocument/2006/relationships/image" Target="../media/image4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46.png"/><Relationship Id="rId8" Type="http://schemas.openxmlformats.org/officeDocument/2006/relationships/image" Target="../media/image47.png"/><Relationship Id="rId9" Type="http://schemas.openxmlformats.org/officeDocument/2006/relationships/image" Target="../media/image23.png"/><Relationship Id="rId10" Type="http://schemas.openxmlformats.org/officeDocument/2006/relationships/image" Target="../media/image3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40.png"/><Relationship Id="rId8" Type="http://schemas.openxmlformats.org/officeDocument/2006/relationships/image" Target="../media/image41.png"/><Relationship Id="rId9" Type="http://schemas.openxmlformats.org/officeDocument/2006/relationships/image" Target="../media/image23.png"/><Relationship Id="rId10" Type="http://schemas.openxmlformats.org/officeDocument/2006/relationships/image" Target="../media/image3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48.png"/><Relationship Id="rId8" Type="http://schemas.openxmlformats.org/officeDocument/2006/relationships/image" Target="../media/image49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50.png"/><Relationship Id="rId8" Type="http://schemas.openxmlformats.org/officeDocument/2006/relationships/image" Target="../media/image51.png"/><Relationship Id="rId9" Type="http://schemas.openxmlformats.org/officeDocument/2006/relationships/image" Target="../media/image44.png"/><Relationship Id="rId10" Type="http://schemas.openxmlformats.org/officeDocument/2006/relationships/image" Target="../media/image4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52.png"/><Relationship Id="rId8" Type="http://schemas.openxmlformats.org/officeDocument/2006/relationships/image" Target="../media/image53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54.png"/><Relationship Id="rId8" Type="http://schemas.openxmlformats.org/officeDocument/2006/relationships/image" Target="../media/image55.png"/><Relationship Id="rId9" Type="http://schemas.openxmlformats.org/officeDocument/2006/relationships/image" Target="../media/image56.png"/><Relationship Id="rId10" Type="http://schemas.openxmlformats.org/officeDocument/2006/relationships/image" Target="../media/image5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Relationship Id="rId9" Type="http://schemas.openxmlformats.org/officeDocument/2006/relationships/image" Target="../media/image36.png"/><Relationship Id="rId10" Type="http://schemas.openxmlformats.org/officeDocument/2006/relationships/image" Target="../media/image3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58.png"/><Relationship Id="rId8" Type="http://schemas.openxmlformats.org/officeDocument/2006/relationships/image" Target="../media/image59.png"/><Relationship Id="rId9" Type="http://schemas.openxmlformats.org/officeDocument/2006/relationships/image" Target="../media/image20.png"/><Relationship Id="rId10" Type="http://schemas.openxmlformats.org/officeDocument/2006/relationships/image" Target="../media/image6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48.png"/><Relationship Id="rId8" Type="http://schemas.openxmlformats.org/officeDocument/2006/relationships/image" Target="../media/image49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50" y="2082800"/>
            <a:ext cx="3181350" cy="8318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50010" y="3315970"/>
            <a:ext cx="485902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9" b="1" sz="2700">
                <a:solidFill>
                  <a:srgbClr val="092A49"/>
                </a:solidFill>
                <a:latin typeface="Roboto"/>
              </a:rPr>
              <a:t>Codex Hackathon - Track Kits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49680" y="3769360"/>
            <a:ext cx="5060950" cy="158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" sz="1250">
                <a:solidFill>
                  <a:srgbClr val="5C6672"/>
                </a:solidFill>
                <a:latin typeface="Roboto"/>
              </a:rPr>
              <a:t>27 back-tested, paste-ready Codex prompts • 9 tracks • 3 products each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78430" y="4460240"/>
            <a:ext cx="220218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" sz="1000">
                <a:solidFill>
                  <a:srgbClr val="12406E"/>
                </a:solidFill>
                <a:latin typeface="Roboto"/>
              </a:rPr>
              <a:t>ChatGPT Codex India 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93390" y="4650740"/>
            <a:ext cx="157353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" sz="1000">
                <a:solidFill>
                  <a:srgbClr val="12406E"/>
                </a:solidFill>
                <a:latin typeface="Roboto"/>
              </a:rPr>
              <a:t>Submit at blockseblock.com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6520" y="4192270"/>
            <a:ext cx="2286000" cy="50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0165080"/>
            <a:ext cx="6391909" cy="127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00" y="10217150"/>
            <a:ext cx="635000" cy="171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4200" y="626110"/>
            <a:ext cx="168275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7" b="1" sz="1500">
                <a:solidFill>
                  <a:srgbClr val="092A49"/>
                </a:solidFill>
                <a:latin typeface="Roboto"/>
              </a:rPr>
              <a:t>How to use this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928369"/>
            <a:ext cx="6348730" cy="121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" sz="950">
                <a:solidFill>
                  <a:srgbClr val="232A33"/>
                </a:solidFill>
                <a:latin typeface="Roboto"/>
              </a:rPr>
              <a:t>Each product is on its </a:t>
            </a:r>
            <a:r>
              <a:rPr spc="40" b="1" sz="950">
                <a:solidFill>
                  <a:srgbClr val="232A33"/>
                </a:solidFill>
                <a:latin typeface="Roboto"/>
              </a:rPr>
              <a:t>own page</a:t>
            </a:r>
            <a:r>
              <a:rPr spc="-1" sz="950">
                <a:solidFill>
                  <a:srgbClr val="232A33"/>
                </a:solidFill>
                <a:latin typeface="Roboto"/>
              </a:rPr>
              <a:t> with three things: an explicit list of </a:t>
            </a:r>
            <a:r>
              <a:rPr spc="40" b="1" sz="950">
                <a:solidFill>
                  <a:srgbClr val="232A33"/>
                </a:solidFill>
                <a:latin typeface="Roboto"/>
              </a:rPr>
              <a:t>API prerequisites</a:t>
            </a:r>
            <a:r>
              <a:rPr spc="41" sz="950">
                <a:solidFill>
                  <a:srgbClr val="232A33"/>
                </a:solidFill>
                <a:latin typeface="Roboto"/>
              </a:rPr>
              <a:t>, a </a:t>
            </a:r>
            <a:r>
              <a:rPr spc="41" b="1" sz="950">
                <a:solidFill>
                  <a:srgbClr val="232A33"/>
                </a:solidFill>
                <a:latin typeface="Roboto"/>
              </a:rPr>
              <a:t>copy-and-paste prompt</a:t>
            </a:r>
            <a:r>
              <a:rPr spc="-10" sz="950">
                <a:solidFill>
                  <a:srgbClr val="232A33"/>
                </a:solidFill>
                <a:latin typeface="Roboto"/>
              </a:rPr>
              <a:t>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1106170"/>
            <a:ext cx="6391909" cy="121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4" sz="950">
                <a:solidFill>
                  <a:srgbClr val="232A33"/>
                </a:solidFill>
                <a:latin typeface="Roboto"/>
              </a:rPr>
              <a:t>OpenAI Codex, and </a:t>
            </a:r>
            <a:r>
              <a:rPr spc="41" b="1" sz="950">
                <a:solidFill>
                  <a:srgbClr val="232A33"/>
                </a:solidFill>
                <a:latin typeface="Roboto"/>
              </a:rPr>
              <a:t>suggested changes</a:t>
            </a:r>
            <a:r>
              <a:rPr spc="5" sz="950">
                <a:solidFill>
                  <a:srgbClr val="232A33"/>
                </a:solidFill>
                <a:latin typeface="Roboto"/>
              </a:rPr>
              <a:t> to make it your own. Use the </a:t>
            </a:r>
            <a:r>
              <a:rPr spc="35" b="1" sz="950">
                <a:solidFill>
                  <a:srgbClr val="232A33"/>
                </a:solidFill>
                <a:latin typeface="Roboto"/>
              </a:rPr>
              <a:t>clickable contents</a:t>
            </a:r>
            <a:r>
              <a:rPr spc="1" sz="950">
                <a:solidFill>
                  <a:srgbClr val="232A33"/>
                </a:solidFill>
                <a:latin typeface="Roboto"/>
              </a:rPr>
              <a:t> on the next page to jump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283970"/>
            <a:ext cx="670560" cy="121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" sz="950">
                <a:solidFill>
                  <a:srgbClr val="232A33"/>
                </a:solidFill>
                <a:latin typeface="Roboto"/>
              </a:rPr>
              <a:t>any product.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563370"/>
            <a:ext cx="6369050" cy="121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4" b="1" sz="950">
                <a:solidFill>
                  <a:srgbClr val="232A33"/>
                </a:solidFill>
                <a:latin typeface="Roboto"/>
              </a:rPr>
              <a:t>Workflow:</a:t>
            </a:r>
            <a:r>
              <a:rPr spc="13" sz="950">
                <a:solidFill>
                  <a:srgbClr val="232A33"/>
                </a:solidFill>
                <a:latin typeface="Roboto"/>
              </a:rPr>
              <a:t> open Codex (CLI, IDE extension, or ChatGPT desktop Codex mode) in an empty folder, paste one prompt,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1741170"/>
            <a:ext cx="1436370" cy="121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950">
                <a:solidFill>
                  <a:srgbClr val="232A33"/>
                </a:solidFill>
                <a:latin typeface="Roboto"/>
              </a:rPr>
              <a:t>let it build, then customise.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2020570"/>
            <a:ext cx="643890" cy="121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6" b="1" sz="950">
                <a:solidFill>
                  <a:srgbClr val="232A33"/>
                </a:solidFill>
                <a:latin typeface="Roboto"/>
              </a:rPr>
              <a:t>The boxes: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4200" y="2198370"/>
            <a:ext cx="6220459" cy="121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3" b="1" sz="950">
                <a:solidFill>
                  <a:srgbClr val="232A33"/>
                </a:solidFill>
                <a:latin typeface="Roboto"/>
              </a:rPr>
              <a:t>API PREREQUISITES</a:t>
            </a:r>
            <a:r>
              <a:rPr spc="11" sz="950">
                <a:solidFill>
                  <a:srgbClr val="232A33"/>
                </a:solidFill>
                <a:latin typeface="Roboto"/>
              </a:rPr>
              <a:t> (blue) - what you need. Every demo deploys and runs with </a:t>
            </a:r>
            <a:r>
              <a:rPr spc="44" b="1" sz="950">
                <a:solidFill>
                  <a:srgbClr val="232A33"/>
                </a:solidFill>
                <a:latin typeface="Roboto"/>
              </a:rPr>
              <a:t>no login and no API key</a:t>
            </a:r>
            <a:r>
              <a:rPr spc="1" sz="950">
                <a:solidFill>
                  <a:srgbClr val="232A33"/>
                </a:solidFill>
                <a:latin typeface="Roboto"/>
              </a:rPr>
              <a:t>; live/AI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2376170"/>
            <a:ext cx="2208530" cy="121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" sz="950">
                <a:solidFill>
                  <a:srgbClr val="232A33"/>
                </a:solidFill>
                <a:latin typeface="Roboto"/>
              </a:rPr>
              <a:t>features are optional and clearly marked.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2553970"/>
            <a:ext cx="3963670" cy="121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6" b="1" sz="950">
                <a:solidFill>
                  <a:srgbClr val="232A33"/>
                </a:solidFill>
                <a:latin typeface="Roboto"/>
              </a:rPr>
              <a:t>PROMPT</a:t>
            </a:r>
            <a:r>
              <a:rPr spc="7" sz="950">
                <a:solidFill>
                  <a:srgbClr val="232A33"/>
                </a:solidFill>
                <a:latin typeface="Roboto"/>
              </a:rPr>
              <a:t> (grey, monospace) - copy the whole block into Codex verbatim.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2731770"/>
            <a:ext cx="5934709" cy="121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0" b="1" sz="950">
                <a:solidFill>
                  <a:srgbClr val="232A33"/>
                </a:solidFill>
                <a:latin typeface="Roboto"/>
              </a:rPr>
              <a:t>SUGGESTED CHANGES</a:t>
            </a:r>
            <a:r>
              <a:rPr spc="5" sz="950">
                <a:solidFill>
                  <a:srgbClr val="232A33"/>
                </a:solidFill>
                <a:latin typeface="Roboto"/>
              </a:rPr>
              <a:t> (amber) - what to change so your entry is original. Judges check originality - always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2909570"/>
            <a:ext cx="1584960" cy="121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" sz="950">
                <a:solidFill>
                  <a:srgbClr val="232A33"/>
                </a:solidFill>
                <a:latin typeface="Roboto"/>
              </a:rPr>
              <a:t>customise before you submit.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4200" y="3187700"/>
            <a:ext cx="6242050" cy="1181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" i="1" sz="950">
                <a:solidFill>
                  <a:srgbClr val="5C6672"/>
                </a:solidFill>
                <a:latin typeface="Roboto"/>
              </a:rPr>
              <a:t>Prompts are normalised to plain text for print (native scripts shown as language names, symbols as ASCII); they remain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4200" y="3346450"/>
            <a:ext cx="1062989" cy="1181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" i="1" sz="950">
                <a:solidFill>
                  <a:srgbClr val="5C6672"/>
                </a:solidFill>
                <a:latin typeface="Roboto"/>
              </a:rPr>
              <a:t>fully valid for Codex.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73350" y="10261600"/>
            <a:ext cx="2213610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" sz="750">
                <a:solidFill>
                  <a:srgbClr val="5C6672"/>
                </a:solidFill>
                <a:latin typeface="Roboto"/>
              </a:rPr>
              <a:t>ChatGPT Codex India Hackathon 2026 - Track Kits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3850" y="10261600"/>
            <a:ext cx="302259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" sz="750">
                <a:solidFill>
                  <a:srgbClr val="5C6672"/>
                </a:solidFill>
                <a:latin typeface="Roboto"/>
              </a:rPr>
              <a:t>Page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0165080"/>
            <a:ext cx="6391909" cy="127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00" y="10217150"/>
            <a:ext cx="635000" cy="171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4200" y="626110"/>
            <a:ext cx="82550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7" b="1" sz="1500">
                <a:solidFill>
                  <a:srgbClr val="092A49"/>
                </a:solidFill>
                <a:latin typeface="Roboto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1159510"/>
            <a:ext cx="1570989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9" b="1" sz="1050">
                <a:solidFill>
                  <a:srgbClr val="092A49"/>
                </a:solidFill>
                <a:latin typeface="Roboto"/>
                <a:hlinkClick r:id="rId4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Track 1 - Agentic Coding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01180" y="1159510"/>
            <a:ext cx="74929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b="1" sz="1050">
                <a:solidFill>
                  <a:srgbClr val="092A49"/>
                </a:solidFill>
                <a:latin typeface="Roboto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7400" y="1447800"/>
            <a:ext cx="265430" cy="1193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" sz="950">
                <a:solidFill>
                  <a:srgbClr val="232A33"/>
                </a:solidFill>
                <a:latin typeface="Roboto"/>
                <a:hlinkClick r:id="rId4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Fix-It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5380" y="1447800"/>
            <a:ext cx="5840730" cy="1193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5" sz="950">
                <a:solidFill>
                  <a:srgbClr val="232A33"/>
                </a:solidFill>
                <a:latin typeface="Roboto"/>
              </a:rPr>
              <a:t> . . . . . . . . . . . . . . . . . . . . . . . . . . . . . . . . . . . . . . . . . . . . . . . . . . . . . . . . . . </a:t>
            </a:r>
            <a:r>
              <a:rPr spc="-4" sz="950">
                <a:solidFill>
                  <a:srgbClr val="232A33"/>
                </a:solidFill>
                <a:latin typeface="Roboto"/>
                <a:hlinkClick r:id="rId4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7400" y="1701800"/>
            <a:ext cx="391159" cy="1193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" sz="950">
                <a:solidFill>
                  <a:srgbClr val="232A33"/>
                </a:solidFill>
                <a:latin typeface="Roboto"/>
                <a:hlinkClick r:id="rId5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TestFix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701800"/>
            <a:ext cx="5741670" cy="1193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5" sz="950">
                <a:solidFill>
                  <a:srgbClr val="232A33"/>
                </a:solidFill>
                <a:latin typeface="Roboto"/>
              </a:rPr>
              <a:t> . . . . . . . . . . . . . . . . . . . . . . . . . . . . . . . . . . . . . . . . . . . . . . . . . . . . . . . . . </a:t>
            </a:r>
            <a:r>
              <a:rPr spc="-4" sz="950">
                <a:solidFill>
                  <a:srgbClr val="232A33"/>
                </a:solidFill>
                <a:latin typeface="Roboto"/>
                <a:hlinkClick r:id="rId5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7400" y="1955800"/>
            <a:ext cx="808990" cy="1193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" sz="950">
                <a:solidFill>
                  <a:srgbClr val="232A33"/>
                </a:solidFill>
                <a:latin typeface="Roboto"/>
                <a:hlinkClick r:id="rId6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Refactor Radar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33220" y="1955800"/>
            <a:ext cx="5342889" cy="1193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5" sz="950">
                <a:solidFill>
                  <a:srgbClr val="232A33"/>
                </a:solidFill>
                <a:latin typeface="Roboto"/>
              </a:rPr>
              <a:t> . . . . . . . . . . . . . . . . . . . . . . . . . . . . . . . . . . . . . . . . . . . . . . . . . . . . . </a:t>
            </a:r>
            <a:r>
              <a:rPr spc="-4" sz="950">
                <a:solidFill>
                  <a:srgbClr val="232A33"/>
                </a:solidFill>
                <a:latin typeface="Roboto"/>
                <a:hlinkClick r:id="rId6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2404110"/>
            <a:ext cx="234950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7" b="1" sz="1050">
                <a:solidFill>
                  <a:srgbClr val="092A49"/>
                </a:solidFill>
                <a:latin typeface="Roboto"/>
                <a:hlinkClick r:id="rId7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Track 2 - UX for Agentic Applications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1180" y="2404110"/>
            <a:ext cx="74929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b="1" sz="1050">
                <a:solidFill>
                  <a:srgbClr val="092A49"/>
                </a:solidFill>
                <a:latin typeface="Roboto"/>
              </a:rP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7400" y="2692400"/>
            <a:ext cx="775969" cy="1193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" sz="950">
                <a:solidFill>
                  <a:srgbClr val="232A33"/>
                </a:solidFill>
                <a:latin typeface="Roboto"/>
                <a:hlinkClick r:id="rId7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Autonomy Dial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33220" y="2692400"/>
            <a:ext cx="5342889" cy="1193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5" sz="950">
                <a:solidFill>
                  <a:srgbClr val="232A33"/>
                </a:solidFill>
                <a:latin typeface="Roboto"/>
              </a:rPr>
              <a:t> . . . . . . . . . . . . . . . . . . . . . . . . . . . . . . . . . . . . . . . . . . . . . . . . . . . . . </a:t>
            </a:r>
            <a:r>
              <a:rPr spc="-4" sz="950">
                <a:solidFill>
                  <a:srgbClr val="232A33"/>
                </a:solidFill>
                <a:latin typeface="Roboto"/>
                <a:hlinkClick r:id="rId7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400" y="2946400"/>
            <a:ext cx="882650" cy="1193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" sz="950">
                <a:solidFill>
                  <a:srgbClr val="232A33"/>
                </a:solidFill>
                <a:latin typeface="Roboto"/>
                <a:hlinkClick r:id="rId8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Agent Audit Trail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2280" y="2946400"/>
            <a:ext cx="5243830" cy="1193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5" sz="950">
                <a:solidFill>
                  <a:srgbClr val="232A33"/>
                </a:solidFill>
                <a:latin typeface="Roboto"/>
              </a:rPr>
              <a:t> . . . . . . . . . . . . . . . . . . . . . . . . . . . . . . . . . . . . . . . . . . . . . . . . . . . . </a:t>
            </a:r>
            <a:r>
              <a:rPr spc="-4" sz="950">
                <a:solidFill>
                  <a:srgbClr val="232A33"/>
                </a:solidFill>
                <a:latin typeface="Roboto"/>
                <a:hlinkClick r:id="rId8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400" y="3200400"/>
            <a:ext cx="610869" cy="1193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3" sz="950">
                <a:solidFill>
                  <a:srgbClr val="232A33"/>
                </a:solidFill>
                <a:latin typeface="Roboto"/>
                <a:hlinkClick r:id="rId9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Diff Cockpit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6850" y="3200400"/>
            <a:ext cx="5509259" cy="1193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5" sz="950">
                <a:solidFill>
                  <a:srgbClr val="232A33"/>
                </a:solidFill>
                <a:latin typeface="Roboto"/>
              </a:rPr>
              <a:t> . . . . . . . . . . . . . . . . . . . . . . . . . . . . . . . . . . . . . . . . . . . . . . . . . . . . . . </a:t>
            </a:r>
            <a:r>
              <a:rPr spc="-9" sz="950">
                <a:solidFill>
                  <a:srgbClr val="232A33"/>
                </a:solidFill>
                <a:latin typeface="Roboto"/>
                <a:hlinkClick r:id="rId9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3648710"/>
            <a:ext cx="2059939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0" b="1" sz="1050">
                <a:solidFill>
                  <a:srgbClr val="092A49"/>
                </a:solidFill>
                <a:latin typeface="Roboto"/>
                <a:hlinkClick r:id="rId10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Track 3 - Multimodal Intelligence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27520" y="3648710"/>
            <a:ext cx="148589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" b="1" sz="1050">
                <a:solidFill>
                  <a:srgbClr val="092A49"/>
                </a:solidFill>
                <a:latin typeface="Roboto"/>
              </a:rPr>
              <a:t>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7400" y="3937000"/>
            <a:ext cx="703580" cy="1193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" sz="950">
                <a:solidFill>
                  <a:srgbClr val="232A33"/>
                </a:solidFill>
                <a:latin typeface="Roboto"/>
                <a:hlinkClick r:id="rId10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SketchSpeak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65910" y="3937000"/>
            <a:ext cx="5410199" cy="1193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5" sz="950">
                <a:solidFill>
                  <a:srgbClr val="232A33"/>
                </a:solidFill>
                <a:latin typeface="Roboto"/>
              </a:rPr>
              <a:t> . . . . . . . . . . . . . . . . . . . . . . . . . . . . . . . . . . . . . . . . . . . . . . . . . . . . . </a:t>
            </a:r>
            <a:r>
              <a:rPr spc="-9" sz="950">
                <a:solidFill>
                  <a:srgbClr val="232A33"/>
                </a:solidFill>
                <a:latin typeface="Roboto"/>
                <a:hlinkClick r:id="rId10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7400" y="4191000"/>
            <a:ext cx="1074420" cy="1193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" sz="950">
                <a:solidFill>
                  <a:srgbClr val="232A33"/>
                </a:solidFill>
                <a:latin typeface="Roboto"/>
                <a:hlinkClick r:id="rId11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Point-to-Regenerate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64360" y="4191000"/>
            <a:ext cx="5111749" cy="1193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5" sz="950">
                <a:solidFill>
                  <a:srgbClr val="232A33"/>
                </a:solidFill>
                <a:latin typeface="Roboto"/>
              </a:rPr>
              <a:t> . . . . . . . . . . . . . . . . . . . . . . . . . . . . . . . . . . . . . . . . . . . . . . . . . . </a:t>
            </a:r>
            <a:r>
              <a:rPr spc="-9" sz="950">
                <a:solidFill>
                  <a:srgbClr val="232A33"/>
                </a:solidFill>
                <a:latin typeface="Roboto"/>
                <a:hlinkClick r:id="rId11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7400" y="4445000"/>
            <a:ext cx="689610" cy="1193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" sz="950">
                <a:solidFill>
                  <a:srgbClr val="232A33"/>
                </a:solidFill>
                <a:latin typeface="Roboto"/>
                <a:hlinkClick r:id="rId1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Voice-to-App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65910" y="4445000"/>
            <a:ext cx="5410199" cy="1193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5" sz="950">
                <a:solidFill>
                  <a:srgbClr val="232A33"/>
                </a:solidFill>
                <a:latin typeface="Roboto"/>
              </a:rPr>
              <a:t> . . . . . . . . . . . . . . . . . . . . . . . . . . . . . . . . . . . . . . . . . . . . . . . . . . . . . </a:t>
            </a:r>
            <a:r>
              <a:rPr spc="-9" sz="950">
                <a:solidFill>
                  <a:srgbClr val="232A33"/>
                </a:solidFill>
                <a:latin typeface="Roboto"/>
                <a:hlinkClick r:id="rId1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4893310"/>
            <a:ext cx="156337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6" b="1" sz="1050">
                <a:solidFill>
                  <a:srgbClr val="092A49"/>
                </a:solidFill>
                <a:latin typeface="Roboto"/>
                <a:hlinkClick r:id="rId13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Track 4 - Domain Agents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27520" y="4893310"/>
            <a:ext cx="148589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" b="1" sz="1050">
                <a:solidFill>
                  <a:srgbClr val="092A49"/>
                </a:solidFill>
                <a:latin typeface="Roboto"/>
              </a:rPr>
              <a:t>14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7400" y="5181600"/>
            <a:ext cx="650240" cy="1193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" sz="950">
                <a:solidFill>
                  <a:srgbClr val="232A33"/>
                </a:solidFill>
                <a:latin typeface="Roboto"/>
                <a:hlinkClick r:id="rId13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GST Copilot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6850" y="5181600"/>
            <a:ext cx="5509259" cy="1193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5" sz="950">
                <a:solidFill>
                  <a:srgbClr val="232A33"/>
                </a:solidFill>
                <a:latin typeface="Roboto"/>
              </a:rPr>
              <a:t> . . . . . . . . . . . . . . . . . . . . . . . . . . . . . . . . . . . . . . . . . . . . . . . . . . . . . . </a:t>
            </a:r>
            <a:r>
              <a:rPr spc="-9" sz="950">
                <a:solidFill>
                  <a:srgbClr val="232A33"/>
                </a:solidFill>
                <a:latin typeface="Roboto"/>
                <a:hlinkClick r:id="rId13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7400" y="5435600"/>
            <a:ext cx="656590" cy="1193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" sz="950">
                <a:solidFill>
                  <a:srgbClr val="232A33"/>
                </a:solidFill>
                <a:latin typeface="Roboto"/>
                <a:hlinkClick r:id="rId14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ClauseClear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6850" y="5435600"/>
            <a:ext cx="5509259" cy="1193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5" sz="950">
                <a:solidFill>
                  <a:srgbClr val="232A33"/>
                </a:solidFill>
                <a:latin typeface="Roboto"/>
              </a:rPr>
              <a:t> . . . . . . . . . . . . . . . . . . . . . . . . . . . . . . . . . . . . . . . . . . . . . . . . . . . . . . </a:t>
            </a:r>
            <a:r>
              <a:rPr spc="-9" sz="950">
                <a:solidFill>
                  <a:srgbClr val="232A33"/>
                </a:solidFill>
                <a:latin typeface="Roboto"/>
                <a:hlinkClick r:id="rId14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15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5689600"/>
            <a:ext cx="524510" cy="1193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" sz="950">
                <a:solidFill>
                  <a:srgbClr val="232A33"/>
                </a:solidFill>
                <a:latin typeface="Roboto"/>
                <a:hlinkClick r:id="rId15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CaseBrief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66520" y="5689600"/>
            <a:ext cx="5609589" cy="1193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5" sz="950">
                <a:solidFill>
                  <a:srgbClr val="232A33"/>
                </a:solidFill>
                <a:latin typeface="Roboto"/>
              </a:rPr>
              <a:t> . . . . . . . . . . . . . . . . . . . . . . . . . . . . . . . . . . . . . . . . . . . . . . . . . . . . . . . </a:t>
            </a:r>
            <a:r>
              <a:rPr spc="-9" sz="950">
                <a:solidFill>
                  <a:srgbClr val="232A33"/>
                </a:solidFill>
                <a:latin typeface="Roboto"/>
                <a:hlinkClick r:id="rId15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16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200" y="6137910"/>
            <a:ext cx="15049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4" b="1" sz="1050">
                <a:solidFill>
                  <a:srgbClr val="092A49"/>
                </a:solidFill>
                <a:latin typeface="Roboto"/>
                <a:hlinkClick r:id="rId16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Track 5 - Building Evals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27520" y="6137910"/>
            <a:ext cx="148589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" b="1" sz="1050">
                <a:solidFill>
                  <a:srgbClr val="092A49"/>
                </a:solidFill>
                <a:latin typeface="Roboto"/>
              </a:rPr>
              <a:t>17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7400" y="6426200"/>
            <a:ext cx="477519" cy="1193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2" sz="950">
                <a:solidFill>
                  <a:srgbClr val="232A33"/>
                </a:solidFill>
                <a:latin typeface="Roboto"/>
                <a:hlinkClick r:id="rId16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RedGate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67460" y="6426200"/>
            <a:ext cx="5708649" cy="1193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5" sz="950">
                <a:solidFill>
                  <a:srgbClr val="232A33"/>
                </a:solidFill>
                <a:latin typeface="Roboto"/>
              </a:rPr>
              <a:t> . . . . . . . . . . . . . . . . . . . . . . . . . . . . . . . . . . . . . . . . . . . . . . . . . . . . . . . . </a:t>
            </a:r>
            <a:r>
              <a:rPr spc="-9" sz="950">
                <a:solidFill>
                  <a:srgbClr val="232A33"/>
                </a:solidFill>
                <a:latin typeface="Roboto"/>
                <a:hlinkClick r:id="rId16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17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7400" y="6680200"/>
            <a:ext cx="895350" cy="1193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" sz="950">
                <a:solidFill>
                  <a:srgbClr val="232A33"/>
                </a:solidFill>
                <a:latin typeface="Roboto"/>
                <a:hlinkClick r:id="rId17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Regression Gate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65300" y="6680200"/>
            <a:ext cx="5210809" cy="1193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5" sz="950">
                <a:solidFill>
                  <a:srgbClr val="232A33"/>
                </a:solidFill>
                <a:latin typeface="Roboto"/>
              </a:rPr>
              <a:t> . . . . . . . . . . . . . . . . . . . . . . . . . . . . . . . . . . . . . . . . . . . . . . . . . . . </a:t>
            </a:r>
            <a:r>
              <a:rPr spc="-9" sz="950">
                <a:solidFill>
                  <a:srgbClr val="232A33"/>
                </a:solidFill>
                <a:latin typeface="Roboto"/>
                <a:hlinkClick r:id="rId17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18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7400" y="6934200"/>
            <a:ext cx="1002030" cy="1193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" sz="950">
                <a:solidFill>
                  <a:srgbClr val="232A33"/>
                </a:solidFill>
                <a:latin typeface="Roboto"/>
                <a:hlinkClick r:id="rId18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Faithfulness Radar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64360" y="6934200"/>
            <a:ext cx="5111749" cy="1193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5" sz="950">
                <a:solidFill>
                  <a:srgbClr val="232A33"/>
                </a:solidFill>
                <a:latin typeface="Roboto"/>
              </a:rPr>
              <a:t> . . . . . . . . . . . . . . . . . . . . . . . . . . . . . . . . . . . . . . . . . . . . . . . . . . </a:t>
            </a:r>
            <a:r>
              <a:rPr spc="-9" sz="950">
                <a:solidFill>
                  <a:srgbClr val="232A33"/>
                </a:solidFill>
                <a:latin typeface="Roboto"/>
                <a:hlinkClick r:id="rId18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19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7382509"/>
            <a:ext cx="276606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9" b="1" sz="1050">
                <a:solidFill>
                  <a:srgbClr val="092A49"/>
                </a:solidFill>
                <a:latin typeface="Roboto"/>
                <a:hlinkClick r:id="rId19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Track 6 - AI Agents for Bharat's Businesses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27520" y="7382509"/>
            <a:ext cx="148589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" b="1" sz="1050">
                <a:solidFill>
                  <a:srgbClr val="092A49"/>
                </a:solidFill>
                <a:latin typeface="Roboto"/>
              </a:rPr>
              <a:t>20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7400" y="7670800"/>
            <a:ext cx="405130" cy="1193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" sz="950">
                <a:solidFill>
                  <a:srgbClr val="232A33"/>
                </a:solidFill>
                <a:latin typeface="Roboto"/>
                <a:hlinkClick r:id="rId19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Vyapari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67460" y="7670800"/>
            <a:ext cx="5708649" cy="1193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5" sz="950">
                <a:solidFill>
                  <a:srgbClr val="232A33"/>
                </a:solidFill>
                <a:latin typeface="Roboto"/>
              </a:rPr>
              <a:t> . . . . . . . . . . . . . . . . . . . . . . . . . . . . . . . . . . . . . . . . . . . . . . . . . . . . . . . . </a:t>
            </a:r>
            <a:r>
              <a:rPr spc="-9" sz="950">
                <a:solidFill>
                  <a:srgbClr val="232A33"/>
                </a:solidFill>
                <a:latin typeface="Roboto"/>
                <a:hlinkClick r:id="rId19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20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7400" y="7924800"/>
            <a:ext cx="629919" cy="1193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950">
                <a:solidFill>
                  <a:srgbClr val="232A33"/>
                </a:solidFill>
                <a:latin typeface="Roboto"/>
                <a:hlinkClick r:id="rId20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Bol-Support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66850" y="7924800"/>
            <a:ext cx="5509259" cy="1193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5" sz="950">
                <a:solidFill>
                  <a:srgbClr val="232A33"/>
                </a:solidFill>
                <a:latin typeface="Roboto"/>
              </a:rPr>
              <a:t> . . . . . . . . . . . . . . . . . . . . . . . . . . . . . . . . . . . . . . . . . . . . . . . . . . . . . . </a:t>
            </a:r>
            <a:r>
              <a:rPr spc="-9" sz="950">
                <a:solidFill>
                  <a:srgbClr val="232A33"/>
                </a:solidFill>
                <a:latin typeface="Roboto"/>
                <a:hlinkClick r:id="rId20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21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7400" y="8178800"/>
            <a:ext cx="697230" cy="1193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" sz="950">
                <a:solidFill>
                  <a:srgbClr val="232A33"/>
                </a:solidFill>
                <a:latin typeface="Roboto"/>
                <a:hlinkClick r:id="rId21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Udhaar Book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65910" y="8178800"/>
            <a:ext cx="5410199" cy="1193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5" sz="950">
                <a:solidFill>
                  <a:srgbClr val="232A33"/>
                </a:solidFill>
                <a:latin typeface="Roboto"/>
              </a:rPr>
              <a:t> . . . . . . . . . . . . . . . . . . . . . . . . . . . . . . . . . . . . . . . . . . . . . . . . . . . . . </a:t>
            </a:r>
            <a:r>
              <a:rPr spc="-9" sz="950">
                <a:solidFill>
                  <a:srgbClr val="232A33"/>
                </a:solidFill>
                <a:latin typeface="Roboto"/>
                <a:hlinkClick r:id="rId21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22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4200" y="8627110"/>
            <a:ext cx="3630929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7" b="1" sz="1050">
                <a:solidFill>
                  <a:srgbClr val="092A49"/>
                </a:solidFill>
                <a:latin typeface="Roboto"/>
                <a:hlinkClick r:id="rId2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Track 7 - Vernacular / Indic Languages &amp; Local Discovery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27520" y="8627110"/>
            <a:ext cx="148589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" b="1" sz="1050">
                <a:solidFill>
                  <a:srgbClr val="092A49"/>
                </a:solidFill>
                <a:latin typeface="Roboto"/>
              </a:rPr>
              <a:t>23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7400" y="8915400"/>
            <a:ext cx="516890" cy="1193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" sz="950">
                <a:solidFill>
                  <a:srgbClr val="232A33"/>
                </a:solidFill>
                <a:latin typeface="Roboto"/>
                <a:hlinkClick r:id="rId2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SamajhAI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366520" y="8915400"/>
            <a:ext cx="5609589" cy="1193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5" sz="950">
                <a:solidFill>
                  <a:srgbClr val="232A33"/>
                </a:solidFill>
                <a:latin typeface="Roboto"/>
              </a:rPr>
              <a:t> . . . . . . . . . . . . . . . . . . . . . . . . . . . . . . . . . . . . . . . . . . . . . . . . . . . . . . . </a:t>
            </a:r>
            <a:r>
              <a:rPr spc="-9" sz="950">
                <a:solidFill>
                  <a:srgbClr val="232A33"/>
                </a:solidFill>
                <a:latin typeface="Roboto"/>
                <a:hlinkClick r:id="rId2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23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7400" y="9169400"/>
            <a:ext cx="345440" cy="1193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" sz="950">
                <a:solidFill>
                  <a:srgbClr val="232A33"/>
                </a:solidFill>
                <a:latin typeface="Roboto"/>
                <a:hlinkClick r:id="rId23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Nagrik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68400" y="9169400"/>
            <a:ext cx="5807709" cy="1193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5" sz="950">
                <a:solidFill>
                  <a:srgbClr val="232A33"/>
                </a:solidFill>
                <a:latin typeface="Roboto"/>
              </a:rPr>
              <a:t> . . . . . . . . . . . . . . . . . . . . . . . . . . . . . . . . . . . . . . . . . . . . . . . . . . . . . . . . . </a:t>
            </a:r>
            <a:r>
              <a:rPr spc="-9" sz="950">
                <a:solidFill>
                  <a:srgbClr val="232A33"/>
                </a:solidFill>
                <a:latin typeface="Roboto"/>
                <a:hlinkClick r:id="rId23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24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7400" y="9423400"/>
            <a:ext cx="584200" cy="1193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6" sz="950">
                <a:solidFill>
                  <a:srgbClr val="232A33"/>
                </a:solidFill>
                <a:latin typeface="Roboto"/>
                <a:hlinkClick r:id="rId24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Code Guru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466850" y="9423400"/>
            <a:ext cx="5509259" cy="1193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5" sz="950">
                <a:solidFill>
                  <a:srgbClr val="232A33"/>
                </a:solidFill>
                <a:latin typeface="Roboto"/>
              </a:rPr>
              <a:t> . . . . . . . . . . . . . . . . . . . . . . . . . . . . . . . . . . . . . . . . . . . . . . . . . . . . . . </a:t>
            </a:r>
            <a:r>
              <a:rPr spc="-9" sz="950">
                <a:solidFill>
                  <a:srgbClr val="232A33"/>
                </a:solidFill>
                <a:latin typeface="Roboto"/>
                <a:hlinkClick r:id="rId24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25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673350" y="10261600"/>
            <a:ext cx="2213610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" sz="750">
                <a:solidFill>
                  <a:srgbClr val="5C6672"/>
                </a:solidFill>
                <a:latin typeface="Roboto"/>
              </a:rPr>
              <a:t>ChatGPT Codex India Hackathon 2026 - Track Kits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73850" y="10261600"/>
            <a:ext cx="302259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" sz="750">
                <a:solidFill>
                  <a:srgbClr val="5C6672"/>
                </a:solidFill>
                <a:latin typeface="Roboto"/>
              </a:rPr>
              <a:t>Page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0165080"/>
            <a:ext cx="6391909" cy="127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00" y="10217150"/>
            <a:ext cx="635000" cy="171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4200" y="651510"/>
            <a:ext cx="186690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5" b="1" sz="1050">
                <a:solidFill>
                  <a:srgbClr val="092A49"/>
                </a:solidFill>
                <a:latin typeface="Roboto"/>
                <a:hlinkClick r:id="rId4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Track 8 - AI for Societal Good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27520" y="651510"/>
            <a:ext cx="148589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" b="1" sz="1050">
                <a:solidFill>
                  <a:srgbClr val="092A49"/>
                </a:solidFill>
                <a:latin typeface="Roboto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7400" y="939800"/>
            <a:ext cx="643890" cy="1193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" sz="950">
                <a:solidFill>
                  <a:srgbClr val="232A33"/>
                </a:solidFill>
                <a:latin typeface="Roboto"/>
                <a:hlinkClick r:id="rId4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AccessLens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6850" y="939800"/>
            <a:ext cx="5509259" cy="1193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5" sz="950">
                <a:solidFill>
                  <a:srgbClr val="232A33"/>
                </a:solidFill>
                <a:latin typeface="Roboto"/>
              </a:rPr>
              <a:t> . . . . . . . . . . . . . . . . . . . . . . . . . . . . . . . . . . . . . . . . . . . . . . . . . . . . . . </a:t>
            </a:r>
            <a:r>
              <a:rPr spc="-9" sz="950">
                <a:solidFill>
                  <a:srgbClr val="232A33"/>
                </a:solidFill>
                <a:latin typeface="Roboto"/>
                <a:hlinkClick r:id="rId4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7400" y="1193800"/>
            <a:ext cx="617219" cy="1193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" sz="950">
                <a:solidFill>
                  <a:srgbClr val="232A33"/>
                </a:solidFill>
                <a:latin typeface="Roboto"/>
                <a:hlinkClick r:id="rId5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Alert Saathi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6850" y="1193800"/>
            <a:ext cx="5509259" cy="1193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5" sz="950">
                <a:solidFill>
                  <a:srgbClr val="232A33"/>
                </a:solidFill>
                <a:latin typeface="Roboto"/>
              </a:rPr>
              <a:t> . . . . . . . . . . . . . . . . . . . . . . . . . . . . . . . . . . . . . . . . . . . . . . . . . . . . . . </a:t>
            </a:r>
            <a:r>
              <a:rPr spc="-9" sz="950">
                <a:solidFill>
                  <a:srgbClr val="232A33"/>
                </a:solidFill>
                <a:latin typeface="Roboto"/>
                <a:hlinkClick r:id="rId5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7400" y="1447800"/>
            <a:ext cx="636269" cy="1193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" sz="950">
                <a:solidFill>
                  <a:srgbClr val="232A33"/>
                </a:solidFill>
                <a:latin typeface="Roboto"/>
                <a:hlinkClick r:id="rId6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Triage Mitra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1447800"/>
            <a:ext cx="5509259" cy="1193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5" sz="950">
                <a:solidFill>
                  <a:srgbClr val="232A33"/>
                </a:solidFill>
                <a:latin typeface="Roboto"/>
              </a:rPr>
              <a:t> . . . . . . . . . . . . . . . . . . . . . . . . . . . . . . . . . . . . . . . . . . . . . . . . . . . . . . </a:t>
            </a:r>
            <a:r>
              <a:rPr spc="-9" sz="950">
                <a:solidFill>
                  <a:srgbClr val="232A33"/>
                </a:solidFill>
                <a:latin typeface="Roboto"/>
                <a:hlinkClick r:id="rId6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1896110"/>
            <a:ext cx="255651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8" b="1" sz="1050">
                <a:solidFill>
                  <a:srgbClr val="092A49"/>
                </a:solidFill>
                <a:latin typeface="Roboto"/>
                <a:hlinkClick r:id="rId7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Track 9 - Vibe Coding / Games / Creative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27520" y="1896110"/>
            <a:ext cx="148589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" b="1" sz="1050">
                <a:solidFill>
                  <a:srgbClr val="092A49"/>
                </a:solidFill>
                <a:latin typeface="Roboto"/>
              </a:rPr>
              <a:t>29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7400" y="2184400"/>
            <a:ext cx="742950" cy="1193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950">
                <a:solidFill>
                  <a:srgbClr val="232A33"/>
                </a:solidFill>
                <a:latin typeface="Roboto"/>
                <a:hlinkClick r:id="rId7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Meme Arcade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65910" y="2184400"/>
            <a:ext cx="5410199" cy="1193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5" sz="950">
                <a:solidFill>
                  <a:srgbClr val="232A33"/>
                </a:solidFill>
                <a:latin typeface="Roboto"/>
              </a:rPr>
              <a:t> . . . . . . . . . . . . . . . . . . . . . . . . . . . . . . . . . . . . . . . . . . . . . . . . . . . . . </a:t>
            </a:r>
            <a:r>
              <a:rPr spc="-9" sz="950">
                <a:solidFill>
                  <a:srgbClr val="232A33"/>
                </a:solidFill>
                <a:latin typeface="Roboto"/>
                <a:hlinkClick r:id="rId7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7400" y="2438400"/>
            <a:ext cx="226059" cy="1193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" sz="950">
                <a:solidFill>
                  <a:srgbClr val="232A33"/>
                </a:solidFill>
                <a:latin typeface="Roboto"/>
                <a:hlinkClick r:id="rId8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Flux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8070" y="2438400"/>
            <a:ext cx="5908039" cy="1193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5" sz="950">
                <a:solidFill>
                  <a:srgbClr val="232A33"/>
                </a:solidFill>
                <a:latin typeface="Roboto"/>
              </a:rPr>
              <a:t> . . . . . . . . . . . . . . . . . . . . . . . . . . . . . . . . . . . . . . . . . . . . . . . . . . . . . . . . . . </a:t>
            </a:r>
            <a:r>
              <a:rPr spc="-9" sz="950">
                <a:solidFill>
                  <a:srgbClr val="232A33"/>
                </a:solidFill>
                <a:latin typeface="Roboto"/>
                <a:hlinkClick r:id="rId8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7400" y="2692400"/>
            <a:ext cx="438150" cy="1193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" sz="950">
                <a:solidFill>
                  <a:srgbClr val="232A33"/>
                </a:solidFill>
                <a:latin typeface="Roboto"/>
                <a:hlinkClick r:id="rId9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Loregen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7460" y="2692400"/>
            <a:ext cx="5708649" cy="1193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5" sz="950">
                <a:solidFill>
                  <a:srgbClr val="232A33"/>
                </a:solidFill>
                <a:latin typeface="Roboto"/>
              </a:rPr>
              <a:t> . . . . . . . . . . . . . . . . . . . . . . . . . . . . . . . . . . . . . . . . . . . . . . . . . . . . . . . . </a:t>
            </a:r>
            <a:r>
              <a:rPr spc="-9" sz="950">
                <a:solidFill>
                  <a:srgbClr val="232A33"/>
                </a:solidFill>
                <a:latin typeface="Roboto"/>
                <a:hlinkClick r:id="rId9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31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73350" y="10261600"/>
            <a:ext cx="2213610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" sz="750">
                <a:solidFill>
                  <a:srgbClr val="5C6672"/>
                </a:solidFill>
                <a:latin typeface="Roboto"/>
              </a:rPr>
              <a:t>ChatGPT Codex India Hackathon 2026 - Track Kits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3850" y="10261600"/>
            <a:ext cx="302259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" sz="750">
                <a:solidFill>
                  <a:srgbClr val="5C6672"/>
                </a:solidFill>
                <a:latin typeface="Roboto"/>
              </a:rPr>
              <a:t>Page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0165080"/>
            <a:ext cx="6391909" cy="127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00" y="10217150"/>
            <a:ext cx="635000" cy="171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200" y="584200"/>
            <a:ext cx="6394450" cy="304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" y="1689100"/>
            <a:ext cx="6572250" cy="6540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" y="1612900"/>
            <a:ext cx="6724650" cy="806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600" y="2489200"/>
            <a:ext cx="6597650" cy="4419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6400" y="2413000"/>
            <a:ext cx="6750050" cy="4572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300" y="7054850"/>
            <a:ext cx="6572250" cy="812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9100" y="6978650"/>
            <a:ext cx="6724650" cy="965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6600" y="685800"/>
            <a:ext cx="149860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0" b="1" sz="900">
                <a:solidFill>
                  <a:srgbClr val="FFFFFF"/>
                </a:solidFill>
                <a:latin typeface="Roboto"/>
              </a:rPr>
              <a:t>TRACK 1 · Agentic Coding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1106170"/>
            <a:ext cx="42418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0" b="1" sz="1400">
                <a:solidFill>
                  <a:srgbClr val="092A49"/>
                </a:solidFill>
                <a:latin typeface="Roboto"/>
              </a:rPr>
              <a:t>Fix-It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1308100"/>
            <a:ext cx="3219450" cy="1181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" i="1" sz="950">
                <a:solidFill>
                  <a:srgbClr val="5C6672"/>
                </a:solidFill>
                <a:latin typeface="Roboto"/>
              </a:rPr>
              <a:t>Reviews a diff, writes a patch, shows a (simulated) fail-&gt;pass.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1565910"/>
            <a:ext cx="102235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8" b="1" sz="800">
                <a:solidFill>
                  <a:srgbClr val="2C6DA3"/>
                </a:solidFill>
                <a:latin typeface="Roboto"/>
              </a:rPr>
              <a:t>API PREREQUISITES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1808480"/>
            <a:ext cx="439547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3" b="1" sz="850">
                <a:solidFill>
                  <a:srgbClr val="232A33"/>
                </a:solidFill>
                <a:latin typeface="Roboto"/>
              </a:rPr>
              <a:t>Deploy / live demo:</a:t>
            </a:r>
            <a:r>
              <a:rPr spc="11" sz="850">
                <a:solidFill>
                  <a:srgbClr val="232A33"/>
                </a:solidFill>
                <a:latin typeface="Roboto"/>
              </a:rPr>
              <a:t> None - deploys and runs the full demo with NO login and NO API key.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4200" y="1963420"/>
            <a:ext cx="592455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4" b="1" sz="850">
                <a:solidFill>
                  <a:srgbClr val="232A33"/>
                </a:solidFill>
                <a:latin typeface="Roboto"/>
              </a:rPr>
              <a:t>Live mode (optional):</a:t>
            </a:r>
            <a:r>
              <a:rPr spc="11" sz="850">
                <a:solidFill>
                  <a:srgbClr val="232A33"/>
                </a:solidFill>
                <a:latin typeface="Roboto"/>
              </a:rPr>
              <a:t> OPENAI_API_KEY (server-side) to review any pasted diff. Note: the test-pass is simulated, not real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4200" y="2118360"/>
            <a:ext cx="98933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" sz="850">
                <a:solidFill>
                  <a:srgbClr val="232A33"/>
                </a:solidFill>
                <a:latin typeface="Roboto"/>
              </a:rPr>
              <a:t>execution on Vercel.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2373630"/>
            <a:ext cx="177800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6" b="1" sz="800">
                <a:solidFill>
                  <a:srgbClr val="2C6DA3"/>
                </a:solidFill>
                <a:latin typeface="Roboto"/>
              </a:rPr>
              <a:t>PROMPT — copy &amp; paste into Codex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4200" y="2618740"/>
            <a:ext cx="635762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3" sz="800">
                <a:solidFill>
                  <a:srgbClr val="23272E"/>
                </a:solidFill>
                <a:latin typeface="Roboto"/>
              </a:rPr>
              <a:t>You are OpenAI Codex, a senior full-stack engineer. Build a COMPLETE, deployable web app in the current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2754630"/>
            <a:ext cx="635762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2" sz="800">
                <a:solidFill>
                  <a:srgbClr val="23272E"/>
                </a:solidFill>
                <a:latin typeface="Roboto"/>
              </a:rPr>
              <a:t>empty folder. I will not write any code. Don't ask questions—decide and note assumptions in the README.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890520"/>
            <a:ext cx="617220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5" sz="800">
                <a:solidFill>
                  <a:srgbClr val="23272E"/>
                </a:solidFill>
                <a:latin typeface="Roboto"/>
              </a:rPr>
              <a:t>PRODUCT: "Fix-It" — reviews a pasted git diff like an agent (plan -&gt; analyse -&gt; patch -&gt; verify) 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3026410"/>
            <a:ext cx="234569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0" sz="800">
                <a:solidFill>
                  <a:srgbClr val="23272E"/>
                </a:solidFill>
                <a:latin typeface="Roboto"/>
              </a:rPr>
              <a:t>shows its work. TRACK: Agentic Coding.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3162300"/>
            <a:ext cx="635762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0" sz="800">
                <a:solidFill>
                  <a:srgbClr val="23272E"/>
                </a:solidFill>
                <a:latin typeface="Roboto"/>
              </a:rPr>
              <a:t>CORE FLOW: (1) paste a unified diff (bundled sample pre-filled) -&gt; "Review &amp; Fix"; (2) a live Agent Log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3298190"/>
            <a:ext cx="629539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4" sz="800">
                <a:solidFill>
                  <a:srgbClr val="23272E"/>
                </a:solidFill>
                <a:latin typeface="Roboto"/>
              </a:rPr>
              <a:t>streams Plan -&gt; Analyse (bugs/security/perf/missing tests) -&gt; Propose patch -&gt; Run tests -&gt; Summarise;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3434079"/>
            <a:ext cx="6391909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4" sz="800">
                <a:solidFill>
                  <a:srgbClr val="23272E"/>
                </a:solidFill>
                <a:latin typeface="Roboto"/>
              </a:rPr>
              <a:t>(3) output: findings (severity P0/P1/P2, file:line, plain reason, suggested fix), the patch as a diff, 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3569970"/>
            <a:ext cx="376555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2" sz="800">
                <a:solidFill>
                  <a:srgbClr val="23272E"/>
                </a:solidFill>
                <a:latin typeface="Roboto"/>
              </a:rPr>
              <a:t>fail-&gt;pass test log, and a verdict; "Copy report (Markdown)".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3705860"/>
            <a:ext cx="6391909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1" sz="800">
                <a:solidFill>
                  <a:srgbClr val="23272E"/>
                </a:solidFill>
                <a:latin typeface="Roboto"/>
              </a:rPr>
              <a:t>STACK: Next.js (App Router, latest stable) + TypeScript + Tailwind. Deploy: Vercel. OpenAI SDK only in 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3841750"/>
            <a:ext cx="80264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3" sz="800">
                <a:solidFill>
                  <a:srgbClr val="23272E"/>
                </a:solidFill>
                <a:latin typeface="Roboto"/>
              </a:rPr>
              <a:t>server route.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3977640"/>
            <a:ext cx="6391909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0" sz="800">
                <a:solidFill>
                  <a:srgbClr val="23272E"/>
                </a:solidFill>
                <a:latin typeface="Roboto"/>
              </a:rPr>
              <a:t>PREREQUISITES (also put in README): Demo mode needs NO login and NO key. Live mode (optional) needs only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4113529"/>
            <a:ext cx="92583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7" sz="800">
                <a:solidFill>
                  <a:srgbClr val="23272E"/>
                </a:solidFill>
                <a:latin typeface="Roboto"/>
              </a:rPr>
              <a:t>OPENAI_API_KEY.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4249420"/>
            <a:ext cx="610997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5" sz="800">
                <a:solidFill>
                  <a:srgbClr val="23272E"/>
                </a:solidFill>
                <a:latin typeface="Roboto"/>
              </a:rPr>
              <a:t>DEMO (default, no key): DEMO_MODE=true replays a canned run from /data/demo-run.json on the bundled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4200" y="4385310"/>
            <a:ext cx="635762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3" sz="800">
                <a:solidFill>
                  <a:srgbClr val="23272E"/>
                </a:solidFill>
                <a:latin typeface="Roboto"/>
              </a:rPr>
              <a:t>sample diff. IMPORTANT: the "Run tests" step is a SIMULATED/heuristic result in BOTH demo and live mode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4521200"/>
            <a:ext cx="629539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4" sz="800">
                <a:solidFill>
                  <a:srgbClr val="23272E"/>
                </a:solidFill>
                <a:latin typeface="Roboto"/>
              </a:rPr>
              <a:t>— do NOT try to execute `npm test` against a pasted diff on Vercel (no checkout, ~10s function limit).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4657090"/>
            <a:ext cx="154305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2" sz="800">
                <a:solidFill>
                  <a:srgbClr val="23272E"/>
                </a:solidFill>
                <a:latin typeface="Roboto"/>
              </a:rPr>
              <a:t>State this in the README.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4792980"/>
            <a:ext cx="610997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5" sz="800">
                <a:solidFill>
                  <a:srgbClr val="23272E"/>
                </a:solidFill>
                <a:latin typeface="Roboto"/>
              </a:rPr>
              <a:t>LIVE (optional): OPENAI_API_KEY + DEMO_MODE=false -&gt; /api/review analyses &amp; patches ANY pasted diff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200" y="4928870"/>
            <a:ext cx="574040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0" sz="800">
                <a:solidFill>
                  <a:srgbClr val="23272E"/>
                </a:solidFill>
                <a:latin typeface="Roboto"/>
              </a:rPr>
              <a:t>server-side; model from OPENAI_MODEL; never expose keys; .gitignore .env*; ship .env.example.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200" y="5064760"/>
            <a:ext cx="6391909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8" sz="800">
                <a:solidFill>
                  <a:srgbClr val="23272E"/>
                </a:solidFill>
                <a:latin typeface="Roboto"/>
              </a:rPr>
              <a:t>DATA: bundle a small fixture file that /data/sample-diff.txt actually targets (so the diff is concrete).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4200" y="5200650"/>
            <a:ext cx="351790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2" sz="800">
                <a:solidFill>
                  <a:srgbClr val="23272E"/>
                </a:solidFill>
                <a:latin typeface="Roboto"/>
              </a:rPr>
              <a:t>/data/demo-run.json shape: {steps:[{name,status,detail}],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4200" y="5336540"/>
            <a:ext cx="586359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73" sz="800">
                <a:solidFill>
                  <a:srgbClr val="23272E"/>
                </a:solidFill>
                <a:latin typeface="Roboto"/>
              </a:rPr>
              <a:t>findings:[{severity,file,line,title,why,fix}], patch:"&lt;unified diff&gt;", testLog:{before,after}}.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4200" y="5472430"/>
            <a:ext cx="629539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3" sz="800">
                <a:solidFill>
                  <a:srgbClr val="23272E"/>
                </a:solidFill>
                <a:latin typeface="Roboto"/>
              </a:rPr>
              <a:t>WORK EFFICIENTLY: plan mode first (PLANS.md milestones each with an acceptance command); read files 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200" y="5608320"/>
            <a:ext cx="635762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0" sz="800">
                <a:solidFill>
                  <a:srgbClr val="23272E"/>
                </a:solidFill>
                <a:latin typeface="Roboto"/>
              </a:rPr>
              <a:t>parallel; high reasoning effort for the review/patch engine, low for UI; run app + npm test + typecheck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5744210"/>
            <a:ext cx="543179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6" sz="800">
                <a:solidFill>
                  <a:srgbClr val="23272E"/>
                </a:solidFill>
                <a:latin typeface="Roboto"/>
              </a:rPr>
              <a:t>after each milestone; /review before finishing; small commits git commit --author="Codex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200" y="5880100"/>
            <a:ext cx="1234439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8" sz="800">
                <a:solidFill>
                  <a:srgbClr val="23272E"/>
                </a:solidFill>
                <a:latin typeface="Roboto"/>
              </a:rPr>
              <a:t>&lt;codex@openai.com&gt;".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200" y="6015990"/>
            <a:ext cx="610997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3" sz="800">
                <a:solidFill>
                  <a:srgbClr val="23272E"/>
                </a:solidFill>
                <a:latin typeface="Roboto"/>
              </a:rPr>
              <a:t>DELIVER: full code; AGENTS.md; README (run + 5-min Vercel deploy + PREREQUISITES + "How Codex built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6151880"/>
            <a:ext cx="629539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8" sz="800">
                <a:solidFill>
                  <a:srgbClr val="23272E"/>
                </a:solidFill>
                <a:latin typeface="Roboto"/>
              </a:rPr>
              <a:t>this"); Vitest tests for the diff parser + review engine + patch applier, and a Playwright smoke test;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4200" y="6287770"/>
            <a:ext cx="438277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3" sz="800">
                <a:solidFill>
                  <a:srgbClr val="23272E"/>
                </a:solidFill>
                <a:latin typeface="Roboto"/>
              </a:rPr>
              <a:t>.env.example; MIT LICENSE; mobile-first + accessible; product original.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6423660"/>
            <a:ext cx="623443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1" sz="800">
                <a:solidFill>
                  <a:srgbClr val="23272E"/>
                </a:solidFill>
                <a:latin typeface="Roboto"/>
              </a:rPr>
              <a:t>DONE WHEN: `npm install &amp;&amp; npm run dev` shows review-&gt;patch-&gt;(simulated)green-test on the sample diff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4200" y="6559550"/>
            <a:ext cx="629539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3" sz="800">
                <a:solidFill>
                  <a:srgbClr val="23272E"/>
                </a:solidFill>
                <a:latin typeface="Roboto"/>
              </a:rPr>
              <a:t>with no key; npm test passes; npm run build succeeds. Then print: run commands, Vercel deploy steps, 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4200" y="6695440"/>
            <a:ext cx="154305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7" sz="800">
                <a:solidFill>
                  <a:srgbClr val="23272E"/>
                </a:solidFill>
                <a:latin typeface="Roboto"/>
              </a:rPr>
              <a:t>5-line demo-video script.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4200" y="6929120"/>
            <a:ext cx="192532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9" b="1" sz="800">
                <a:solidFill>
                  <a:srgbClr val="2C6DA3"/>
                </a:solidFill>
                <a:latin typeface="Roboto"/>
              </a:rPr>
              <a:t>SUGGESTED CHANGES (make it yours)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4200" y="7171690"/>
            <a:ext cx="338582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" sz="850">
                <a:solidFill>
                  <a:srgbClr val="232A33"/>
                </a:solidFill>
                <a:latin typeface="Roboto"/>
              </a:rPr>
              <a:t>• Go deep on one language's rules (Python security, Go concurrency).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4200" y="7329170"/>
            <a:ext cx="2973070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" sz="850">
                <a:solidFill>
                  <a:srgbClr val="232A33"/>
                </a:solidFill>
                <a:latin typeface="Roboto"/>
              </a:rPr>
              <a:t>• Add 'download fix as a .patch' + apply-to-pasted-repo mode.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4200" y="7486650"/>
            <a:ext cx="3018790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" sz="850">
                <a:solidFill>
                  <a:srgbClr val="232A33"/>
                </a:solidFill>
                <a:latin typeface="Roboto"/>
              </a:rPr>
              <a:t>• Connect a real public GitHub PR URL instead of pasted diffs.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4200" y="7644130"/>
            <a:ext cx="2508250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" sz="850">
                <a:solidFill>
                  <a:srgbClr val="232A33"/>
                </a:solidFill>
                <a:latin typeface="Roboto"/>
              </a:rPr>
              <a:t>• Add a severity-trend chart across multiple reviews.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673350" y="10261600"/>
            <a:ext cx="2213610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" sz="750">
                <a:solidFill>
                  <a:srgbClr val="5C6672"/>
                </a:solidFill>
                <a:latin typeface="Roboto"/>
              </a:rPr>
              <a:t>ChatGPT Codex India Hackathon 2026 - Track Kits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73850" y="10261600"/>
            <a:ext cx="302259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" sz="750">
                <a:solidFill>
                  <a:srgbClr val="5C6672"/>
                </a:solidFill>
                <a:latin typeface="Roboto"/>
              </a:rPr>
              <a:t>Page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0165080"/>
            <a:ext cx="6391909" cy="127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00" y="10217150"/>
            <a:ext cx="635000" cy="171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200" y="584200"/>
            <a:ext cx="6394450" cy="304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" y="1689100"/>
            <a:ext cx="6572250" cy="4953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" y="1612900"/>
            <a:ext cx="6724650" cy="647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600" y="2330450"/>
            <a:ext cx="6597650" cy="3746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6400" y="2254250"/>
            <a:ext cx="6750050" cy="38989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300" y="6223000"/>
            <a:ext cx="6572250" cy="812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9100" y="6146800"/>
            <a:ext cx="6724650" cy="965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6600" y="685800"/>
            <a:ext cx="149860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0" b="1" sz="900">
                <a:solidFill>
                  <a:srgbClr val="FFFFFF"/>
                </a:solidFill>
                <a:latin typeface="Roboto"/>
              </a:rPr>
              <a:t>TRACK 1 · Agentic Coding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1106170"/>
            <a:ext cx="62230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7" b="1" sz="1400">
                <a:solidFill>
                  <a:srgbClr val="092A49"/>
                </a:solidFill>
                <a:latin typeface="Roboto"/>
              </a:rPr>
              <a:t>TestFix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1308100"/>
            <a:ext cx="2813050" cy="1181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" i="1" sz="950">
                <a:solidFill>
                  <a:srgbClr val="5C6672"/>
                </a:solidFill>
                <a:latin typeface="Roboto"/>
              </a:rPr>
              <a:t>Repo with a failing test -&gt; diagnose, fix, PR-ready diff.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1565910"/>
            <a:ext cx="102235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8" b="1" sz="800">
                <a:solidFill>
                  <a:srgbClr val="2C6DA3"/>
                </a:solidFill>
                <a:latin typeface="Roboto"/>
              </a:rPr>
              <a:t>API PREREQUISITES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1808480"/>
            <a:ext cx="439547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3" b="1" sz="850">
                <a:solidFill>
                  <a:srgbClr val="232A33"/>
                </a:solidFill>
                <a:latin typeface="Roboto"/>
              </a:rPr>
              <a:t>Deploy / live demo:</a:t>
            </a:r>
            <a:r>
              <a:rPr spc="11" sz="850">
                <a:solidFill>
                  <a:srgbClr val="232A33"/>
                </a:solidFill>
                <a:latin typeface="Roboto"/>
              </a:rPr>
              <a:t> None - deploys and runs the full demo with NO login and NO API key.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4200" y="1963420"/>
            <a:ext cx="531749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4" b="1" sz="850">
                <a:solidFill>
                  <a:srgbClr val="232A33"/>
                </a:solidFill>
                <a:latin typeface="Roboto"/>
              </a:rPr>
              <a:t>Live mode (optional):</a:t>
            </a:r>
            <a:r>
              <a:rPr spc="13" sz="850">
                <a:solidFill>
                  <a:srgbClr val="232A33"/>
                </a:solidFill>
                <a:latin typeface="Roboto"/>
              </a:rPr>
              <a:t> OPENAI_API_KEY (server-side). Test-pass is simulated (no repo checkout on Vercel).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4200" y="2218690"/>
            <a:ext cx="177800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6" b="1" sz="800">
                <a:solidFill>
                  <a:srgbClr val="2C6DA3"/>
                </a:solidFill>
                <a:latin typeface="Roboto"/>
              </a:rPr>
              <a:t>PROMPT — copy &amp; paste into Codex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2463800"/>
            <a:ext cx="635762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3" sz="800">
                <a:solidFill>
                  <a:srgbClr val="23272E"/>
                </a:solidFill>
                <a:latin typeface="Roboto"/>
              </a:rPr>
              <a:t>You are OpenAI Codex, a senior full-stack engineer. Build a COMPLETE, deployable web app in the current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4200" y="2599690"/>
            <a:ext cx="506095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6" sz="800">
                <a:solidFill>
                  <a:srgbClr val="23272E"/>
                </a:solidFill>
                <a:latin typeface="Roboto"/>
              </a:rPr>
              <a:t>empty folder. No code from me; don't ask questions—note assumptions in the README.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2735580"/>
            <a:ext cx="629539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6" sz="800">
                <a:solidFill>
                  <a:srgbClr val="23272E"/>
                </a:solidFill>
                <a:latin typeface="Roboto"/>
              </a:rPr>
              <a:t>PRODUCT: "TestFix" — a repo with a failing test -&gt; the agent diagnoses, fixes, re-runs, and produces 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871470"/>
            <a:ext cx="228346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0" sz="800">
                <a:solidFill>
                  <a:srgbClr val="23272E"/>
                </a:solidFill>
                <a:latin typeface="Roboto"/>
              </a:rPr>
              <a:t>PR-ready diff. TRACK: Agentic Coding.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3007360"/>
            <a:ext cx="635762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2" sz="800">
                <a:solidFill>
                  <a:srgbClr val="23272E"/>
                </a:solidFill>
                <a:latin typeface="Roboto"/>
              </a:rPr>
              <a:t>CORE FLOW: (1) load the bundled sample repo or paste files; (2) visible loop Reproduce -&gt; Locate -&gt; Fix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3143250"/>
            <a:ext cx="574040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1" sz="800">
                <a:solidFill>
                  <a:srgbClr val="23272E"/>
                </a:solidFill>
                <a:latin typeface="Roboto"/>
              </a:rPr>
              <a:t>-&gt; Re-run tests -&gt; Draft PR; (3) show the fail-&gt;pass log + the PR diff; "Copy PR (Markdown)".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3279140"/>
            <a:ext cx="6391909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1" sz="800">
                <a:solidFill>
                  <a:srgbClr val="23272E"/>
                </a:solidFill>
                <a:latin typeface="Roboto"/>
              </a:rPr>
              <a:t>STACK: Next.js (App Router, latest stable) + TypeScript + Tailwind. Deploy: Vercel. OpenAI SDK only in 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3415029"/>
            <a:ext cx="80264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3" sz="800">
                <a:solidFill>
                  <a:srgbClr val="23272E"/>
                </a:solidFill>
                <a:latin typeface="Roboto"/>
              </a:rPr>
              <a:t>server route.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3550920"/>
            <a:ext cx="561721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6" sz="800">
                <a:solidFill>
                  <a:srgbClr val="23272E"/>
                </a:solidFill>
                <a:latin typeface="Roboto"/>
              </a:rPr>
              <a:t>PREREQUISITES (also in README): Demo = NO login/key. Live (optional) = OPENAI_API_KEY only.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3686810"/>
            <a:ext cx="610997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5" sz="800">
                <a:solidFill>
                  <a:srgbClr val="23272E"/>
                </a:solidFill>
                <a:latin typeface="Roboto"/>
              </a:rPr>
              <a:t>DEMO (default, no key): DEMO_MODE=true replays a canned run from /data/demo-run.json on the bundled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3822700"/>
            <a:ext cx="635762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8" sz="800">
                <a:solidFill>
                  <a:srgbClr val="23272E"/>
                </a:solidFill>
                <a:latin typeface="Roboto"/>
              </a:rPr>
              <a:t>/data/sample-repo/. The test-pass is SIMULATED — do not execute tests on Vercel (see Fix-It rationale).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3958590"/>
            <a:ext cx="6391909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2" sz="800">
                <a:solidFill>
                  <a:srgbClr val="23272E"/>
                </a:solidFill>
                <a:latin typeface="Roboto"/>
              </a:rPr>
              <a:t>BUNDLE: /data/sample-repo/ = a tiny Node project using **Vitest**, with ONE seeded bug (an off-by-one 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4094479"/>
            <a:ext cx="629539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7" sz="800">
                <a:solidFill>
                  <a:srgbClr val="23272E"/>
                </a:solidFill>
                <a:latin typeface="Roboto"/>
              </a:rPr>
              <a:t>a `paginate()` util that makes `paginate.test.ts` fail); include package.json, the util, and the test.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4230370"/>
            <a:ext cx="567817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1" sz="800">
                <a:solidFill>
                  <a:srgbClr val="23272E"/>
                </a:solidFill>
                <a:latin typeface="Roboto"/>
              </a:rPr>
              <a:t>/data/demo-run.json shape = {steps:[{name,status,detail}], diagnosis:string, patch:"&lt;diff&gt;",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4200" y="4366260"/>
            <a:ext cx="148082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0" sz="800">
                <a:solidFill>
                  <a:srgbClr val="23272E"/>
                </a:solidFill>
                <a:latin typeface="Roboto"/>
              </a:rPr>
              <a:t>testLog:{before,after}}.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4502150"/>
            <a:ext cx="592582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4" sz="800">
                <a:solidFill>
                  <a:srgbClr val="23272E"/>
                </a:solidFill>
                <a:latin typeface="Roboto"/>
              </a:rPr>
              <a:t>LIVE (optional): OPENAI_API_KEY + DEMO_MODE=false -&gt; /api/fix diagnoses+patches ANY pasted files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4638040"/>
            <a:ext cx="499999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2" sz="800">
                <a:solidFill>
                  <a:srgbClr val="23272E"/>
                </a:solidFill>
                <a:latin typeface="Roboto"/>
              </a:rPr>
              <a:t>server-side; OPENAI_MODEL env; never expose keys; .gitignore .env*; .env.example.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4773930"/>
            <a:ext cx="617220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9" sz="800">
                <a:solidFill>
                  <a:srgbClr val="23272E"/>
                </a:solidFill>
                <a:latin typeface="Roboto"/>
              </a:rPr>
              <a:t>WORK EFFICIENTLY: plan mode first (PLANS.md w/ acceptance commands); parallel reads; high effort for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200" y="4909820"/>
            <a:ext cx="623443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5" sz="800">
                <a:solidFill>
                  <a:srgbClr val="23272E"/>
                </a:solidFill>
                <a:latin typeface="Roboto"/>
              </a:rPr>
              <a:t>locate/fix, low for UI; app+npm test+typecheck each milestone; /review before done; small commits git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200" y="5045710"/>
            <a:ext cx="265430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6" sz="800">
                <a:solidFill>
                  <a:srgbClr val="23272E"/>
                </a:solidFill>
                <a:latin typeface="Roboto"/>
              </a:rPr>
              <a:t>commit --author="Codex &lt;codex@openai.com&gt;".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4200" y="5181600"/>
            <a:ext cx="610997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3" sz="800">
                <a:solidFill>
                  <a:srgbClr val="23272E"/>
                </a:solidFill>
                <a:latin typeface="Roboto"/>
              </a:rPr>
              <a:t>DELIVER: full code; AGENTS.md; README (run + 5-min Vercel deploy + PREREQUISITES + "How Codex built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4200" y="5317490"/>
            <a:ext cx="623443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8" sz="800">
                <a:solidFill>
                  <a:srgbClr val="23272E"/>
                </a:solidFill>
                <a:latin typeface="Roboto"/>
              </a:rPr>
              <a:t>this"); Vitest tests for the locate/patch logic + a Playwright smoke test; .env.example; MIT LICENSE;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4200" y="5453380"/>
            <a:ext cx="271526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8" sz="800">
                <a:solidFill>
                  <a:srgbClr val="23272E"/>
                </a:solidFill>
                <a:latin typeface="Roboto"/>
              </a:rPr>
              <a:t>mobile-first + accessible; product original.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200" y="5589270"/>
            <a:ext cx="623443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7" sz="800">
                <a:solidFill>
                  <a:srgbClr val="23272E"/>
                </a:solidFill>
                <a:latin typeface="Roboto"/>
              </a:rPr>
              <a:t>DONE WHEN: `npm install &amp;&amp; npm run dev` shows reproduce-&gt;fix-&gt;(simulated)green-test-&gt;PR on the sample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5725160"/>
            <a:ext cx="6391909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8" sz="800">
                <a:solidFill>
                  <a:srgbClr val="23272E"/>
                </a:solidFill>
                <a:latin typeface="Roboto"/>
              </a:rPr>
              <a:t>repo with no key; npm test passes; npm run build succeeds. Then print run commands, Vercel deploy steps,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200" y="5861050"/>
            <a:ext cx="1666239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9" sz="800">
                <a:solidFill>
                  <a:srgbClr val="23272E"/>
                </a:solidFill>
                <a:latin typeface="Roboto"/>
              </a:rPr>
              <a:t>a 5-line demo-video script.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200" y="6094730"/>
            <a:ext cx="192532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9" b="1" sz="800">
                <a:solidFill>
                  <a:srgbClr val="2C6DA3"/>
                </a:solidFill>
                <a:latin typeface="Roboto"/>
              </a:rPr>
              <a:t>SUGGESTED CHANGES (make it yours)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6337300"/>
            <a:ext cx="1817370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" sz="850">
                <a:solidFill>
                  <a:srgbClr val="232A33"/>
                </a:solidFill>
                <a:latin typeface="Roboto"/>
              </a:rPr>
              <a:t>• Swap in your own failing-test fixture.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4200" y="6494780"/>
            <a:ext cx="2289810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" sz="850">
                <a:solidFill>
                  <a:srgbClr val="232A33"/>
                </a:solidFill>
                <a:latin typeface="Roboto"/>
              </a:rPr>
              <a:t>• Support Python (pytest) as well as JS (Vitest).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6652259"/>
            <a:ext cx="1992630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" sz="850">
                <a:solidFill>
                  <a:srgbClr val="232A33"/>
                </a:solidFill>
                <a:latin typeface="Roboto"/>
              </a:rPr>
              <a:t>• Add an 'explain the fix for juniors' panel.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4200" y="6809740"/>
            <a:ext cx="167386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" sz="850">
                <a:solidFill>
                  <a:srgbClr val="232A33"/>
                </a:solidFill>
                <a:latin typeface="Roboto"/>
              </a:rPr>
              <a:t>• Generate a full PR body + labels.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673350" y="10261600"/>
            <a:ext cx="2213610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" sz="750">
                <a:solidFill>
                  <a:srgbClr val="5C6672"/>
                </a:solidFill>
                <a:latin typeface="Roboto"/>
              </a:rPr>
              <a:t>ChatGPT Codex India Hackathon 2026 - Track Kits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73850" y="10261600"/>
            <a:ext cx="302259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" sz="750">
                <a:solidFill>
                  <a:srgbClr val="5C6672"/>
                </a:solidFill>
                <a:latin typeface="Roboto"/>
              </a:rPr>
              <a:t>Page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0165080"/>
            <a:ext cx="6391909" cy="127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00" y="10217150"/>
            <a:ext cx="635000" cy="171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200" y="584200"/>
            <a:ext cx="6394450" cy="304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" y="1689100"/>
            <a:ext cx="6572250" cy="4953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" y="1612900"/>
            <a:ext cx="6724650" cy="647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600" y="2330450"/>
            <a:ext cx="6597650" cy="38798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6400" y="2254250"/>
            <a:ext cx="6750050" cy="40322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300" y="6356350"/>
            <a:ext cx="6572250" cy="812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9100" y="6280150"/>
            <a:ext cx="6724650" cy="965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6600" y="685800"/>
            <a:ext cx="149860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0" b="1" sz="900">
                <a:solidFill>
                  <a:srgbClr val="FFFFFF"/>
                </a:solidFill>
                <a:latin typeface="Roboto"/>
              </a:rPr>
              <a:t>TRACK 1 · Agentic Coding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1106170"/>
            <a:ext cx="127508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1" b="1" sz="1400">
                <a:solidFill>
                  <a:srgbClr val="092A49"/>
                </a:solidFill>
                <a:latin typeface="Roboto"/>
              </a:rPr>
              <a:t>Refactor Radar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1308100"/>
            <a:ext cx="2983229" cy="1181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2" i="1" sz="950">
                <a:solidFill>
                  <a:srgbClr val="5C6672"/>
                </a:solidFill>
                <a:latin typeface="Roboto"/>
              </a:rPr>
              <a:t>Scans code for dead code / anti-patterns -&gt; refactor diffs.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1565910"/>
            <a:ext cx="102235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8" b="1" sz="800">
                <a:solidFill>
                  <a:srgbClr val="2C6DA3"/>
                </a:solidFill>
                <a:latin typeface="Roboto"/>
              </a:rPr>
              <a:t>API PREREQUISITES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1808480"/>
            <a:ext cx="439547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3" b="1" sz="850">
                <a:solidFill>
                  <a:srgbClr val="232A33"/>
                </a:solidFill>
                <a:latin typeface="Roboto"/>
              </a:rPr>
              <a:t>Deploy / live demo:</a:t>
            </a:r>
            <a:r>
              <a:rPr spc="11" sz="850">
                <a:solidFill>
                  <a:srgbClr val="232A33"/>
                </a:solidFill>
                <a:latin typeface="Roboto"/>
              </a:rPr>
              <a:t> None - deploys and runs the full demo with NO login and NO API key.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4200" y="1963420"/>
            <a:ext cx="586994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4" b="1" sz="850">
                <a:solidFill>
                  <a:srgbClr val="232A33"/>
                </a:solidFill>
                <a:latin typeface="Roboto"/>
              </a:rPr>
              <a:t>Live mode (optional):</a:t>
            </a:r>
            <a:r>
              <a:rPr spc="10" sz="850">
                <a:solidFill>
                  <a:srgbClr val="232A33"/>
                </a:solidFill>
                <a:latin typeface="Roboto"/>
              </a:rPr>
              <a:t> OPENAI_API_KEY (optional) to enrich suggestions. Core scan is deterministic (ts-morph), no key.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4200" y="2218690"/>
            <a:ext cx="177800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6" b="1" sz="800">
                <a:solidFill>
                  <a:srgbClr val="2C6DA3"/>
                </a:solidFill>
                <a:latin typeface="Roboto"/>
              </a:rPr>
              <a:t>PROMPT — copy &amp; paste into Codex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2463800"/>
            <a:ext cx="635762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3" sz="800">
                <a:solidFill>
                  <a:srgbClr val="23272E"/>
                </a:solidFill>
                <a:latin typeface="Roboto"/>
              </a:rPr>
              <a:t>You are OpenAI Codex, a senior full-stack engineer. Build a COMPLETE, deployable web app in the current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4200" y="2599690"/>
            <a:ext cx="506095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6" sz="800">
                <a:solidFill>
                  <a:srgbClr val="23272E"/>
                </a:solidFill>
                <a:latin typeface="Roboto"/>
              </a:rPr>
              <a:t>empty folder. No code from me; don't ask questions—note assumptions in the README.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2735580"/>
            <a:ext cx="623443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6" sz="800">
                <a:solidFill>
                  <a:srgbClr val="23272E"/>
                </a:solidFill>
                <a:latin typeface="Roboto"/>
              </a:rPr>
              <a:t>PRODUCT: "Refactor Radar" — scans a codebase for dead code / anti-patterns / duplication and proposes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871470"/>
            <a:ext cx="610997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3" sz="800">
                <a:solidFill>
                  <a:srgbClr val="23272E"/>
                </a:solidFill>
                <a:latin typeface="Roboto"/>
              </a:rPr>
              <a:t>each refactor as a reviewable diff with before/after (simulated) test proof. TRACK: Agentic Coding.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3007360"/>
            <a:ext cx="598678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6" sz="800">
                <a:solidFill>
                  <a:srgbClr val="23272E"/>
                </a:solidFill>
                <a:latin typeface="Roboto"/>
              </a:rPr>
              <a:t>CORE FLOW: (1) load the bundled sample project (or paste files); (2) list issues (dead code, long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3143250"/>
            <a:ext cx="617220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3" sz="800">
                <a:solidFill>
                  <a:srgbClr val="23272E"/>
                </a:solidFill>
                <a:latin typeface="Roboto"/>
              </a:rPr>
              <a:t>functions, duplication, unused deps) with severity + location + a proposed refactor diff; (3) "Apply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3279140"/>
            <a:ext cx="481457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6" sz="800">
                <a:solidFill>
                  <a:srgbClr val="23272E"/>
                </a:solidFill>
                <a:latin typeface="Roboto"/>
              </a:rPr>
              <a:t>preview" shows before/after + a simulated test-pass; "Export refactor report".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3415029"/>
            <a:ext cx="6391909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9" sz="800">
                <a:solidFill>
                  <a:srgbClr val="23272E"/>
                </a:solidFill>
                <a:latin typeface="Roboto"/>
              </a:rPr>
              <a:t>STACK: Next.js (App Router, latest stable) + TypeScript + Tailwind + **ts-morph** (AST parsing). Deploy: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3550920"/>
            <a:ext cx="450596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9" sz="800">
                <a:solidFill>
                  <a:srgbClr val="23272E"/>
                </a:solidFill>
                <a:latin typeface="Roboto"/>
              </a:rPr>
              <a:t>Vercel. LLM optional in a server route; static analysis is deterministic.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3686810"/>
            <a:ext cx="586359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4" sz="800">
                <a:solidFill>
                  <a:srgbClr val="23272E"/>
                </a:solidFill>
                <a:latin typeface="Roboto"/>
              </a:rPr>
              <a:t>PREREQUISITES (also in README): Demo = NO login/key (deterministic AST scan). Live (optional) =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3822700"/>
            <a:ext cx="265430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1" sz="800">
                <a:solidFill>
                  <a:srgbClr val="23272E"/>
                </a:solidFill>
                <a:latin typeface="Roboto"/>
              </a:rPr>
              <a:t>OPENAI_API_KEY only, to enrich suggestions.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3958590"/>
            <a:ext cx="610997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2" sz="800">
                <a:solidFill>
                  <a:srgbClr val="23272E"/>
                </a:solidFill>
                <a:latin typeface="Roboto"/>
              </a:rPr>
              <a:t>DEMO (default, no key): scanning uses deterministic rules in /lib/scan.ts (ts-morph) on the bundled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4094479"/>
            <a:ext cx="129667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6" sz="800">
                <a:solidFill>
                  <a:srgbClr val="23272E"/>
                </a:solidFill>
                <a:latin typeface="Roboto"/>
              </a:rPr>
              <a:t>/data/sample-project.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4230370"/>
            <a:ext cx="617220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9" sz="800">
                <a:solidFill>
                  <a:srgbClr val="23272E"/>
                </a:solidFill>
                <a:latin typeface="Roboto"/>
              </a:rPr>
              <a:t>BUNDLE: /data/sample-project = 5 TS files containing exactly: 1 unused export, 1 duplicated function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4200" y="4366260"/>
            <a:ext cx="6049009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0" sz="800">
                <a:solidFill>
                  <a:srgbClr val="23272E"/>
                </a:solidFill>
                <a:latin typeface="Roboto"/>
              </a:rPr>
              <a:t>pair, 1 function &gt;80 lines, 1 unused npm dependency in package.json, and 1 unreachable branch — so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4502150"/>
            <a:ext cx="240665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9" sz="800">
                <a:solidFill>
                  <a:srgbClr val="23272E"/>
                </a:solidFill>
                <a:latin typeface="Roboto"/>
              </a:rPr>
              <a:t>detector precision/recall is checkable.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4638040"/>
            <a:ext cx="635762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7" sz="800">
                <a:solidFill>
                  <a:srgbClr val="23272E"/>
                </a:solidFill>
                <a:latin typeface="Roboto"/>
              </a:rPr>
              <a:t>LIVE (optional): OPENAI_API_KEY enriches wording via a server route; never required; never expose keys;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4773930"/>
            <a:ext cx="1913889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2" sz="800">
                <a:solidFill>
                  <a:srgbClr val="23272E"/>
                </a:solidFill>
                <a:latin typeface="Roboto"/>
              </a:rPr>
              <a:t>.gitignore .env*; .env.example.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200" y="4909820"/>
            <a:ext cx="6391909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9" sz="800">
                <a:solidFill>
                  <a:srgbClr val="23272E"/>
                </a:solidFill>
                <a:latin typeface="Roboto"/>
              </a:rPr>
              <a:t>WORK EFFICIENTLY: plan mode first (PLANS.md w/ acceptance commands); parallel reads; high effort for the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200" y="5045710"/>
            <a:ext cx="6049009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5" sz="800">
                <a:solidFill>
                  <a:srgbClr val="23272E"/>
                </a:solidFill>
                <a:latin typeface="Roboto"/>
              </a:rPr>
              <a:t>scan/refactor logic, low for UI; app+npm test+typecheck each milestone; /review before done; small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4200" y="5181600"/>
            <a:ext cx="339471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2" sz="800">
                <a:solidFill>
                  <a:srgbClr val="23272E"/>
                </a:solidFill>
                <a:latin typeface="Roboto"/>
              </a:rPr>
              <a:t>commits git commit --author="Codex &lt;codex@openai.com&gt;".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4200" y="5317490"/>
            <a:ext cx="610997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3" sz="800">
                <a:solidFill>
                  <a:srgbClr val="23272E"/>
                </a:solidFill>
                <a:latin typeface="Roboto"/>
              </a:rPr>
              <a:t>DELIVER: full code; AGENTS.md; README (run + 5-min Vercel deploy + PREREQUISITES + "How Codex built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4200" y="5453380"/>
            <a:ext cx="623443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6" sz="800">
                <a:solidFill>
                  <a:srgbClr val="23272E"/>
                </a:solidFill>
                <a:latin typeface="Roboto"/>
              </a:rPr>
              <a:t>this"); Vitest tests asserting each seeded issue is detected + a Playwright smoke test; .env.example;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200" y="5589270"/>
            <a:ext cx="351790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6" sz="800">
                <a:solidFill>
                  <a:srgbClr val="23272E"/>
                </a:solidFill>
                <a:latin typeface="Roboto"/>
              </a:rPr>
              <a:t>MIT LICENSE; mobile-first + accessible; product original.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5725160"/>
            <a:ext cx="6391909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7" sz="800">
                <a:solidFill>
                  <a:srgbClr val="23272E"/>
                </a:solidFill>
                <a:latin typeface="Roboto"/>
              </a:rPr>
              <a:t>DONE WHEN: `npm install &amp;&amp; npm run dev` flags all 5 seeded issues with refactor diffs + before/after, no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200" y="5861050"/>
            <a:ext cx="617220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4" sz="800">
                <a:solidFill>
                  <a:srgbClr val="23272E"/>
                </a:solidFill>
                <a:latin typeface="Roboto"/>
              </a:rPr>
              <a:t>key; npm test passes; npm run build succeeds. Then print run commands, Vercel deploy steps, a 5-line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200" y="5996940"/>
            <a:ext cx="111125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0" sz="800">
                <a:solidFill>
                  <a:srgbClr val="23272E"/>
                </a:solidFill>
                <a:latin typeface="Roboto"/>
              </a:rPr>
              <a:t>demo-video script.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6230620"/>
            <a:ext cx="192532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9" b="1" sz="800">
                <a:solidFill>
                  <a:srgbClr val="2C6DA3"/>
                </a:solidFill>
                <a:latin typeface="Roboto"/>
              </a:rPr>
              <a:t>SUGGESTED CHANGES (make it yours)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4200" y="6473190"/>
            <a:ext cx="292735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" sz="850">
                <a:solidFill>
                  <a:srgbClr val="232A33"/>
                </a:solidFill>
                <a:latin typeface="Roboto"/>
              </a:rPr>
              <a:t>• Add detectors (magic numbers, deep nesting, TODO debt).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6630670"/>
            <a:ext cx="1725930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" sz="850">
                <a:solidFill>
                  <a:srgbClr val="232A33"/>
                </a:solidFill>
                <a:latin typeface="Roboto"/>
              </a:rPr>
              <a:t>• Point it at a real repo you paste in.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4200" y="6788150"/>
            <a:ext cx="2678429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" sz="850">
                <a:solidFill>
                  <a:srgbClr val="232A33"/>
                </a:solidFill>
                <a:latin typeface="Roboto"/>
              </a:rPr>
              <a:t>• Add an 'auto-apply safe refactors' toggle with preview.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4200" y="6945630"/>
            <a:ext cx="2077720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" sz="850">
                <a:solidFill>
                  <a:srgbClr val="232A33"/>
                </a:solidFill>
                <a:latin typeface="Roboto"/>
              </a:rPr>
              <a:t>• Track a codebase-health score over time.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673350" y="10261600"/>
            <a:ext cx="2213610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" sz="750">
                <a:solidFill>
                  <a:srgbClr val="5C6672"/>
                </a:solidFill>
                <a:latin typeface="Roboto"/>
              </a:rPr>
              <a:t>ChatGPT Codex India Hackathon 2026 - Track Kits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73850" y="10261600"/>
            <a:ext cx="302259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" sz="750">
                <a:solidFill>
                  <a:srgbClr val="5C6672"/>
                </a:solidFill>
                <a:latin typeface="Roboto"/>
              </a:rPr>
              <a:t>Page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0165080"/>
            <a:ext cx="6391909" cy="127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00" y="10217150"/>
            <a:ext cx="635000" cy="171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200" y="584200"/>
            <a:ext cx="6394450" cy="304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" y="1689100"/>
            <a:ext cx="6572250" cy="4953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" y="1612900"/>
            <a:ext cx="6724650" cy="647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600" y="2330450"/>
            <a:ext cx="6597650" cy="42862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6400" y="2254250"/>
            <a:ext cx="6750050" cy="4438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300" y="6762750"/>
            <a:ext cx="6572250" cy="812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9100" y="6686550"/>
            <a:ext cx="6724650" cy="965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6600" y="685800"/>
            <a:ext cx="216535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9" b="1" sz="900">
                <a:solidFill>
                  <a:srgbClr val="FFFFFF"/>
                </a:solidFill>
                <a:latin typeface="Roboto"/>
              </a:rPr>
              <a:t>TRACK 2 · UX for Agentic Applications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1106170"/>
            <a:ext cx="125476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9" b="1" sz="1400">
                <a:solidFill>
                  <a:srgbClr val="092A49"/>
                </a:solidFill>
                <a:latin typeface="Roboto"/>
              </a:rPr>
              <a:t>Autonomy Dial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1308100"/>
            <a:ext cx="2914650" cy="1181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1" i="1" sz="950">
                <a:solidFill>
                  <a:srgbClr val="5C6672"/>
                </a:solidFill>
                <a:latin typeface="Roboto"/>
              </a:rPr>
              <a:t>Tiered-autonomy cockpit with a live, defined trust score.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1565910"/>
            <a:ext cx="102235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8" b="1" sz="800">
                <a:solidFill>
                  <a:srgbClr val="2C6DA3"/>
                </a:solidFill>
                <a:latin typeface="Roboto"/>
              </a:rPr>
              <a:t>API PREREQUISITES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1808480"/>
            <a:ext cx="439547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3" b="1" sz="850">
                <a:solidFill>
                  <a:srgbClr val="232A33"/>
                </a:solidFill>
                <a:latin typeface="Roboto"/>
              </a:rPr>
              <a:t>Deploy / live demo:</a:t>
            </a:r>
            <a:r>
              <a:rPr spc="11" sz="850">
                <a:solidFill>
                  <a:srgbClr val="232A33"/>
                </a:solidFill>
                <a:latin typeface="Roboto"/>
              </a:rPr>
              <a:t> None - deploys and runs the full demo with NO login and NO API key.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4200" y="1963420"/>
            <a:ext cx="286512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4" b="1" sz="850">
                <a:solidFill>
                  <a:srgbClr val="232A33"/>
                </a:solidFill>
                <a:latin typeface="Roboto"/>
              </a:rPr>
              <a:t>Live mode (optional):</a:t>
            </a:r>
            <a:r>
              <a:rPr spc="11" sz="850">
                <a:solidFill>
                  <a:srgbClr val="232A33"/>
                </a:solidFill>
                <a:latin typeface="Roboto"/>
              </a:rPr>
              <a:t> None - fully client-side, no key ever.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4200" y="2218690"/>
            <a:ext cx="177800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6" b="1" sz="800">
                <a:solidFill>
                  <a:srgbClr val="2C6DA3"/>
                </a:solidFill>
                <a:latin typeface="Roboto"/>
              </a:rPr>
              <a:t>PROMPT — copy &amp; paste into Codex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2463800"/>
            <a:ext cx="623443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9" sz="800">
                <a:solidFill>
                  <a:srgbClr val="23272E"/>
                </a:solidFill>
                <a:latin typeface="Roboto"/>
              </a:rPr>
              <a:t>You are OpenAI Codex, a senior frontend engineer. Build a COMPLETE, deployable web app in the current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4200" y="2599690"/>
            <a:ext cx="506095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6" sz="800">
                <a:solidFill>
                  <a:srgbClr val="23272E"/>
                </a:solidFill>
                <a:latin typeface="Roboto"/>
              </a:rPr>
              <a:t>empty folder. No code from me; don't ask questions—note assumptions in the README.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2735580"/>
            <a:ext cx="610997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1" sz="800">
                <a:solidFill>
                  <a:srgbClr val="23272E"/>
                </a:solidFill>
                <a:latin typeface="Roboto"/>
              </a:rPr>
              <a:t>PRODUCT: "Autonomy Dial" — supervise an AI agent with tiered autonomy: auto-approve high-confidence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871470"/>
            <a:ext cx="567817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3" sz="800">
                <a:solidFill>
                  <a:srgbClr val="23272E"/>
                </a:solidFill>
                <a:latin typeface="Roboto"/>
              </a:rPr>
              <a:t>actions, human-review the rest, show a live trust score. TRACK: UX for Agentic Applications.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3007360"/>
            <a:ext cx="617220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6" sz="800">
                <a:solidFill>
                  <a:srgbClr val="23272E"/>
                </a:solidFill>
                <a:latin typeface="Roboto"/>
              </a:rPr>
              <a:t>CORE FLOW: (1) a simulated agent task streams into a live timeline (Plan/Tool Call/Edit/Test/Review)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3143250"/>
            <a:ext cx="629539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4" sz="800">
                <a:solidFill>
                  <a:srgbClr val="23272E"/>
                </a:solidFill>
                <a:latin typeface="Roboto"/>
              </a:rPr>
              <a:t>with status+duration; (2) each consequential action has confidence 0–1; a user threshold auto-approves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3279140"/>
            <a:ext cx="617220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5" sz="800">
                <a:solidFill>
                  <a:srgbClr val="23272E"/>
                </a:solidFill>
                <a:latin typeface="Roboto"/>
              </a:rPr>
              <a:t>above it, queues the rest for Approve/Reject/Comment; (3) Trust Score 0–100 updates live; (4) Pause,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3415029"/>
            <a:ext cx="475234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2" sz="800">
                <a:solidFill>
                  <a:srgbClr val="23272E"/>
                </a:solidFill>
                <a:latin typeface="Roboto"/>
              </a:rPr>
              <a:t>Resume, Redirect (typed note), Kill Switch; (5) export run+decisions as JSON.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3550920"/>
            <a:ext cx="592582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1" sz="800">
                <a:solidFill>
                  <a:srgbClr val="23272E"/>
                </a:solidFill>
                <a:latin typeface="Roboto"/>
              </a:rPr>
              <a:t>STACK: Next.js (App Router, latest stable) + TypeScript + Tailwind + Zustand. Deploy: Vercel. NO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3686810"/>
            <a:ext cx="80264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9" sz="800">
                <a:solidFill>
                  <a:srgbClr val="23272E"/>
                </a:solidFill>
                <a:latin typeface="Roboto"/>
              </a:rPr>
              <a:t>external API.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3822700"/>
            <a:ext cx="499999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7" sz="800">
                <a:solidFill>
                  <a:srgbClr val="23272E"/>
                </a:solidFill>
                <a:latin typeface="Roboto"/>
              </a:rPr>
              <a:t>PREREQUISITES (also in README): NONE — fully client-side, no login, no key, ever.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3958590"/>
            <a:ext cx="635762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9" sz="800">
                <a:solidFill>
                  <a:srgbClr val="23272E"/>
                </a:solidFill>
                <a:latin typeface="Roboto"/>
              </a:rPr>
              <a:t>DATA: the run is a SIMULATED stream from /data/run.json replayed via /lib/agentStream.ts (swap this one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4094479"/>
            <a:ext cx="462915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9" sz="800">
                <a:solidFill>
                  <a:srgbClr val="23272E"/>
                </a:solidFill>
                <a:latin typeface="Roboto"/>
              </a:rPr>
              <a:t>module for a real backend stream later; document it). /data/run.json shape: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4230370"/>
            <a:ext cx="635762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6" sz="800">
                <a:solidFill>
                  <a:srgbClr val="23272E"/>
                </a:solidFill>
                <a:latin typeface="Roboto"/>
              </a:rPr>
              <a:t>{steps:[{id,type:'plan|tool|edit|test|review',label,status,durationMs,confidence?:0-1,findingIds?:[]}],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4200" y="4366260"/>
            <a:ext cx="635762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62" sz="800">
                <a:solidFill>
                  <a:srgbClr val="23272E"/>
                </a:solidFill>
                <a:latin typeface="Roboto"/>
              </a:rPr>
              <a:t>findings:[{id,severity,stepId,text}]}. Include ~16 steps, 2 diffs, a fail-&gt;pass test, 2 findings, and 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4502150"/>
            <a:ext cx="4011929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9" sz="800">
                <a:solidFill>
                  <a:srgbClr val="23272E"/>
                </a:solidFill>
                <a:latin typeface="Roboto"/>
              </a:rPr>
              <a:t>mix of confidences (some &gt;0.9 auto-approve, some 0.4–0.7 queued).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4638040"/>
            <a:ext cx="635762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2" sz="800">
                <a:solidFill>
                  <a:srgbClr val="23272E"/>
                </a:solidFill>
                <a:latin typeface="Roboto"/>
              </a:rPr>
              <a:t>LOGIC TO PIN DOWN: TrustScore = clamp(100 8*overrideRate% 15*unresolvedFindings + 5*(passedTests&gt;0), 0,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4773930"/>
            <a:ext cx="610997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9" sz="800">
                <a:solidFill>
                  <a:srgbClr val="23272E"/>
                </a:solidFill>
                <a:latin typeface="Roboto"/>
              </a:rPr>
              <a:t>100) (define once in /lib/trust.ts, unit-test it). Redirect only appends a logged annotation to the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200" y="4909820"/>
            <a:ext cx="635762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8" sz="800">
                <a:solidFill>
                  <a:srgbClr val="23272E"/>
                </a:solidFill>
                <a:latin typeface="Roboto"/>
              </a:rPr>
              <a:t>timeline (it does NOT alter the canned script — say so in the UI/README). Kill Switch = terminal state;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200" y="5045710"/>
            <a:ext cx="1666239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5" sz="800">
                <a:solidFill>
                  <a:srgbClr val="23272E"/>
                </a:solidFill>
                <a:latin typeface="Roboto"/>
              </a:rPr>
              <a:t>Resume disabled after Kill.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4200" y="5181600"/>
            <a:ext cx="617220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9" sz="800">
                <a:solidFill>
                  <a:srgbClr val="23272E"/>
                </a:solidFill>
                <a:latin typeface="Roboto"/>
              </a:rPr>
              <a:t>WORK EFFICIENTLY: plan mode first (PLANS.md w/ acceptance commands); parallel reads; high effort for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4200" y="5317490"/>
            <a:ext cx="617220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8" sz="800">
                <a:solidFill>
                  <a:srgbClr val="23272E"/>
                </a:solidFill>
                <a:latin typeface="Roboto"/>
              </a:rPr>
              <a:t>trust/threshold logic, low for UI; app+npm test+typecheck each milestone; /review before done; small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4200" y="5453380"/>
            <a:ext cx="339471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2" sz="800">
                <a:solidFill>
                  <a:srgbClr val="23272E"/>
                </a:solidFill>
                <a:latin typeface="Roboto"/>
              </a:rPr>
              <a:t>commits git commit --author="Codex &lt;codex@openai.com&gt;".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200" y="5589270"/>
            <a:ext cx="623443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8" sz="800">
                <a:solidFill>
                  <a:srgbClr val="23272E"/>
                </a:solidFill>
                <a:latin typeface="Roboto"/>
              </a:rPr>
              <a:t>DELIVER: full code; AGENTS.md; README (run + 5-min Vercel deploy + PREREQUISITES + how to plug a real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5725160"/>
            <a:ext cx="635762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7" sz="800">
                <a:solidFill>
                  <a:srgbClr val="23272E"/>
                </a:solidFill>
                <a:latin typeface="Roboto"/>
              </a:rPr>
              <a:t>stream + "How Codex built this"); Vitest tests for trust.ts + the stream generator + a Playwright smoke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200" y="5861050"/>
            <a:ext cx="592582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8" sz="800">
                <a:solidFill>
                  <a:srgbClr val="23272E"/>
                </a:solidFill>
                <a:latin typeface="Roboto"/>
              </a:rPr>
              <a:t>test (approve a queued action -&gt; score changes); MIT LICENSE; mobile-first + accessible; product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200" y="5996940"/>
            <a:ext cx="55499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69" sz="800">
                <a:solidFill>
                  <a:srgbClr val="23272E"/>
                </a:solidFill>
                <a:latin typeface="Roboto"/>
              </a:rPr>
              <a:t>original.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6132830"/>
            <a:ext cx="623443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8" sz="800">
                <a:solidFill>
                  <a:srgbClr val="23272E"/>
                </a:solidFill>
                <a:latin typeface="Roboto"/>
              </a:rPr>
              <a:t>DONE WHEN: `npm install &amp;&amp; npm run dev` shows the live run with threshold auto-approve, review queue,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4200" y="6268720"/>
            <a:ext cx="617220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4" sz="800">
                <a:solidFill>
                  <a:srgbClr val="23272E"/>
                </a:solidFill>
                <a:latin typeface="Roboto"/>
              </a:rPr>
              <a:t>trust score, and controls, no key; npm test passes; npm run build succeeds. Then print run commands,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6404610"/>
            <a:ext cx="296291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9" sz="800">
                <a:solidFill>
                  <a:srgbClr val="23272E"/>
                </a:solidFill>
                <a:latin typeface="Roboto"/>
              </a:rPr>
              <a:t>Vercel deploy steps, a 5-line demo-video script.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4200" y="6638290"/>
            <a:ext cx="192532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9" b="1" sz="800">
                <a:solidFill>
                  <a:srgbClr val="2C6DA3"/>
                </a:solidFill>
                <a:latin typeface="Roboto"/>
              </a:rPr>
              <a:t>SUGGESTED CHANGES (make it yours)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4200" y="6880859"/>
            <a:ext cx="1743710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" sz="850">
                <a:solidFill>
                  <a:srgbClr val="232A33"/>
                </a:solidFill>
                <a:latin typeface="Roboto"/>
              </a:rPr>
              <a:t>• Wire it to a real agent/LLM stream.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4200" y="7038340"/>
            <a:ext cx="232664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" sz="850">
                <a:solidFill>
                  <a:srgbClr val="232A33"/>
                </a:solidFill>
                <a:latin typeface="Roboto"/>
              </a:rPr>
              <a:t>• Add role-based approvals (reviewer vs admin).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4200" y="7195820"/>
            <a:ext cx="1708150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850">
                <a:solidFill>
                  <a:srgbClr val="232A33"/>
                </a:solidFill>
                <a:latin typeface="Roboto"/>
              </a:rPr>
              <a:t>• Add a cost / latency / token panel.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4200" y="7353300"/>
            <a:ext cx="2345690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" sz="850">
                <a:solidFill>
                  <a:srgbClr val="232A33"/>
                </a:solidFill>
                <a:latin typeface="Roboto"/>
              </a:rPr>
              <a:t>• Make the confidence threshold per-action-type.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673350" y="10261600"/>
            <a:ext cx="2213610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" sz="750">
                <a:solidFill>
                  <a:srgbClr val="5C6672"/>
                </a:solidFill>
                <a:latin typeface="Roboto"/>
              </a:rPr>
              <a:t>ChatGPT Codex India Hackathon 2026 - Track Kits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73850" y="10261600"/>
            <a:ext cx="302259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" sz="750">
                <a:solidFill>
                  <a:srgbClr val="5C6672"/>
                </a:solidFill>
                <a:latin typeface="Roboto"/>
              </a:rPr>
              <a:t>Page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0165080"/>
            <a:ext cx="6391909" cy="127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00" y="10217150"/>
            <a:ext cx="635000" cy="171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200" y="584200"/>
            <a:ext cx="6394450" cy="304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" y="1689100"/>
            <a:ext cx="6572250" cy="4953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" y="1612900"/>
            <a:ext cx="6724650" cy="647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600" y="2330450"/>
            <a:ext cx="6597650" cy="3473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6400" y="2254250"/>
            <a:ext cx="6750050" cy="36258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300" y="5949950"/>
            <a:ext cx="6572250" cy="812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9100" y="5873750"/>
            <a:ext cx="6724650" cy="965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6600" y="685800"/>
            <a:ext cx="216535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9" b="1" sz="900">
                <a:solidFill>
                  <a:srgbClr val="FFFFFF"/>
                </a:solidFill>
                <a:latin typeface="Roboto"/>
              </a:rPr>
              <a:t>TRACK 2 · UX for Agentic Applications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1106170"/>
            <a:ext cx="143256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2" b="1" sz="1400">
                <a:solidFill>
                  <a:srgbClr val="092A49"/>
                </a:solidFill>
                <a:latin typeface="Roboto"/>
              </a:rPr>
              <a:t>Agent Audit Trail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1308100"/>
            <a:ext cx="2760979" cy="1181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2" i="1" sz="950">
                <a:solidFill>
                  <a:srgbClr val="5C6672"/>
                </a:solidFill>
                <a:latin typeface="Roboto"/>
              </a:rPr>
              <a:t>Plain-language timeline of agent actions + kill switch.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1565910"/>
            <a:ext cx="102235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8" b="1" sz="800">
                <a:solidFill>
                  <a:srgbClr val="2C6DA3"/>
                </a:solidFill>
                <a:latin typeface="Roboto"/>
              </a:rPr>
              <a:t>API PREREQUISITES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1808480"/>
            <a:ext cx="439547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3" b="1" sz="850">
                <a:solidFill>
                  <a:srgbClr val="232A33"/>
                </a:solidFill>
                <a:latin typeface="Roboto"/>
              </a:rPr>
              <a:t>Deploy / live demo:</a:t>
            </a:r>
            <a:r>
              <a:rPr spc="11" sz="850">
                <a:solidFill>
                  <a:srgbClr val="232A33"/>
                </a:solidFill>
                <a:latin typeface="Roboto"/>
              </a:rPr>
              <a:t> None - deploys and runs the full demo with NO login and NO API key.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4200" y="1963420"/>
            <a:ext cx="262255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4" b="1" sz="850">
                <a:solidFill>
                  <a:srgbClr val="232A33"/>
                </a:solidFill>
                <a:latin typeface="Roboto"/>
              </a:rPr>
              <a:t>Live mode (optional):</a:t>
            </a:r>
            <a:r>
              <a:rPr spc="10" sz="850">
                <a:solidFill>
                  <a:srgbClr val="232A33"/>
                </a:solidFill>
                <a:latin typeface="Roboto"/>
              </a:rPr>
              <a:t> None - fully client-side, no key.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4200" y="2218690"/>
            <a:ext cx="177800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6" b="1" sz="800">
                <a:solidFill>
                  <a:srgbClr val="2C6DA3"/>
                </a:solidFill>
                <a:latin typeface="Roboto"/>
              </a:rPr>
              <a:t>PROMPT — copy &amp; paste into Codex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2463800"/>
            <a:ext cx="623443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9" sz="800">
                <a:solidFill>
                  <a:srgbClr val="23272E"/>
                </a:solidFill>
                <a:latin typeface="Roboto"/>
              </a:rPr>
              <a:t>You are OpenAI Codex, a senior frontend engineer. Build a COMPLETE, deployable web app in the current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4200" y="2599690"/>
            <a:ext cx="506095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6" sz="800">
                <a:solidFill>
                  <a:srgbClr val="23272E"/>
                </a:solidFill>
                <a:latin typeface="Roboto"/>
              </a:rPr>
              <a:t>empty folder. No code from me; don't ask questions—note assumptions in the README.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2735580"/>
            <a:ext cx="6391909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5" sz="800">
                <a:solidFill>
                  <a:srgbClr val="23272E"/>
                </a:solidFill>
                <a:latin typeface="Roboto"/>
              </a:rPr>
              <a:t>PRODUCT: "Agent Audit Trail" — a plain-language timeline of everything an AI agent did, with filters 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871470"/>
            <a:ext cx="487553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0" sz="800">
                <a:solidFill>
                  <a:srgbClr val="23272E"/>
                </a:solidFill>
                <a:latin typeface="Roboto"/>
              </a:rPr>
              <a:t>a kill-switch, for non-technical oversight. TRACK: UX for Agentic Applications.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3007360"/>
            <a:ext cx="617220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1" sz="800">
                <a:solidFill>
                  <a:srgbClr val="23272E"/>
                </a:solidFill>
                <a:latin typeface="Roboto"/>
              </a:rPr>
              <a:t>CORE FLOW: (1) a simulated run streams into a friendly timeline — each event a card in plain English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3143250"/>
            <a:ext cx="629539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1" sz="800">
                <a:solidFill>
                  <a:srgbClr val="23272E"/>
                </a:solidFill>
                <a:latin typeface="Roboto"/>
              </a:rPr>
              <a:t>(what/why/status/time), grouped by task; (2) filters: all / decisions / external actions / errors; (3)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3279140"/>
            <a:ext cx="598678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8" sz="800">
                <a:solidFill>
                  <a:srgbClr val="23272E"/>
                </a:solidFill>
                <a:latin typeface="Roboto"/>
              </a:rPr>
              <a:t>Pause + Kill Switch; (4) "Explain this step" shows a longer canned explanation (distinct from the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3415029"/>
            <a:ext cx="283972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3" sz="800">
                <a:solidFill>
                  <a:srgbClr val="23272E"/>
                </a:solidFill>
                <a:latin typeface="Roboto"/>
              </a:rPr>
              <a:t>one-line reason); (5) export as JSON/Markdown.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3550920"/>
            <a:ext cx="592582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1" sz="800">
                <a:solidFill>
                  <a:srgbClr val="23272E"/>
                </a:solidFill>
                <a:latin typeface="Roboto"/>
              </a:rPr>
              <a:t>STACK: Next.js (App Router, latest stable) + TypeScript + Tailwind + Zustand. Deploy: Vercel. NO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3686810"/>
            <a:ext cx="80264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9" sz="800">
                <a:solidFill>
                  <a:srgbClr val="23272E"/>
                </a:solidFill>
                <a:latin typeface="Roboto"/>
              </a:rPr>
              <a:t>external API.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3822700"/>
            <a:ext cx="462915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3" sz="800">
                <a:solidFill>
                  <a:srgbClr val="23272E"/>
                </a:solidFill>
                <a:latin typeface="Roboto"/>
              </a:rPr>
              <a:t>PREREQUISITES (also in README): NONE — fully client-side, no login, no key.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3958590"/>
            <a:ext cx="598678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5" sz="800">
                <a:solidFill>
                  <a:srgbClr val="23272E"/>
                </a:solidFill>
                <a:latin typeface="Roboto"/>
              </a:rPr>
              <a:t>DATA: SIMULATED stream from /data/run.json via /lib/agentStream.ts (swappable for a real stream).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4094479"/>
            <a:ext cx="283972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8" sz="800">
                <a:solidFill>
                  <a:srgbClr val="23272E"/>
                </a:solidFill>
                <a:latin typeface="Roboto"/>
              </a:rPr>
              <a:t>/data/run.json shape: {tasks:[{taskId,title}],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4230370"/>
            <a:ext cx="629539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2" sz="800">
                <a:solidFill>
                  <a:srgbClr val="23272E"/>
                </a:solidFill>
                <a:latin typeface="Roboto"/>
              </a:rPr>
              <a:t>events:[{id,taskId,type:'decision|external|edit|error|info',reason,detail,status,timestamp}]}. Include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4200" y="4366260"/>
            <a:ext cx="425831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5" sz="800">
                <a:solidFill>
                  <a:srgbClr val="23272E"/>
                </a:solidFill>
                <a:latin typeface="Roboto"/>
              </a:rPr>
              <a:t>&gt;=2 distinct tasks so "grouped by task" is real, and &gt;=1 error event.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4502150"/>
            <a:ext cx="6391909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9" sz="800">
                <a:solidFill>
                  <a:srgbClr val="23272E"/>
                </a:solidFill>
                <a:latin typeface="Roboto"/>
              </a:rPr>
              <a:t>WORK EFFICIENTLY: plan mode first (PLANS.md w/ acceptance commands); parallel reads; high effort for the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4638040"/>
            <a:ext cx="623443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8" sz="800">
                <a:solidFill>
                  <a:srgbClr val="23272E"/>
                </a:solidFill>
                <a:latin typeface="Roboto"/>
              </a:rPr>
              <a:t>event-&gt;plain-language mapper, low for UI; app+npm test+typecheck each milestone; /review before done;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4773930"/>
            <a:ext cx="376555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6" sz="800">
                <a:solidFill>
                  <a:srgbClr val="23272E"/>
                </a:solidFill>
                <a:latin typeface="Roboto"/>
              </a:rPr>
              <a:t>small commits git commit --author="Codex &lt;codex@openai.com&gt;".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200" y="4909820"/>
            <a:ext cx="610997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3" sz="800">
                <a:solidFill>
                  <a:srgbClr val="23272E"/>
                </a:solidFill>
                <a:latin typeface="Roboto"/>
              </a:rPr>
              <a:t>DELIVER: full code; AGENTS.md; README (run + 5-min Vercel deploy + PREREQUISITES + "How Codex built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200" y="5045710"/>
            <a:ext cx="610997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8" sz="800">
                <a:solidFill>
                  <a:srgbClr val="23272E"/>
                </a:solidFill>
                <a:latin typeface="Roboto"/>
              </a:rPr>
              <a:t>this"); Vitest tests for the mapper + stream generator + a Playwright smoke test (timeline renders,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4200" y="5181600"/>
            <a:ext cx="580136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2" sz="800">
                <a:solidFill>
                  <a:srgbClr val="23272E"/>
                </a:solidFill>
                <a:latin typeface="Roboto"/>
              </a:rPr>
              <a:t>filter works, kill-switch stops it); MIT LICENSE; mobile-first + accessible; product original.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4200" y="5317490"/>
            <a:ext cx="6391909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3" sz="800">
                <a:solidFill>
                  <a:srgbClr val="23272E"/>
                </a:solidFill>
                <a:latin typeface="Roboto"/>
              </a:rPr>
              <a:t>DONE WHEN: `npm install &amp;&amp; npm run dev` shows the plain-language trail grouped by &gt;=2 tasks with working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4200" y="5453380"/>
            <a:ext cx="635762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2" sz="800">
                <a:solidFill>
                  <a:srgbClr val="23272E"/>
                </a:solidFill>
                <a:latin typeface="Roboto"/>
              </a:rPr>
              <a:t>filters + kill-switch, no key; npm test passes; npm run build succeeds. Then print run commands, Vercel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200" y="5589270"/>
            <a:ext cx="253111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9" sz="800">
                <a:solidFill>
                  <a:srgbClr val="23272E"/>
                </a:solidFill>
                <a:latin typeface="Roboto"/>
              </a:rPr>
              <a:t>deploy steps, a 5-line demo-video script.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5822950"/>
            <a:ext cx="192532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9" b="1" sz="800">
                <a:solidFill>
                  <a:srgbClr val="2C6DA3"/>
                </a:solidFill>
                <a:latin typeface="Roboto"/>
              </a:rPr>
              <a:t>SUGGESTED CHANGES (make it yours)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200" y="6065520"/>
            <a:ext cx="126111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" sz="850">
                <a:solidFill>
                  <a:srgbClr val="232A33"/>
                </a:solidFill>
                <a:latin typeface="Roboto"/>
              </a:rPr>
              <a:t>• Feed a real agent's logs.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200" y="6223000"/>
            <a:ext cx="2324100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" sz="850">
                <a:solidFill>
                  <a:srgbClr val="232A33"/>
                </a:solidFill>
                <a:latin typeface="Roboto"/>
              </a:rPr>
              <a:t>• Add search + CSV/PDF export for compliance.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6380480"/>
            <a:ext cx="2159000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" sz="850">
                <a:solidFill>
                  <a:srgbClr val="232A33"/>
                </a:solidFill>
                <a:latin typeface="Roboto"/>
              </a:rPr>
              <a:t>• Add 'flag for review' + comments per event.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4200" y="6537959"/>
            <a:ext cx="1992630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" sz="850">
                <a:solidFill>
                  <a:srgbClr val="232A33"/>
                </a:solidFill>
                <a:latin typeface="Roboto"/>
              </a:rPr>
              <a:t>• Localise the plain-language summaries.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73350" y="10261600"/>
            <a:ext cx="2213610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" sz="750">
                <a:solidFill>
                  <a:srgbClr val="5C6672"/>
                </a:solidFill>
                <a:latin typeface="Roboto"/>
              </a:rPr>
              <a:t>ChatGPT Codex India Hackathon 2026 - Track Kits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73850" y="10261600"/>
            <a:ext cx="302259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" sz="750">
                <a:solidFill>
                  <a:srgbClr val="5C6672"/>
                </a:solidFill>
                <a:latin typeface="Roboto"/>
              </a:rPr>
              <a:t>Page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0165080"/>
            <a:ext cx="6391909" cy="127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00" y="10217150"/>
            <a:ext cx="635000" cy="171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200" y="584200"/>
            <a:ext cx="6394450" cy="304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" y="1689100"/>
            <a:ext cx="6572250" cy="4953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" y="1612900"/>
            <a:ext cx="6724650" cy="647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600" y="2330450"/>
            <a:ext cx="6597650" cy="42862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6400" y="2254250"/>
            <a:ext cx="6750050" cy="4438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300" y="6762750"/>
            <a:ext cx="6572250" cy="812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9100" y="6686550"/>
            <a:ext cx="6724650" cy="965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6600" y="685800"/>
            <a:ext cx="216535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9" b="1" sz="900">
                <a:solidFill>
                  <a:srgbClr val="FFFFFF"/>
                </a:solidFill>
                <a:latin typeface="Roboto"/>
              </a:rPr>
              <a:t>TRACK 2 · UX for Agentic Applications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1106170"/>
            <a:ext cx="998219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5" b="1" sz="1400">
                <a:solidFill>
                  <a:srgbClr val="092A49"/>
                </a:solidFill>
                <a:latin typeface="Roboto"/>
              </a:rPr>
              <a:t>Diff Cockpit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1308100"/>
            <a:ext cx="2999740" cy="1181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i="1" sz="950">
                <a:solidFill>
                  <a:srgbClr val="5C6672"/>
                </a:solidFill>
                <a:latin typeface="Roboto"/>
              </a:rPr>
              <a:t>Risk-scores each PR hunk; approve/redirect; trust ledger.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1565910"/>
            <a:ext cx="102235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8" b="1" sz="800">
                <a:solidFill>
                  <a:srgbClr val="2C6DA3"/>
                </a:solidFill>
                <a:latin typeface="Roboto"/>
              </a:rPr>
              <a:t>API PREREQUISITES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1808480"/>
            <a:ext cx="439547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3" b="1" sz="850">
                <a:solidFill>
                  <a:srgbClr val="232A33"/>
                </a:solidFill>
                <a:latin typeface="Roboto"/>
              </a:rPr>
              <a:t>Deploy / live demo:</a:t>
            </a:r>
            <a:r>
              <a:rPr spc="11" sz="850">
                <a:solidFill>
                  <a:srgbClr val="232A33"/>
                </a:solidFill>
                <a:latin typeface="Roboto"/>
              </a:rPr>
              <a:t> None - deploys and runs the full demo with NO login and NO API key.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4200" y="1963420"/>
            <a:ext cx="494665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4" b="1" sz="850">
                <a:solidFill>
                  <a:srgbClr val="232A33"/>
                </a:solidFill>
                <a:latin typeface="Roboto"/>
              </a:rPr>
              <a:t>Live mode (optional):</a:t>
            </a:r>
            <a:r>
              <a:rPr spc="13" sz="850">
                <a:solidFill>
                  <a:srgbClr val="232A33"/>
                </a:solidFill>
                <a:latin typeface="Roboto"/>
              </a:rPr>
              <a:t> OPENAI_API_KEY (optional) - rewrites risk explanations only, never the score.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4200" y="2218690"/>
            <a:ext cx="177800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6" b="1" sz="800">
                <a:solidFill>
                  <a:srgbClr val="2C6DA3"/>
                </a:solidFill>
                <a:latin typeface="Roboto"/>
              </a:rPr>
              <a:t>PROMPT — copy &amp; paste into Codex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2463800"/>
            <a:ext cx="623443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9" sz="800">
                <a:solidFill>
                  <a:srgbClr val="23272E"/>
                </a:solidFill>
                <a:latin typeface="Roboto"/>
              </a:rPr>
              <a:t>You are OpenAI Codex, a senior frontend engineer. Build a COMPLETE, deployable web app in the current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4200" y="2599690"/>
            <a:ext cx="506095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6" sz="800">
                <a:solidFill>
                  <a:srgbClr val="23272E"/>
                </a:solidFill>
                <a:latin typeface="Roboto"/>
              </a:rPr>
              <a:t>empty folder. No code from me; don't ask questions—note assumptions in the README.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2735580"/>
            <a:ext cx="6391909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7" sz="800">
                <a:solidFill>
                  <a:srgbClr val="23272E"/>
                </a:solidFill>
                <a:latin typeface="Roboto"/>
              </a:rPr>
              <a:t>PRODUCT: "Diff Cockpit" — review an AI agent's PR: risk-score each hunk, approve/redirect per hunk, with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871470"/>
            <a:ext cx="3148329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3" sz="800">
                <a:solidFill>
                  <a:srgbClr val="23272E"/>
                </a:solidFill>
                <a:latin typeface="Roboto"/>
              </a:rPr>
              <a:t>a trust ledger. TRACK: UX for Agentic Applications.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3007360"/>
            <a:ext cx="6391909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3" sz="800">
                <a:solidFill>
                  <a:srgbClr val="23272E"/>
                </a:solidFill>
                <a:latin typeface="Roboto"/>
              </a:rPr>
              <a:t>CORE FLOW: (1) load a bundled sample PR (multiple files/hunks); (2) each hunk gets a risk score + reason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3143250"/>
            <a:ext cx="6391909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7" sz="800">
                <a:solidFill>
                  <a:srgbClr val="23272E"/>
                </a:solidFill>
                <a:latin typeface="Roboto"/>
              </a:rPr>
              <a:t>(auth/DB/secrets/deps/logic) and Approve/Reject/Comment; (3) a summary bar tracks approved vs rejected 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3279140"/>
            <a:ext cx="635762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5" sz="800">
                <a:solidFill>
                  <a:srgbClr val="23272E"/>
                </a:solidFill>
                <a:latin typeface="Roboto"/>
              </a:rPr>
              <a:t>net risk; (4) a Trust Ledger shows the agent's past accuracy from bundled history; (5) export decisions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3415029"/>
            <a:ext cx="49403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4" sz="800">
                <a:solidFill>
                  <a:srgbClr val="23272E"/>
                </a:solidFill>
                <a:latin typeface="Roboto"/>
              </a:rPr>
              <a:t>as JSON.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3550920"/>
            <a:ext cx="623443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6" sz="800">
                <a:solidFill>
                  <a:srgbClr val="23272E"/>
                </a:solidFill>
                <a:latin typeface="Roboto"/>
              </a:rPr>
              <a:t>STACK: Next.js (App Router, latest stable) + TypeScript + Tailwind. Deploy: Vercel. LLM optional in 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3686810"/>
            <a:ext cx="80264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3" sz="800">
                <a:solidFill>
                  <a:srgbClr val="23272E"/>
                </a:solidFill>
                <a:latin typeface="Roboto"/>
              </a:rPr>
              <a:t>server route.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3822700"/>
            <a:ext cx="629539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4" sz="800">
                <a:solidFill>
                  <a:srgbClr val="23272E"/>
                </a:solidFill>
                <a:latin typeface="Roboto"/>
              </a:rPr>
              <a:t>PREREQUISITES (also in README): Demo = NO login/key (deterministic risk heuristics). Live (optional) =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3958590"/>
            <a:ext cx="308610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6" sz="800">
                <a:solidFill>
                  <a:srgbClr val="23272E"/>
                </a:solidFill>
                <a:latin typeface="Roboto"/>
              </a:rPr>
              <a:t>OPENAI_API_KEY only, to sharpen risk explanations.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4094479"/>
            <a:ext cx="203708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7" sz="800">
                <a:solidFill>
                  <a:srgbClr val="23272E"/>
                </a:solidFill>
                <a:latin typeface="Roboto"/>
              </a:rPr>
              <a:t>DATA: /data/sample-pr.json shape: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4230370"/>
            <a:ext cx="629539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4" sz="800">
                <a:solidFill>
                  <a:srgbClr val="23272E"/>
                </a:solidFill>
                <a:latin typeface="Roboto"/>
              </a:rPr>
              <a:t>{files:[{path,hunks:[{id,category:'auth|db|secrets|deps|logic',diff,riskReason}]}]} — include at least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4200" y="4366260"/>
            <a:ext cx="419735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2" sz="800">
                <a:solidFill>
                  <a:srgbClr val="23272E"/>
                </a:solidFill>
                <a:latin typeface="Roboto"/>
              </a:rPr>
              <a:t>one hunk per category. /data/trust-ledger.json = past runs: [{runId,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4502150"/>
            <a:ext cx="629539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6" sz="800">
                <a:solidFill>
                  <a:srgbClr val="23272E"/>
                </a:solidFill>
                <a:latin typeface="Roboto"/>
              </a:rPr>
              <a:t>predictions:[{hunkId,predictedRisk,outcome:'clean|reverted|incident'}]}]; Trust "accuracy" = agreement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4638040"/>
            <a:ext cx="610997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9" sz="800">
                <a:solidFill>
                  <a:srgbClr val="23272E"/>
                </a:solidFill>
                <a:latin typeface="Roboto"/>
              </a:rPr>
              <a:t>between predictedRisk and outcome across the ledger (define in /lib/trust.ts). Do NOT invent a bare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4773930"/>
            <a:ext cx="259207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2" sz="800">
                <a:solidFill>
                  <a:srgbClr val="23272E"/>
                </a:solidFill>
                <a:latin typeface="Roboto"/>
              </a:rPr>
              <a:t>"87%" — compute it from this bundled data.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200" y="4909820"/>
            <a:ext cx="635762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2" sz="800">
                <a:solidFill>
                  <a:srgbClr val="23272E"/>
                </a:solidFill>
                <a:latin typeface="Roboto"/>
              </a:rPr>
              <a:t>LOGIC: risk scoring is deterministic in /lib/risk.ts (path/keyword heuristics per category). Live mode: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200" y="5045710"/>
            <a:ext cx="617220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3" sz="800">
                <a:solidFill>
                  <a:srgbClr val="23272E"/>
                </a:solidFill>
                <a:latin typeface="Roboto"/>
              </a:rPr>
              <a:t>if OPENAI_API_KEY is set AND a "Sharpen with AI" toggle is on, /api/explain rewrites the reason text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4200" y="5181600"/>
            <a:ext cx="617220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1" sz="800">
                <a:solidFill>
                  <a:srgbClr val="23272E"/>
                </a:solidFill>
                <a:latin typeface="Roboto"/>
              </a:rPr>
              <a:t>only (never changes the score); OPENAI_MODEL env; never expose keys; .gitignore .env*; .env.example.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4200" y="5317490"/>
            <a:ext cx="617220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9" sz="800">
                <a:solidFill>
                  <a:srgbClr val="23272E"/>
                </a:solidFill>
                <a:latin typeface="Roboto"/>
              </a:rPr>
              <a:t>WORK EFFICIENTLY: plan mode first (PLANS.md w/ acceptance commands); parallel reads; high effort for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4200" y="5453380"/>
            <a:ext cx="598678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5" sz="800">
                <a:solidFill>
                  <a:srgbClr val="23272E"/>
                </a:solidFill>
                <a:latin typeface="Roboto"/>
              </a:rPr>
              <a:t>risk + ledger math, low for UI; app+npm test+typecheck each milestone; /review before done; small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200" y="5589270"/>
            <a:ext cx="339471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2" sz="800">
                <a:solidFill>
                  <a:srgbClr val="23272E"/>
                </a:solidFill>
                <a:latin typeface="Roboto"/>
              </a:rPr>
              <a:t>commits git commit --author="Codex &lt;codex@openai.com&gt;".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5725160"/>
            <a:ext cx="610997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3" sz="800">
                <a:solidFill>
                  <a:srgbClr val="23272E"/>
                </a:solidFill>
                <a:latin typeface="Roboto"/>
              </a:rPr>
              <a:t>DELIVER: full code; AGENTS.md; README (run + 5-min Vercel deploy + PREREQUISITES + "How Codex built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200" y="5861050"/>
            <a:ext cx="6391909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8" sz="800">
                <a:solidFill>
                  <a:srgbClr val="23272E"/>
                </a:solidFill>
                <a:latin typeface="Roboto"/>
              </a:rPr>
              <a:t>this"); Vitest tests for the risk scorer + ledger-accuracy math + a Playwright smoke test (hunks render,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200" y="5996940"/>
            <a:ext cx="543179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5" sz="800">
                <a:solidFill>
                  <a:srgbClr val="23272E"/>
                </a:solidFill>
                <a:latin typeface="Roboto"/>
              </a:rPr>
              <a:t>approve one, summary updates); MIT LICENSE; mobile-first + accessible; product original.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6132830"/>
            <a:ext cx="586359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0" sz="800">
                <a:solidFill>
                  <a:srgbClr val="23272E"/>
                </a:solidFill>
                <a:latin typeface="Roboto"/>
              </a:rPr>
              <a:t>DONE WHEN: `npm install &amp;&amp; npm run dev` shows per-hunk risk (all 5 categories present), working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4200" y="6268720"/>
            <a:ext cx="623443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0" sz="800">
                <a:solidFill>
                  <a:srgbClr val="23272E"/>
                </a:solidFill>
                <a:latin typeface="Roboto"/>
              </a:rPr>
              <a:t>approve/reject, and a ledger accuracy computed from bundled history, no key; npm test passes; npm run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6404610"/>
            <a:ext cx="549275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7" sz="800">
                <a:solidFill>
                  <a:srgbClr val="23272E"/>
                </a:solidFill>
                <a:latin typeface="Roboto"/>
              </a:rPr>
              <a:t>build succeeds. Then print run commands, Vercel deploy steps, a 5-line demo-video script.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4200" y="6638290"/>
            <a:ext cx="192532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9" b="1" sz="800">
                <a:solidFill>
                  <a:srgbClr val="2C6DA3"/>
                </a:solidFill>
                <a:latin typeface="Roboto"/>
              </a:rPr>
              <a:t>SUGGESTED CHANGES (make it yours)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4200" y="6880859"/>
            <a:ext cx="2077720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" sz="850">
                <a:solidFill>
                  <a:srgbClr val="232A33"/>
                </a:solidFill>
                <a:latin typeface="Roboto"/>
              </a:rPr>
              <a:t>• Add risk categories (perf, migrations, PII).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4200" y="7038340"/>
            <a:ext cx="169545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6" sz="850">
                <a:solidFill>
                  <a:srgbClr val="232A33"/>
                </a:solidFill>
                <a:latin typeface="Roboto"/>
              </a:rPr>
              <a:t>• Pull a real GitHub PR via the API.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4200" y="7195820"/>
            <a:ext cx="2604770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" sz="850">
                <a:solidFill>
                  <a:srgbClr val="232A33"/>
                </a:solidFill>
                <a:latin typeface="Roboto"/>
              </a:rPr>
              <a:t>• Add 'request changes' that drafts a review comment.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4200" y="7353300"/>
            <a:ext cx="1756410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" sz="850">
                <a:solidFill>
                  <a:srgbClr val="232A33"/>
                </a:solidFill>
                <a:latin typeface="Roboto"/>
              </a:rPr>
              <a:t>• Weight the trust ledger by recency.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673350" y="10261600"/>
            <a:ext cx="2213610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" sz="750">
                <a:solidFill>
                  <a:srgbClr val="5C6672"/>
                </a:solidFill>
                <a:latin typeface="Roboto"/>
              </a:rPr>
              <a:t>ChatGPT Codex India Hackathon 2026 - Track Kits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20509" y="10261600"/>
            <a:ext cx="355600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" sz="750">
                <a:solidFill>
                  <a:srgbClr val="5C6672"/>
                </a:solidFill>
                <a:latin typeface="Roboto"/>
              </a:rPr>
              <a:t>Page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0165080"/>
            <a:ext cx="6391909" cy="127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00" y="10217150"/>
            <a:ext cx="635000" cy="171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200" y="584200"/>
            <a:ext cx="6394450" cy="304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" y="1689100"/>
            <a:ext cx="6572250" cy="6540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" y="1612900"/>
            <a:ext cx="6724650" cy="806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600" y="2489200"/>
            <a:ext cx="6597650" cy="4419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6400" y="2413000"/>
            <a:ext cx="6750050" cy="4572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300" y="7054850"/>
            <a:ext cx="6572250" cy="812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9100" y="6978650"/>
            <a:ext cx="6724650" cy="965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6600" y="685800"/>
            <a:ext cx="191770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5" b="1" sz="900">
                <a:solidFill>
                  <a:srgbClr val="FFFFFF"/>
                </a:solidFill>
                <a:latin typeface="Roboto"/>
              </a:rPr>
              <a:t>TRACK 3 · Multimodal Intelligence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1106170"/>
            <a:ext cx="1107439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8" b="1" sz="1400">
                <a:solidFill>
                  <a:srgbClr val="092A49"/>
                </a:solidFill>
                <a:latin typeface="Roboto"/>
              </a:rPr>
              <a:t>SketchSpeak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1308100"/>
            <a:ext cx="2999740" cy="1181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" i="1" sz="950">
                <a:solidFill>
                  <a:srgbClr val="5C6672"/>
                </a:solidFill>
                <a:latin typeface="Roboto"/>
              </a:rPr>
              <a:t>Wireframe or voice -&gt; responsive page -&gt; refine by voice.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1565910"/>
            <a:ext cx="102235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8" b="1" sz="800">
                <a:solidFill>
                  <a:srgbClr val="2C6DA3"/>
                </a:solidFill>
                <a:latin typeface="Roboto"/>
              </a:rPr>
              <a:t>API PREREQUISITES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1808480"/>
            <a:ext cx="439547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3" b="1" sz="850">
                <a:solidFill>
                  <a:srgbClr val="232A33"/>
                </a:solidFill>
                <a:latin typeface="Roboto"/>
              </a:rPr>
              <a:t>Deploy / live demo:</a:t>
            </a:r>
            <a:r>
              <a:rPr spc="11" sz="850">
                <a:solidFill>
                  <a:srgbClr val="232A33"/>
                </a:solidFill>
                <a:latin typeface="Roboto"/>
              </a:rPr>
              <a:t> None - deploys and runs the full demo with NO login and NO API key.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4200" y="1963420"/>
            <a:ext cx="569087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4" b="1" sz="850">
                <a:solidFill>
                  <a:srgbClr val="232A33"/>
                </a:solidFill>
                <a:latin typeface="Roboto"/>
              </a:rPr>
              <a:t>Live mode (optional):</a:t>
            </a:r>
            <a:r>
              <a:rPr spc="18" sz="850">
                <a:solidFill>
                  <a:srgbClr val="232A33"/>
                </a:solidFill>
                <a:latin typeface="Roboto"/>
              </a:rPr>
              <a:t> OPENAI_API_KEY with a VISION-capable model for live image-&gt;code. Browser: Web Speech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4200" y="2118360"/>
            <a:ext cx="316230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" sz="850">
                <a:solidFill>
                  <a:srgbClr val="232A33"/>
                </a:solidFill>
                <a:latin typeface="Roboto"/>
              </a:rPr>
              <a:t>(Chrome/Edge/Safari; not Firefox by default; STT needs internet).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2373630"/>
            <a:ext cx="177800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6" b="1" sz="800">
                <a:solidFill>
                  <a:srgbClr val="2C6DA3"/>
                </a:solidFill>
                <a:latin typeface="Roboto"/>
              </a:rPr>
              <a:t>PROMPT — copy &amp; paste into Codex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4200" y="2618740"/>
            <a:ext cx="635762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3" sz="800">
                <a:solidFill>
                  <a:srgbClr val="23272E"/>
                </a:solidFill>
                <a:latin typeface="Roboto"/>
              </a:rPr>
              <a:t>You are OpenAI Codex, a senior full-stack engineer. Build a COMPLETE, deployable web app in the current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2754630"/>
            <a:ext cx="506095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6" sz="800">
                <a:solidFill>
                  <a:srgbClr val="23272E"/>
                </a:solidFill>
                <a:latin typeface="Roboto"/>
              </a:rPr>
              <a:t>empty folder. No code from me; don't ask questions—note assumptions in the README.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890520"/>
            <a:ext cx="635762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8" sz="800">
                <a:solidFill>
                  <a:srgbClr val="23272E"/>
                </a:solidFill>
                <a:latin typeface="Roboto"/>
              </a:rPr>
              <a:t>PRODUCT: "SketchSpeak" — turn a wireframe image OR a spoken description into a responsive webpage, then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3026410"/>
            <a:ext cx="3148329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0" sz="800">
                <a:solidFill>
                  <a:srgbClr val="23272E"/>
                </a:solidFill>
                <a:latin typeface="Roboto"/>
              </a:rPr>
              <a:t>refine it by voice. TRACK: Multimodal Intelligence.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3162300"/>
            <a:ext cx="610997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4" sz="800">
                <a:solidFill>
                  <a:srgbClr val="23272E"/>
                </a:solidFill>
                <a:latin typeface="Roboto"/>
              </a:rPr>
              <a:t>CORE FLOW: (1) drop an image (bundled sample) OR press mic and describe (browser SpeechRecognition,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3298190"/>
            <a:ext cx="629539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4" sz="800">
                <a:solidFill>
                  <a:srgbClr val="23272E"/>
                </a:solidFill>
                <a:latin typeface="Roboto"/>
              </a:rPr>
              <a:t>default lang en-US + a language picker); (2) generate self-contained HTML with INLINED CSS, shown live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3434079"/>
            <a:ext cx="6391909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9" sz="800">
                <a:solidFill>
                  <a:srgbClr val="23272E"/>
                </a:solidFill>
                <a:latin typeface="Roboto"/>
              </a:rPr>
              <a:t>in a sandboxed iframe (sandbox="allow-scripts", no allow-same-origin; in-frame CSP default-src 'none') 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3569970"/>
            <a:ext cx="574040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1" sz="800">
                <a:solidFill>
                  <a:srgbClr val="23272E"/>
                </a:solidFill>
                <a:latin typeface="Roboto"/>
              </a:rPr>
              <a:t>an editable code panel that re-renders on edit (debounced); (3) "Refine": in DEMO_MODE show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3705860"/>
            <a:ext cx="629539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3" sz="800">
                <a:solidFill>
                  <a:srgbClr val="23272E"/>
                </a:solidFill>
                <a:latin typeface="Roboto"/>
              </a:rPr>
              <a:t>quick-action refinement BUTTONS (not open dictation) that map to bundled variants; in live mode accept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3841750"/>
            <a:ext cx="271526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7" sz="800">
                <a:solidFill>
                  <a:srgbClr val="23272E"/>
                </a:solidFill>
                <a:latin typeface="Roboto"/>
              </a:rPr>
              <a:t>spoken/typed refinements; (4) copy/download.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3977640"/>
            <a:ext cx="623443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5" sz="800">
                <a:solidFill>
                  <a:srgbClr val="23272E"/>
                </a:solidFill>
                <a:latin typeface="Roboto"/>
              </a:rPr>
              <a:t>STACK: Next.js (App Router, latest stable) + TypeScript + Tailwind (app UI) + CodeMirror + Web Speech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4113529"/>
            <a:ext cx="586359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5" sz="800">
                <a:solidFill>
                  <a:srgbClr val="23272E"/>
                </a:solidFill>
                <a:latin typeface="Roboto"/>
              </a:rPr>
              <a:t>API (feature-detect, degrade to text input). Deploy: Vercel. Vision LLM only in a server route.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4249420"/>
            <a:ext cx="567817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5" sz="800">
                <a:solidFill>
                  <a:srgbClr val="23272E"/>
                </a:solidFill>
                <a:latin typeface="Roboto"/>
              </a:rPr>
              <a:t>PREREQUISITES (also in README): Demo = NO login/key. Live (optional) = OPENAI_API_KEY with 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4200" y="4385310"/>
            <a:ext cx="629539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0" sz="800">
                <a:solidFill>
                  <a:srgbClr val="23272E"/>
                </a:solidFill>
                <a:latin typeface="Roboto"/>
              </a:rPr>
              <a:t>VISION-capable OPENAI_MODEL (verify the chosen model accepts image input). Web Speech caveats as noted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4521200"/>
            <a:ext cx="37084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2" sz="800">
                <a:solidFill>
                  <a:srgbClr val="23272E"/>
                </a:solidFill>
                <a:latin typeface="Roboto"/>
              </a:rPr>
              <a:t>above.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4657090"/>
            <a:ext cx="580136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3" sz="800">
                <a:solidFill>
                  <a:srgbClr val="23272E"/>
                </a:solidFill>
                <a:latin typeface="Roboto"/>
              </a:rPr>
              <a:t>DEMO (default, no key): DEMO_MODE=true: bundled /public/sample.png -&gt; bundled /data/demo.html;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4792980"/>
            <a:ext cx="419735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1" sz="800">
                <a:solidFill>
                  <a:srgbClr val="23272E"/>
                </a:solidFill>
                <a:latin typeface="Roboto"/>
              </a:rPr>
              <a:t>/data/refinements.json = 3 button-triggered edits -&gt; resulting HTML.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200" y="4928870"/>
            <a:ext cx="623443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7" sz="800">
                <a:solidFill>
                  <a:srgbClr val="23272E"/>
                </a:solidFill>
                <a:latin typeface="Roboto"/>
              </a:rPr>
              <a:t>LIVE (optional): OPENAI_API_KEY + DEMO_MODE=false -&gt; /api/generate sends the image/description to the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200" y="5064760"/>
            <a:ext cx="394970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5" sz="800">
                <a:solidFill>
                  <a:srgbClr val="23272E"/>
                </a:solidFill>
                <a:latin typeface="Roboto"/>
              </a:rPr>
              <a:t>vision model; never expose keys; .gitignore .env*; .env.example.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4200" y="5200650"/>
            <a:ext cx="629539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6" sz="800">
                <a:solidFill>
                  <a:srgbClr val="23272E"/>
                </a:solidFill>
                <a:latin typeface="Roboto"/>
              </a:rPr>
              <a:t>CONTENT SAFETY: generated pages contain no external scripts; all styling inlined. Never eval untrusted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4200" y="5336540"/>
            <a:ext cx="135763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0" sz="800">
                <a:solidFill>
                  <a:srgbClr val="23272E"/>
                </a:solidFill>
                <a:latin typeface="Roboto"/>
              </a:rPr>
              <a:t>code in the main page.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4200" y="5472430"/>
            <a:ext cx="617220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9" sz="800">
                <a:solidFill>
                  <a:srgbClr val="23272E"/>
                </a:solidFill>
                <a:latin typeface="Roboto"/>
              </a:rPr>
              <a:t>WORK EFFICIENTLY: plan mode first (PLANS.md w/ acceptance commands); parallel reads; high effort for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200" y="5608320"/>
            <a:ext cx="610997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5" sz="800">
                <a:solidFill>
                  <a:srgbClr val="23272E"/>
                </a:solidFill>
                <a:latin typeface="Roboto"/>
              </a:rPr>
              <a:t>generate/refine + iframe sandboxing, low for chrome; app+npm test+typecheck each milestone; /review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5744210"/>
            <a:ext cx="456692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2" sz="800">
                <a:solidFill>
                  <a:srgbClr val="23272E"/>
                </a:solidFill>
                <a:latin typeface="Roboto"/>
              </a:rPr>
              <a:t>before done; small commits git commit --author="Codex &lt;codex@openai.com&gt;".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200" y="5880100"/>
            <a:ext cx="623443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9" sz="800">
                <a:solidFill>
                  <a:srgbClr val="23272E"/>
                </a:solidFill>
                <a:latin typeface="Roboto"/>
              </a:rPr>
              <a:t>DELIVER: full code; AGENTS.md; README (run + 5-min Vercel deploy + PREREQUISITES + Web Speech notes +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200" y="6015990"/>
            <a:ext cx="6391909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6" sz="800">
                <a:solidFill>
                  <a:srgbClr val="23272E"/>
                </a:solidFill>
                <a:latin typeface="Roboto"/>
              </a:rPr>
              <a:t>"How Codex built this"); Vitest tests for the generator/refine switch + an HTML-sanitiser + a Playwright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6151880"/>
            <a:ext cx="567817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3" sz="800">
                <a:solidFill>
                  <a:srgbClr val="23272E"/>
                </a:solidFill>
                <a:latin typeface="Roboto"/>
              </a:rPr>
              <a:t>smoke test (load sample -&gt; preview -&gt; apply a button refinement); .env.example; MIT LICENSE;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4200" y="6287770"/>
            <a:ext cx="271526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8" sz="800">
                <a:solidFill>
                  <a:srgbClr val="23272E"/>
                </a:solidFill>
                <a:latin typeface="Roboto"/>
              </a:rPr>
              <a:t>mobile-first + accessible; product original.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6423660"/>
            <a:ext cx="598678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4" sz="800">
                <a:solidFill>
                  <a:srgbClr val="23272E"/>
                </a:solidFill>
                <a:latin typeface="Roboto"/>
              </a:rPr>
              <a:t>DONE WHEN: `npm install &amp;&amp; npm run dev` turns the sample wireframe into a live previewed page and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4200" y="6559550"/>
            <a:ext cx="629539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0" sz="800">
                <a:solidFill>
                  <a:srgbClr val="23272E"/>
                </a:solidFill>
                <a:latin typeface="Roboto"/>
              </a:rPr>
              <a:t>applies a button refinement, no key; npm test passes; npm run build succeeds. Then print run commands,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4200" y="6695440"/>
            <a:ext cx="296291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9" sz="800">
                <a:solidFill>
                  <a:srgbClr val="23272E"/>
                </a:solidFill>
                <a:latin typeface="Roboto"/>
              </a:rPr>
              <a:t>Vercel deploy steps, a 5-line demo-video script.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4200" y="6929120"/>
            <a:ext cx="192532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9" b="1" sz="800">
                <a:solidFill>
                  <a:srgbClr val="2C6DA3"/>
                </a:solidFill>
                <a:latin typeface="Roboto"/>
              </a:rPr>
              <a:t>SUGGESTED CHANGES (make it yours)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4200" y="7171690"/>
            <a:ext cx="2684779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" sz="850">
                <a:solidFill>
                  <a:srgbClr val="232A33"/>
                </a:solidFill>
                <a:latin typeface="Roboto"/>
              </a:rPr>
              <a:t>• Output React/Vue components instead of plain HTML.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4200" y="7329170"/>
            <a:ext cx="1530350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" sz="850">
                <a:solidFill>
                  <a:srgbClr val="232A33"/>
                </a:solidFill>
                <a:latin typeface="Roboto"/>
              </a:rPr>
              <a:t>• Add 'match this brand palette'.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4200" y="7486650"/>
            <a:ext cx="2736850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" sz="850">
                <a:solidFill>
                  <a:srgbClr val="232A33"/>
                </a:solidFill>
                <a:latin typeface="Roboto"/>
              </a:rPr>
              <a:t>• Add an iterate-until-it-matches (render-&gt;compare) loop.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4200" y="7644130"/>
            <a:ext cx="1604010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" sz="850">
                <a:solidFill>
                  <a:srgbClr val="232A33"/>
                </a:solidFill>
                <a:latin typeface="Roboto"/>
              </a:rPr>
              <a:t>• Accept a Figma export as input.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673350" y="10261600"/>
            <a:ext cx="2213610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" sz="750">
                <a:solidFill>
                  <a:srgbClr val="5C6672"/>
                </a:solidFill>
                <a:latin typeface="Roboto"/>
              </a:rPr>
              <a:t>ChatGPT Codex India Hackathon 2026 - Track Kits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20509" y="10261600"/>
            <a:ext cx="355600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" sz="750">
                <a:solidFill>
                  <a:srgbClr val="5C6672"/>
                </a:solidFill>
                <a:latin typeface="Roboto"/>
              </a:rPr>
              <a:t>Page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0165080"/>
            <a:ext cx="6391909" cy="127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00" y="10217150"/>
            <a:ext cx="635000" cy="171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200" y="584200"/>
            <a:ext cx="6394450" cy="304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" y="1689100"/>
            <a:ext cx="6572250" cy="6540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" y="1612900"/>
            <a:ext cx="6724650" cy="806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600" y="2489200"/>
            <a:ext cx="6597650" cy="4419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6400" y="2413000"/>
            <a:ext cx="6750050" cy="4572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300" y="7054850"/>
            <a:ext cx="6572250" cy="812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9100" y="6978650"/>
            <a:ext cx="6724650" cy="965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6600" y="685800"/>
            <a:ext cx="191770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5" b="1" sz="900">
                <a:solidFill>
                  <a:srgbClr val="FFFFFF"/>
                </a:solidFill>
                <a:latin typeface="Roboto"/>
              </a:rPr>
              <a:t>TRACK 3 · Multimodal Intelligence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1106170"/>
            <a:ext cx="169926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3" b="1" sz="1400">
                <a:solidFill>
                  <a:srgbClr val="092A49"/>
                </a:solidFill>
                <a:latin typeface="Roboto"/>
              </a:rPr>
              <a:t>Point-to-Regenerate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1308100"/>
            <a:ext cx="2858770" cy="1181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" i="1" sz="950">
                <a:solidFill>
                  <a:srgbClr val="5C6672"/>
                </a:solidFill>
                <a:latin typeface="Roboto"/>
              </a:rPr>
              <a:t>Screenshot -&gt; code; box-select a region to regenerate.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1565910"/>
            <a:ext cx="102235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8" b="1" sz="800">
                <a:solidFill>
                  <a:srgbClr val="2C6DA3"/>
                </a:solidFill>
                <a:latin typeface="Roboto"/>
              </a:rPr>
              <a:t>API PREREQUISITES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1808480"/>
            <a:ext cx="439547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3" b="1" sz="850">
                <a:solidFill>
                  <a:srgbClr val="232A33"/>
                </a:solidFill>
                <a:latin typeface="Roboto"/>
              </a:rPr>
              <a:t>Deploy / live demo:</a:t>
            </a:r>
            <a:r>
              <a:rPr spc="11" sz="850">
                <a:solidFill>
                  <a:srgbClr val="232A33"/>
                </a:solidFill>
                <a:latin typeface="Roboto"/>
              </a:rPr>
              <a:t> None - deploys and runs the full demo with NO login and NO API key.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4200" y="1963420"/>
            <a:ext cx="6163309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4" b="1" sz="850">
                <a:solidFill>
                  <a:srgbClr val="232A33"/>
                </a:solidFill>
                <a:latin typeface="Roboto"/>
              </a:rPr>
              <a:t>Live mode (optional):</a:t>
            </a:r>
            <a:r>
              <a:rPr spc="13" sz="850">
                <a:solidFill>
                  <a:srgbClr val="232A33"/>
                </a:solidFill>
                <a:latin typeface="Roboto"/>
              </a:rPr>
              <a:t> OPENAI_API_KEY (vision) for live regeneration. Optional webcam 'point' mode needs HTTPS + camera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4200" y="2118360"/>
            <a:ext cx="165735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850">
                <a:solidFill>
                  <a:srgbClr val="232A33"/>
                </a:solidFill>
                <a:latin typeface="Roboto"/>
              </a:rPr>
              <a:t>permission (coarse heuristic only).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2373630"/>
            <a:ext cx="177800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6" b="1" sz="800">
                <a:solidFill>
                  <a:srgbClr val="2C6DA3"/>
                </a:solidFill>
                <a:latin typeface="Roboto"/>
              </a:rPr>
              <a:t>PROMPT — copy &amp; paste into Codex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4200" y="2618740"/>
            <a:ext cx="635762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3" sz="800">
                <a:solidFill>
                  <a:srgbClr val="23272E"/>
                </a:solidFill>
                <a:latin typeface="Roboto"/>
              </a:rPr>
              <a:t>You are OpenAI Codex, a senior full-stack engineer. Build a COMPLETE, deployable web app in the current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2754630"/>
            <a:ext cx="506095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6" sz="800">
                <a:solidFill>
                  <a:srgbClr val="23272E"/>
                </a:solidFill>
                <a:latin typeface="Roboto"/>
              </a:rPr>
              <a:t>empty folder. No code from me; don't ask questions—note assumptions in the README.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890520"/>
            <a:ext cx="623443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4" sz="800">
                <a:solidFill>
                  <a:srgbClr val="23272E"/>
                </a:solidFill>
                <a:latin typeface="Roboto"/>
              </a:rPr>
              <a:t>PRODUCT: "Point-to-Regenerate" — turn a screenshot into HTML, then select a region to regenerate just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3026410"/>
            <a:ext cx="2900679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3" sz="800">
                <a:solidFill>
                  <a:srgbClr val="23272E"/>
                </a:solidFill>
                <a:latin typeface="Roboto"/>
              </a:rPr>
              <a:t>that component. TRACK: Multimodal Intelligence.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3162300"/>
            <a:ext cx="6391909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3" sz="800">
                <a:solidFill>
                  <a:srgbClr val="23272E"/>
                </a:solidFill>
                <a:latin typeface="Roboto"/>
              </a:rPr>
              <a:t>CORE FLOW: (1) upload a screenshot (bundled sample) -&gt; generate a responsive page (inlined CSS) shown 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3298190"/>
            <a:ext cx="6391909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0" sz="800">
                <a:solidFill>
                  <a:srgbClr val="23272E"/>
                </a:solidFill>
                <a:latin typeface="Roboto"/>
              </a:rPr>
              <a:t>a sandboxed iframe (sandbox="allow-scripts", no allow-same-origin; in-frame CSP default-src 'none'); (2)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3434079"/>
            <a:ext cx="6391909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2" sz="800">
                <a:solidFill>
                  <a:srgbClr val="23272E"/>
                </a:solidFill>
                <a:latin typeface="Roboto"/>
              </a:rPr>
              <a:t>PRIMARY region-select = draw a box on the source image (deterministic coordinates); (3) "Regenerate this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3569970"/>
            <a:ext cx="475234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0" sz="800">
                <a:solidFill>
                  <a:srgbClr val="23272E"/>
                </a:solidFill>
                <a:latin typeface="Roboto"/>
              </a:rPr>
              <a:t>region" updates only that component; (4) editable code panel + copy/download.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3705860"/>
            <a:ext cx="6391909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4" sz="800">
                <a:solidFill>
                  <a:srgbClr val="23272E"/>
                </a:solidFill>
                <a:latin typeface="Roboto"/>
              </a:rPr>
              <a:t>EXPERIMENTAL (clearly labelled, live-only bonus): a webcam "point" mode using MediaPipe Tasks Vision. Be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3841750"/>
            <a:ext cx="623443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4" sz="800">
                <a:solidFill>
                  <a:srgbClr val="23272E"/>
                </a:solidFill>
                <a:latin typeface="Roboto"/>
              </a:rPr>
              <a:t>honest in the UI: MediaPipe returns hand landmarks/gestures in the CAMERA frame, so map only a coarse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3977640"/>
            <a:ext cx="561721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1" sz="800">
                <a:solidFill>
                  <a:srgbClr val="23272E"/>
                </a:solidFill>
                <a:latin typeface="Roboto"/>
              </a:rPr>
              <a:t>heuristic (dominant hand position -&gt; left/right/top/bottom quadrant -&gt; nearest region), NOT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4113529"/>
            <a:ext cx="610997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3" sz="800">
                <a:solidFill>
                  <a:srgbClr val="23272E"/>
                </a:solidFill>
                <a:latin typeface="Roboto"/>
              </a:rPr>
              <a:t>pixel-accurate pointing. Requires HTTPS + getUserMedia permission; show a fallback if the camera 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4249420"/>
            <a:ext cx="117221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9" sz="800">
                <a:solidFill>
                  <a:srgbClr val="23272E"/>
                </a:solidFill>
                <a:latin typeface="Roboto"/>
              </a:rPr>
              <a:t>denied/unavailable.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4200" y="4385310"/>
            <a:ext cx="6391909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3" sz="800">
                <a:solidFill>
                  <a:srgbClr val="23272E"/>
                </a:solidFill>
                <a:latin typeface="Roboto"/>
              </a:rPr>
              <a:t>STACK: Next.js (App Router, latest stable) + TypeScript + Tailwind + CodeMirror + MediaPipe Tasks Vision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4521200"/>
            <a:ext cx="549275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0" sz="800">
                <a:solidFill>
                  <a:srgbClr val="23272E"/>
                </a:solidFill>
                <a:latin typeface="Roboto"/>
              </a:rPr>
              <a:t>(client-side, experimental mode only). Deploy: Vercel. Vision LLM only in a server route.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4657090"/>
            <a:ext cx="617220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5" sz="800">
                <a:solidFill>
                  <a:srgbClr val="23272E"/>
                </a:solidFill>
                <a:latin typeface="Roboto"/>
              </a:rPr>
              <a:t>PREREQUISITES (also in README): Demo = NO login/key (box-draw + bundled variants). Live (optional) =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4792980"/>
            <a:ext cx="586359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4" sz="800">
                <a:solidFill>
                  <a:srgbClr val="23272E"/>
                </a:solidFill>
                <a:latin typeface="Roboto"/>
              </a:rPr>
              <a:t>OPENAI_API_KEY with a VISION-capable OPENAI_MODEL. Webcam mode needs HTTPS + camera permission.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200" y="4928870"/>
            <a:ext cx="629539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5" sz="800">
                <a:solidFill>
                  <a:srgbClr val="23272E"/>
                </a:solidFill>
                <a:latin typeface="Roboto"/>
              </a:rPr>
              <a:t>DEMO (default, no key): DEMO_MODE=true: /public/sample.png -&gt; /data/demo.html; /data/regions.json maps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200" y="5064760"/>
            <a:ext cx="518414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3" sz="800">
                <a:solidFill>
                  <a:srgbClr val="23272E"/>
                </a:solidFill>
                <a:latin typeface="Roboto"/>
              </a:rPr>
              <a:t>named box regions -&gt; bundled regenerated HTML. Graded acceptance uses box-draw only.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4200" y="5200650"/>
            <a:ext cx="592582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7" sz="800">
                <a:solidFill>
                  <a:srgbClr val="23272E"/>
                </a:solidFill>
                <a:latin typeface="Roboto"/>
              </a:rPr>
              <a:t>LIVE (optional): OPENAI_API_KEY + DEMO_MODE=false -&gt; /api/generate regenerates a selected region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4200" y="5336540"/>
            <a:ext cx="388874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9" sz="800">
                <a:solidFill>
                  <a:srgbClr val="23272E"/>
                </a:solidFill>
                <a:latin typeface="Roboto"/>
              </a:rPr>
              <a:t>server-side; never expose keys; .gitignore .env*; .env.example.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4200" y="5472430"/>
            <a:ext cx="617220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9" sz="800">
                <a:solidFill>
                  <a:srgbClr val="23272E"/>
                </a:solidFill>
                <a:latin typeface="Roboto"/>
              </a:rPr>
              <a:t>WORK EFFICIENTLY: plan mode first (PLANS.md w/ acceptance commands); parallel reads; high effort for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200" y="5608320"/>
            <a:ext cx="617220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6" sz="800">
                <a:solidFill>
                  <a:srgbClr val="23272E"/>
                </a:solidFill>
                <a:latin typeface="Roboto"/>
              </a:rPr>
              <a:t>region mapping + sandboxing, low for UI; app+npm test+typecheck each milestone; /review before done;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5744210"/>
            <a:ext cx="376555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6" sz="800">
                <a:solidFill>
                  <a:srgbClr val="23272E"/>
                </a:solidFill>
                <a:latin typeface="Roboto"/>
              </a:rPr>
              <a:t>small commits git commit --author="Codex &lt;codex@openai.com&gt;".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200" y="5880100"/>
            <a:ext cx="598678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3" sz="800">
                <a:solidFill>
                  <a:srgbClr val="23272E"/>
                </a:solidFill>
                <a:latin typeface="Roboto"/>
              </a:rPr>
              <a:t>DELIVER: full code; AGENTS.md; README (run + 5-min Vercel deploy + PREREQUISITES + honest note 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200" y="6015990"/>
            <a:ext cx="580136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9" sz="800">
                <a:solidFill>
                  <a:srgbClr val="23272E"/>
                </a:solidFill>
                <a:latin typeface="Roboto"/>
              </a:rPr>
              <a:t>gesture accuracy + "How Codex built this"); Vitest tests for the region mapper + sanitiser + 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6151880"/>
            <a:ext cx="617220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6" sz="800">
                <a:solidFill>
                  <a:srgbClr val="23272E"/>
                </a:solidFill>
                <a:latin typeface="Roboto"/>
              </a:rPr>
              <a:t>Playwright smoke test (load sample -&gt; box-select -&gt; regenerate a region); .env.example; MIT LICENSE;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4200" y="6287770"/>
            <a:ext cx="271526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8" sz="800">
                <a:solidFill>
                  <a:srgbClr val="23272E"/>
                </a:solidFill>
                <a:latin typeface="Roboto"/>
              </a:rPr>
              <a:t>mobile-first + accessible; product original.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6423660"/>
            <a:ext cx="6391909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9" sz="800">
                <a:solidFill>
                  <a:srgbClr val="23272E"/>
                </a:solidFill>
                <a:latin typeface="Roboto"/>
              </a:rPr>
              <a:t>DONE WHEN: `npm install &amp;&amp; npm run dev` generates the sample page and regenerates a box-selected region,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4200" y="6559550"/>
            <a:ext cx="635762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4" sz="800">
                <a:solidFill>
                  <a:srgbClr val="23272E"/>
                </a:solidFill>
                <a:latin typeface="Roboto"/>
              </a:rPr>
              <a:t>no key; npm test passes; npm run build succeeds. Then print run commands, Vercel deploy steps, a 5-line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4200" y="6695440"/>
            <a:ext cx="111125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0" sz="800">
                <a:solidFill>
                  <a:srgbClr val="23272E"/>
                </a:solidFill>
                <a:latin typeface="Roboto"/>
              </a:rPr>
              <a:t>demo-video script.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4200" y="6929120"/>
            <a:ext cx="192532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9" b="1" sz="800">
                <a:solidFill>
                  <a:srgbClr val="2C6DA3"/>
                </a:solidFill>
                <a:latin typeface="Roboto"/>
              </a:rPr>
              <a:t>SUGGESTED CHANGES (make it yours)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4200" y="7171690"/>
            <a:ext cx="144653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" sz="850">
                <a:solidFill>
                  <a:srgbClr val="232A33"/>
                </a:solidFill>
                <a:latin typeface="Roboto"/>
              </a:rPr>
              <a:t>• Make box-draw multi-region.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4200" y="7329170"/>
            <a:ext cx="2150110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" sz="850">
                <a:solidFill>
                  <a:srgbClr val="232A33"/>
                </a:solidFill>
                <a:latin typeface="Roboto"/>
              </a:rPr>
              <a:t>• Target a component library (shadcn / MUI).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4200" y="7486650"/>
            <a:ext cx="2241550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" sz="850">
                <a:solidFill>
                  <a:srgbClr val="232A33"/>
                </a:solidFill>
                <a:latin typeface="Roboto"/>
              </a:rPr>
              <a:t>• Improve the gesture heuristic or use a stylus.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4200" y="7644130"/>
            <a:ext cx="1847850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" sz="850">
                <a:solidFill>
                  <a:srgbClr val="232A33"/>
                </a:solidFill>
                <a:latin typeface="Roboto"/>
              </a:rPr>
              <a:t>• Add version history of regenerations.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673350" y="10261600"/>
            <a:ext cx="2213610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" sz="750">
                <a:solidFill>
                  <a:srgbClr val="5C6672"/>
                </a:solidFill>
                <a:latin typeface="Roboto"/>
              </a:rPr>
              <a:t>ChatGPT Codex India Hackathon 2026 - Track Kits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20509" y="10261600"/>
            <a:ext cx="355600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" sz="750">
                <a:solidFill>
                  <a:srgbClr val="5C6672"/>
                </a:solidFill>
                <a:latin typeface="Roboto"/>
              </a:rPr>
              <a:t>Page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0165080"/>
            <a:ext cx="6391909" cy="127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00" y="10217150"/>
            <a:ext cx="635000" cy="171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200" y="584200"/>
            <a:ext cx="6394450" cy="304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" y="1689100"/>
            <a:ext cx="6572250" cy="4953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" y="1612900"/>
            <a:ext cx="6724650" cy="647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600" y="2330450"/>
            <a:ext cx="6597650" cy="41529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6400" y="2254250"/>
            <a:ext cx="6750050" cy="43053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300" y="6629400"/>
            <a:ext cx="6572250" cy="812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9100" y="6553200"/>
            <a:ext cx="6724650" cy="965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6600" y="685800"/>
            <a:ext cx="191770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5" b="1" sz="900">
                <a:solidFill>
                  <a:srgbClr val="FFFFFF"/>
                </a:solidFill>
                <a:latin typeface="Roboto"/>
              </a:rPr>
              <a:t>TRACK 3 · Multimodal Intelligence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1106170"/>
            <a:ext cx="110617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7" b="1" sz="1400">
                <a:solidFill>
                  <a:srgbClr val="092A49"/>
                </a:solidFill>
                <a:latin typeface="Roboto"/>
              </a:rPr>
              <a:t>Voice-to-App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1308100"/>
            <a:ext cx="3013710" cy="1181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i="1" sz="950">
                <a:solidFill>
                  <a:srgbClr val="5C6672"/>
                </a:solidFill>
                <a:latin typeface="Roboto"/>
              </a:rPr>
              <a:t>Speak an app idea -&gt; working single-page app + preview.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1565910"/>
            <a:ext cx="102235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8" b="1" sz="800">
                <a:solidFill>
                  <a:srgbClr val="2C6DA3"/>
                </a:solidFill>
                <a:latin typeface="Roboto"/>
              </a:rPr>
              <a:t>API PREREQUISITES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1808480"/>
            <a:ext cx="439547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3" b="1" sz="850">
                <a:solidFill>
                  <a:srgbClr val="232A33"/>
                </a:solidFill>
                <a:latin typeface="Roboto"/>
              </a:rPr>
              <a:t>Deploy / live demo:</a:t>
            </a:r>
            <a:r>
              <a:rPr spc="11" sz="850">
                <a:solidFill>
                  <a:srgbClr val="232A33"/>
                </a:solidFill>
                <a:latin typeface="Roboto"/>
              </a:rPr>
              <a:t> None - deploys and runs the full demo with NO login and NO API key.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4200" y="1963420"/>
            <a:ext cx="557784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4" b="1" sz="850">
                <a:solidFill>
                  <a:srgbClr val="232A33"/>
                </a:solidFill>
                <a:latin typeface="Roboto"/>
              </a:rPr>
              <a:t>Live mode (optional):</a:t>
            </a:r>
            <a:r>
              <a:rPr spc="15" sz="850">
                <a:solidFill>
                  <a:srgbClr val="232A33"/>
                </a:solidFill>
                <a:latin typeface="Roboto"/>
              </a:rPr>
              <a:t> OPENAI_API_KEY for live codegen. Browser: Web Speech (live mode only; feature-detect).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4200" y="2218690"/>
            <a:ext cx="177800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6" b="1" sz="800">
                <a:solidFill>
                  <a:srgbClr val="2C6DA3"/>
                </a:solidFill>
                <a:latin typeface="Roboto"/>
              </a:rPr>
              <a:t>PROMPT — copy &amp; paste into Codex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2463800"/>
            <a:ext cx="635762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3" sz="800">
                <a:solidFill>
                  <a:srgbClr val="23272E"/>
                </a:solidFill>
                <a:latin typeface="Roboto"/>
              </a:rPr>
              <a:t>You are OpenAI Codex, a senior full-stack engineer. Build a COMPLETE, deployable web app in the current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4200" y="2599690"/>
            <a:ext cx="506095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6" sz="800">
                <a:solidFill>
                  <a:srgbClr val="23272E"/>
                </a:solidFill>
                <a:latin typeface="Roboto"/>
              </a:rPr>
              <a:t>empty folder. No code from me; don't ask questions—note assumptions in the README.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2735580"/>
            <a:ext cx="592582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2" sz="800">
                <a:solidFill>
                  <a:srgbClr val="23272E"/>
                </a:solidFill>
                <a:latin typeface="Roboto"/>
              </a:rPr>
              <a:t>PRODUCT: "Voice-to-App" — describe an app by voice and get a working single-page app with a live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871470"/>
            <a:ext cx="246888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1" sz="800">
                <a:solidFill>
                  <a:srgbClr val="23272E"/>
                </a:solidFill>
                <a:latin typeface="Roboto"/>
              </a:rPr>
              <a:t>preview. TRACK: Multimodal Intelligence.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3007360"/>
            <a:ext cx="635762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0" sz="800">
                <a:solidFill>
                  <a:srgbClr val="23272E"/>
                </a:solidFill>
                <a:latin typeface="Roboto"/>
              </a:rPr>
              <a:t>CORE FLOW: (1) DEMO_MODE default shows 3 spec BUTTONS whose transcripts appear "as if spoken" (mic is 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3143250"/>
            <a:ext cx="623443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5" sz="800">
                <a:solidFill>
                  <a:srgbClr val="23272E"/>
                </a:solidFill>
                <a:latin typeface="Roboto"/>
              </a:rPr>
              <a:t>live-mode-only affordance); (2) "Build it" renders a self-contained single-page app (HTML+JS, inlined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3279140"/>
            <a:ext cx="6049009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5" sz="800">
                <a:solidFill>
                  <a:srgbClr val="23272E"/>
                </a:solidFill>
                <a:latin typeface="Roboto"/>
              </a:rPr>
              <a:t>CSS) live in a sandboxed iframe with sandbox="allow-scripts" (no allow-same-origin) + in-frame CSP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3415029"/>
            <a:ext cx="617220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1" sz="800">
                <a:solidFill>
                  <a:srgbClr val="23272E"/>
                </a:solidFill>
                <a:latin typeface="Roboto"/>
              </a:rPr>
              <a:t>default-src 'none' — this is REQUIRED so the generated app's own interactivity (add/remove, toggles)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3550920"/>
            <a:ext cx="592582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5" sz="800">
                <a:solidFill>
                  <a:srgbClr val="23272E"/>
                </a:solidFill>
                <a:latin typeface="Roboto"/>
              </a:rPr>
              <a:t>actually runs; (3) "Tweak" applies button-triggered canned changes in demo (spoken in live); (4)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3686810"/>
            <a:ext cx="86360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6" sz="800">
                <a:solidFill>
                  <a:srgbClr val="23272E"/>
                </a:solidFill>
                <a:latin typeface="Roboto"/>
              </a:rPr>
              <a:t>copy/download.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3822700"/>
            <a:ext cx="629539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7" sz="800">
                <a:solidFill>
                  <a:srgbClr val="23272E"/>
                </a:solidFill>
                <a:latin typeface="Roboto"/>
              </a:rPr>
              <a:t>STACK: Next.js (App Router, latest stable) + TypeScript + Tailwind + CodeMirror + Web Speech API (live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3958590"/>
            <a:ext cx="487553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2" sz="800">
                <a:solidFill>
                  <a:srgbClr val="23272E"/>
                </a:solidFill>
                <a:latin typeface="Roboto"/>
              </a:rPr>
              <a:t>mode only; feature-detect). Deploy: Vercel. Codegen LLM only in a server route.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4094479"/>
            <a:ext cx="635762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4" sz="800">
                <a:solidFill>
                  <a:srgbClr val="23272E"/>
                </a:solidFill>
                <a:latin typeface="Roboto"/>
              </a:rPr>
              <a:t>PREREQUISITES (also in README): Demo = NO login/key (3 bundled specs). Live (optional) = OPENAI_API_KEY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4230370"/>
            <a:ext cx="302387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9" sz="800">
                <a:solidFill>
                  <a:srgbClr val="23272E"/>
                </a:solidFill>
                <a:latin typeface="Roboto"/>
              </a:rPr>
              <a:t>only. Web Speech caveats as noted for this track.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4200" y="4366260"/>
            <a:ext cx="610997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6" sz="800">
                <a:solidFill>
                  <a:srgbClr val="23272E"/>
                </a:solidFill>
                <a:latin typeface="Roboto"/>
              </a:rPr>
              <a:t>DEMO (default, no key): /data/specs.json = 3 specs -&gt; bundled generated single-file apps + 1 canned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4502150"/>
            <a:ext cx="67945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9" sz="800">
                <a:solidFill>
                  <a:srgbClr val="23272E"/>
                </a:solidFill>
                <a:latin typeface="Roboto"/>
              </a:rPr>
              <a:t>tweak each.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4638040"/>
            <a:ext cx="623443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9" sz="800">
                <a:solidFill>
                  <a:srgbClr val="23272E"/>
                </a:solidFill>
                <a:latin typeface="Roboto"/>
              </a:rPr>
              <a:t>LIVE (optional): OPENAI_API_KEY + DEMO_MODE=false -&gt; /api/build generates an app (bounded to a single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4773930"/>
            <a:ext cx="574040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2" sz="800">
                <a:solidFill>
                  <a:srgbClr val="23272E"/>
                </a:solidFill>
                <a:latin typeface="Roboto"/>
              </a:rPr>
              <a:t>self-contained file, no runtime npm deps) from ANY spec; never expose keys; .gitignore .env*;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200" y="4909820"/>
            <a:ext cx="80264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8" sz="800">
                <a:solidFill>
                  <a:srgbClr val="23272E"/>
                </a:solidFill>
                <a:latin typeface="Roboto"/>
              </a:rPr>
              <a:t>.env.example.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200" y="5045710"/>
            <a:ext cx="617220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9" sz="800">
                <a:solidFill>
                  <a:srgbClr val="23272E"/>
                </a:solidFill>
                <a:latin typeface="Roboto"/>
              </a:rPr>
              <a:t>WORK EFFICIENTLY: plan mode first (PLANS.md w/ acceptance commands); parallel reads; high effort for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4200" y="5181600"/>
            <a:ext cx="610997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3" sz="800">
                <a:solidFill>
                  <a:srgbClr val="23272E"/>
                </a:solidFill>
                <a:latin typeface="Roboto"/>
              </a:rPr>
              <a:t>codegen/tweak + sandboxing, low for UI; app+npm test+typecheck each milestone; /review before done;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4200" y="5317490"/>
            <a:ext cx="376555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6" sz="800">
                <a:solidFill>
                  <a:srgbClr val="23272E"/>
                </a:solidFill>
                <a:latin typeface="Roboto"/>
              </a:rPr>
              <a:t>small commits git commit --author="Codex &lt;codex@openai.com&gt;".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4200" y="5453380"/>
            <a:ext cx="623443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9" sz="800">
                <a:solidFill>
                  <a:srgbClr val="23272E"/>
                </a:solidFill>
                <a:latin typeface="Roboto"/>
              </a:rPr>
              <a:t>DELIVER: full code; AGENTS.md; README (run + 5-min Vercel deploy + PREREQUISITES + Web Speech notes +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200" y="5589270"/>
            <a:ext cx="617220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8" sz="800">
                <a:solidFill>
                  <a:srgbClr val="23272E"/>
                </a:solidFill>
                <a:latin typeface="Roboto"/>
              </a:rPr>
              <a:t>"How Codex built this"); Vitest tests for the spec-&gt;app switch + sanitiser + a Playwright smoke test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5725160"/>
            <a:ext cx="574040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2" sz="800">
                <a:solidFill>
                  <a:srgbClr val="23272E"/>
                </a:solidFill>
                <a:latin typeface="Roboto"/>
              </a:rPr>
              <a:t>(pick a spec -&gt; interactive app renders and works); .env.example; MIT LICENSE; mobile-first +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200" y="5861050"/>
            <a:ext cx="178943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2" sz="800">
                <a:solidFill>
                  <a:srgbClr val="23272E"/>
                </a:solidFill>
                <a:latin typeface="Roboto"/>
              </a:rPr>
              <a:t>accessible; product original.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200" y="5996940"/>
            <a:ext cx="598678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6" sz="800">
                <a:solidFill>
                  <a:srgbClr val="23272E"/>
                </a:solidFill>
                <a:latin typeface="Roboto"/>
              </a:rPr>
              <a:t>DONE WHEN: `npm install &amp;&amp; npm run dev` builds a working, interactive app from a bundled spec and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6132830"/>
            <a:ext cx="6391909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8" sz="800">
                <a:solidFill>
                  <a:srgbClr val="23272E"/>
                </a:solidFill>
                <a:latin typeface="Roboto"/>
              </a:rPr>
              <a:t>applies a tweak, no key; npm test passes; npm run build succeeds. Then print run commands, Vercel deploy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4200" y="6268720"/>
            <a:ext cx="209804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2" sz="800">
                <a:solidFill>
                  <a:srgbClr val="23272E"/>
                </a:solidFill>
                <a:latin typeface="Roboto"/>
              </a:rPr>
              <a:t>steps, a 5-line demo-video script.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6502400"/>
            <a:ext cx="192532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9" b="1" sz="800">
                <a:solidFill>
                  <a:srgbClr val="2C6DA3"/>
                </a:solidFill>
                <a:latin typeface="Roboto"/>
              </a:rPr>
              <a:t>SUGGESTED CHANGES (make it yours)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4200" y="6744970"/>
            <a:ext cx="2278380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" sz="850">
                <a:solidFill>
                  <a:srgbClr val="232A33"/>
                </a:solidFill>
                <a:latin typeface="Roboto"/>
              </a:rPr>
              <a:t>• Expand the spec grammar (auth, lists, forms).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4200" y="6902450"/>
            <a:ext cx="1758950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" sz="850">
                <a:solidFill>
                  <a:srgbClr val="232A33"/>
                </a:solidFill>
                <a:latin typeface="Roboto"/>
              </a:rPr>
              <a:t>• Persist generated apps + a gallery.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4200" y="7059930"/>
            <a:ext cx="1560830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" sz="850">
                <a:solidFill>
                  <a:srgbClr val="232A33"/>
                </a:solidFill>
                <a:latin typeface="Roboto"/>
              </a:rPr>
              <a:t>• Add one-click 'deploy this app'.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4200" y="7217409"/>
            <a:ext cx="2418080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" sz="850">
                <a:solidFill>
                  <a:srgbClr val="232A33"/>
                </a:solidFill>
                <a:latin typeface="Roboto"/>
              </a:rPr>
              <a:t>• Support a second language for the spoken spec.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673350" y="10261600"/>
            <a:ext cx="2213610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" sz="750">
                <a:solidFill>
                  <a:srgbClr val="5C6672"/>
                </a:solidFill>
                <a:latin typeface="Roboto"/>
              </a:rPr>
              <a:t>ChatGPT Codex India Hackathon 2026 - Track Kits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20509" y="10261600"/>
            <a:ext cx="355600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" sz="750">
                <a:solidFill>
                  <a:srgbClr val="5C6672"/>
                </a:solidFill>
                <a:latin typeface="Roboto"/>
              </a:rPr>
              <a:t>Page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0165080"/>
            <a:ext cx="6391909" cy="127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00" y="10217150"/>
            <a:ext cx="635000" cy="171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200" y="584200"/>
            <a:ext cx="6394450" cy="304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" y="1689100"/>
            <a:ext cx="6572250" cy="6540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" y="1612900"/>
            <a:ext cx="6724650" cy="806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600" y="2489200"/>
            <a:ext cx="6597650" cy="4826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6400" y="2413000"/>
            <a:ext cx="6750050" cy="4978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300" y="7461250"/>
            <a:ext cx="6572250" cy="812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9100" y="7385050"/>
            <a:ext cx="6724650" cy="965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6600" y="685800"/>
            <a:ext cx="149225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9" b="1" sz="900">
                <a:solidFill>
                  <a:srgbClr val="FFFFFF"/>
                </a:solidFill>
                <a:latin typeface="Roboto"/>
              </a:rPr>
              <a:t>TRACK 4 · Domain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1106170"/>
            <a:ext cx="102743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2" b="1" sz="1400">
                <a:solidFill>
                  <a:srgbClr val="092A49"/>
                </a:solidFill>
                <a:latin typeface="Roboto"/>
              </a:rPr>
              <a:t>GST Copilot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1308100"/>
            <a:ext cx="3138170" cy="1181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i="1" sz="950">
                <a:solidFill>
                  <a:srgbClr val="5C6672"/>
                </a:solidFill>
                <a:latin typeface="Roboto"/>
              </a:rPr>
              <a:t>Reads invoices, classifies GST, drafts a return, flags issues.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1565910"/>
            <a:ext cx="102235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8" b="1" sz="800">
                <a:solidFill>
                  <a:srgbClr val="2C6DA3"/>
                </a:solidFill>
                <a:latin typeface="Roboto"/>
              </a:rPr>
              <a:t>API PREREQUISITES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1808480"/>
            <a:ext cx="439547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3" b="1" sz="850">
                <a:solidFill>
                  <a:srgbClr val="232A33"/>
                </a:solidFill>
                <a:latin typeface="Roboto"/>
              </a:rPr>
              <a:t>Deploy / live demo:</a:t>
            </a:r>
            <a:r>
              <a:rPr spc="11" sz="850">
                <a:solidFill>
                  <a:srgbClr val="232A33"/>
                </a:solidFill>
                <a:latin typeface="Roboto"/>
              </a:rPr>
              <a:t> None - deploys and runs the full demo with NO login and NO API key.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4200" y="1963420"/>
            <a:ext cx="635508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4" b="1" sz="850">
                <a:solidFill>
                  <a:srgbClr val="232A33"/>
                </a:solidFill>
                <a:latin typeface="Roboto"/>
              </a:rPr>
              <a:t>Live mode (optional):</a:t>
            </a:r>
            <a:r>
              <a:rPr spc="14" sz="850">
                <a:solidFill>
                  <a:srgbClr val="232A33"/>
                </a:solidFill>
                <a:latin typeface="Roboto"/>
              </a:rPr>
              <a:t> OPENAI_API_KEY (optional) for messy free-text. Optional real data: Sandbox.co.in GST API. Avoid the NIC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4200" y="2118360"/>
            <a:ext cx="205740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" sz="850">
                <a:solidFill>
                  <a:srgbClr val="232A33"/>
                </a:solidFill>
                <a:latin typeface="Roboto"/>
              </a:rPr>
              <a:t>e-invoice sandbox - it needs a real GSTIN.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2373630"/>
            <a:ext cx="177800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6" b="1" sz="800">
                <a:solidFill>
                  <a:srgbClr val="2C6DA3"/>
                </a:solidFill>
                <a:latin typeface="Roboto"/>
              </a:rPr>
              <a:t>PROMPT — copy &amp; paste into Codex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4200" y="2618740"/>
            <a:ext cx="610997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1" sz="800">
                <a:solidFill>
                  <a:srgbClr val="23272E"/>
                </a:solidFill>
                <a:latin typeface="Roboto"/>
              </a:rPr>
              <a:t>You are OpenAI Codex, a senior full-stack engineer building Indian tax-compliance software. Build 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2754630"/>
            <a:ext cx="610997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0" sz="800">
                <a:solidFill>
                  <a:srgbClr val="23272E"/>
                </a:solidFill>
                <a:latin typeface="Roboto"/>
              </a:rPr>
              <a:t>COMPLETE, deployable web app in the current empty folder. No code from me; don't ask questions—note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890520"/>
            <a:ext cx="617220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0" sz="800">
                <a:solidFill>
                  <a:srgbClr val="23272E"/>
                </a:solidFill>
                <a:latin typeface="Roboto"/>
              </a:rPr>
              <a:t>assumptions in the README. This is a drafting assistant, NOT tax/legal advice — show that in the UI.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3026410"/>
            <a:ext cx="623443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4" sz="800">
                <a:solidFill>
                  <a:srgbClr val="23272E"/>
                </a:solidFill>
                <a:latin typeface="Roboto"/>
              </a:rPr>
              <a:t>PRODUCT: "GST Copilot" — read invoices, classify GST, draft a return summary, flag mismatches, for 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3162300"/>
            <a:ext cx="1666239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6" sz="800">
                <a:solidFill>
                  <a:srgbClr val="23272E"/>
                </a:solidFill>
                <a:latin typeface="Roboto"/>
              </a:rPr>
              <a:t>MSME. TRACK: Domain Agents.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3298190"/>
            <a:ext cx="617220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5" sz="800">
                <a:solidFill>
                  <a:srgbClr val="23272E"/>
                </a:solidFill>
                <a:latin typeface="Roboto"/>
              </a:rPr>
              <a:t>CORE FLOW: (1) load bundled sample invoices (or paste rows); (2) visible pipeline: parse -&gt; classify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3434079"/>
            <a:ext cx="635762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3" sz="800">
                <a:solidFill>
                  <a:srgbClr val="23272E"/>
                </a:solidFill>
                <a:latin typeface="Roboto"/>
              </a:rPr>
              <a:t>rate+HSN (from /data/hsn-rules.json) -&gt; compute CGST+SGST when buyer_state == seller_state else IGST -&gt;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3569970"/>
            <a:ext cx="6049009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2" sz="800">
                <a:solidFill>
                  <a:srgbClr val="23272E"/>
                </a:solidFill>
                <a:latin typeface="Roboto"/>
              </a:rPr>
              <a:t>build a GSTR-1/3B-style summary -&gt; flag issues (missing HSN, rate mismatch, duplicate invoice, B2B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3705860"/>
            <a:ext cx="623443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1" sz="800">
                <a:solidFill>
                  <a:srgbClr val="23272E"/>
                </a:solidFill>
                <a:latin typeface="Roboto"/>
              </a:rPr>
              <a:t>without GSTIN) with confidence; (3) summary dashboard + invoice table (row flags + fixes) + "Download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3841750"/>
            <a:ext cx="487553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6" sz="800">
                <a:solidFill>
                  <a:srgbClr val="23272E"/>
                </a:solidFill>
                <a:latin typeface="Roboto"/>
              </a:rPr>
              <a:t>filing summary (Markdown/CSV)". Low-confidence rows flagged "verify with a CA".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3977640"/>
            <a:ext cx="617220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9" sz="800">
                <a:solidFill>
                  <a:srgbClr val="23272E"/>
                </a:solidFill>
                <a:latin typeface="Roboto"/>
              </a:rPr>
              <a:t>CONTENT SAFETY: /data/hsn-rules.json is ILLUSTRATIVE SAMPLE DATA, labelled in UI + README as "not 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4113529"/>
            <a:ext cx="629539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0" sz="800">
                <a:solidFill>
                  <a:srgbClr val="23272E"/>
                </a:solidFill>
                <a:latin typeface="Roboto"/>
              </a:rPr>
              <a:t>official rate list". Use the CURRENT post-22-Sep-2025 GST structure as the reference (slabs 5% / 18% /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4249420"/>
            <a:ext cx="598678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5" sz="800">
                <a:solidFill>
                  <a:srgbClr val="23272E"/>
                </a:solidFill>
                <a:latin typeface="Roboto"/>
              </a:rPr>
              <a:t>40%, plus 0% exempt) — do NOT emit the old 12%/28% slabs. The optional LLM must not invent rates.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4200" y="4385310"/>
            <a:ext cx="623443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6" sz="800">
                <a:solidFill>
                  <a:srgbClr val="23272E"/>
                </a:solidFill>
                <a:latin typeface="Roboto"/>
              </a:rPr>
              <a:t>STACK: Next.js (App Router, latest stable) + TypeScript + Tailwind. Deploy: Vercel. LLM optional in 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4521200"/>
            <a:ext cx="80264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3" sz="800">
                <a:solidFill>
                  <a:srgbClr val="23272E"/>
                </a:solidFill>
                <a:latin typeface="Roboto"/>
              </a:rPr>
              <a:t>server route.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4657090"/>
            <a:ext cx="580136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7" sz="800">
                <a:solidFill>
                  <a:srgbClr val="23272E"/>
                </a:solidFill>
                <a:latin typeface="Roboto"/>
              </a:rPr>
              <a:t>PREREQUISITES (also in README): Demo = NO login/key (deterministic engines). Live (optional) =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4792980"/>
            <a:ext cx="6391909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9" sz="800">
                <a:solidFill>
                  <a:srgbClr val="23272E"/>
                </a:solidFill>
                <a:latin typeface="Roboto"/>
              </a:rPr>
              <a:t>OPENAI_API_KEY (robust parsing of messy free-text). Optional real GST data: use Sandbox.co.in's free GST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200" y="4928870"/>
            <a:ext cx="592582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3" sz="800">
                <a:solidFill>
                  <a:srgbClr val="23272E"/>
                </a:solidFill>
                <a:latin typeface="Roboto"/>
              </a:rPr>
              <a:t>API — NOTE the NIC e-invoice sandbox requires a real GSTIN and is NOT viable for a keyless team.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200" y="5064760"/>
            <a:ext cx="635762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3" sz="800">
                <a:solidFill>
                  <a:srgbClr val="23272E"/>
                </a:solidFill>
                <a:latin typeface="Roboto"/>
              </a:rPr>
              <a:t>DATA: /data/sample-invoices.json = 10 invoices incl. one missing HSN, one rate mismatch, one duplicate,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4200" y="5200650"/>
            <a:ext cx="185166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7" sz="800">
                <a:solidFill>
                  <a:srgbClr val="23272E"/>
                </a:solidFill>
                <a:latin typeface="Roboto"/>
              </a:rPr>
              <a:t>one B2B w/o GSTIN, with fields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4200" y="5336540"/>
            <a:ext cx="610997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1" sz="800">
                <a:solidFill>
                  <a:srgbClr val="23272E"/>
                </a:solidFill>
                <a:latin typeface="Roboto"/>
              </a:rPr>
              <a:t>{invoiceNo,date,sellerState,buyerState,lines:[{item,hsn?,qty,rate,amount}]}. /data/hsn-rules.json =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4200" y="5472430"/>
            <a:ext cx="222250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6" sz="800">
                <a:solidFill>
                  <a:srgbClr val="23272E"/>
                </a:solidFill>
                <a:latin typeface="Roboto"/>
              </a:rPr>
              <a:t>{hsn: {label, gstRate}} small table.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200" y="5608320"/>
            <a:ext cx="635762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2" sz="800">
                <a:solidFill>
                  <a:srgbClr val="23272E"/>
                </a:solidFill>
                <a:latin typeface="Roboto"/>
              </a:rPr>
              <a:t>LOGIC: gstClassify.ts, taxCompute.ts, validate.ts are deterministic + unit-tested. Live: OPENAI_API_KEY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5744210"/>
            <a:ext cx="456692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0" sz="800">
                <a:solidFill>
                  <a:srgbClr val="23272E"/>
                </a:solidFill>
                <a:latin typeface="Roboto"/>
              </a:rPr>
              <a:t>only; OPENAI_MODEL env; never expose keys; .gitignore .env*; .env.example.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200" y="5880100"/>
            <a:ext cx="617220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9" sz="800">
                <a:solidFill>
                  <a:srgbClr val="23272E"/>
                </a:solidFill>
                <a:latin typeface="Roboto"/>
              </a:rPr>
              <a:t>WORK EFFICIENTLY: plan mode first (PLANS.md w/ acceptance commands); parallel reads; high effort for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200" y="6015990"/>
            <a:ext cx="635762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6" sz="800">
                <a:solidFill>
                  <a:srgbClr val="23272E"/>
                </a:solidFill>
                <a:latin typeface="Roboto"/>
              </a:rPr>
              <a:t>classify/compute, low for UI; app+npm test+typecheck each milestone; /review before done; small commits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6151880"/>
            <a:ext cx="2900679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7" sz="800">
                <a:solidFill>
                  <a:srgbClr val="23272E"/>
                </a:solidFill>
                <a:latin typeface="Roboto"/>
              </a:rPr>
              <a:t>git commit --author="Codex &lt;codex@openai.com&gt;".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4200" y="6287770"/>
            <a:ext cx="635762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6" sz="800">
                <a:solidFill>
                  <a:srgbClr val="23272E"/>
                </a:solidFill>
                <a:latin typeface="Roboto"/>
              </a:rPr>
              <a:t>DELIVER: full code; AGENTS.md; README (run + 5-min Vercel deploy + PREREQUISITES + "illustrative data /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6423660"/>
            <a:ext cx="6391909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4" sz="800">
                <a:solidFill>
                  <a:srgbClr val="23272E"/>
                </a:solidFill>
                <a:latin typeface="Roboto"/>
              </a:rPr>
              <a:t>not tax advice" + "How Codex built this"); thorough Vitest tests for gstClassify + taxCompute (CGST/SGST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4200" y="6559550"/>
            <a:ext cx="617220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2" sz="800">
                <a:solidFill>
                  <a:srgbClr val="23272E"/>
                </a:solidFill>
                <a:latin typeface="Roboto"/>
              </a:rPr>
              <a:t>vs IGST) + validate + a Playwright smoke test; .env.example; MIT LICENSE; mobile-first + accessible;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4200" y="6695440"/>
            <a:ext cx="104902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4" sz="800">
                <a:solidFill>
                  <a:srgbClr val="23272E"/>
                </a:solidFill>
                <a:latin typeface="Roboto"/>
              </a:rPr>
              <a:t>product original.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4200" y="6831330"/>
            <a:ext cx="629539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8" sz="800">
                <a:solidFill>
                  <a:srgbClr val="23272E"/>
                </a:solidFill>
                <a:latin typeface="Roboto"/>
              </a:rPr>
              <a:t>DONE WHEN: `npm install &amp;&amp; npm run dev` classifies the sample invoices, shows the summary + all 4 flag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4200" y="6967220"/>
            <a:ext cx="592582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9" sz="800">
                <a:solidFill>
                  <a:srgbClr val="23272E"/>
                </a:solidFill>
                <a:latin typeface="Roboto"/>
              </a:rPr>
              <a:t>types, exports a filing summary, no key; npm test passes; npm run build succeeds. Then print run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4200" y="7103109"/>
            <a:ext cx="3580129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3" sz="800">
                <a:solidFill>
                  <a:srgbClr val="23272E"/>
                </a:solidFill>
                <a:latin typeface="Roboto"/>
              </a:rPr>
              <a:t>commands, Vercel deploy steps, a 5-line demo-video script.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4200" y="7336790"/>
            <a:ext cx="192532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9" b="1" sz="800">
                <a:solidFill>
                  <a:srgbClr val="2C6DA3"/>
                </a:solidFill>
                <a:latin typeface="Roboto"/>
              </a:rPr>
              <a:t>SUGGESTED CHANGES (make it yours)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4200" y="7579359"/>
            <a:ext cx="2302510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" sz="850">
                <a:solidFill>
                  <a:srgbClr val="232A33"/>
                </a:solidFill>
                <a:latin typeface="Roboto"/>
              </a:rPr>
              <a:t>• Load your own HSN table / a specific industry.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4200" y="7736840"/>
            <a:ext cx="210820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" sz="850">
                <a:solidFill>
                  <a:srgbClr val="232A33"/>
                </a:solidFill>
                <a:latin typeface="Roboto"/>
              </a:rPr>
              <a:t>• Wire Sandbox.co.in for live e-invoice data.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4200" y="7894320"/>
            <a:ext cx="2551430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" sz="850">
                <a:solidFill>
                  <a:srgbClr val="232A33"/>
                </a:solidFill>
                <a:latin typeface="Roboto"/>
              </a:rPr>
              <a:t>• Add GSTR-2B reconciliation (purchases vs claims).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4200" y="8051800"/>
            <a:ext cx="2020570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1" sz="850">
                <a:solidFill>
                  <a:srgbClr val="232A33"/>
                </a:solidFill>
                <a:latin typeface="Roboto"/>
              </a:rPr>
              <a:t>• Export a CA-ready packet (CSV + PDF).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673350" y="10261600"/>
            <a:ext cx="2213610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" sz="750">
                <a:solidFill>
                  <a:srgbClr val="5C6672"/>
                </a:solidFill>
                <a:latin typeface="Roboto"/>
              </a:rPr>
              <a:t>ChatGPT Codex India Hackathon 2026 - Track Kits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20509" y="10261600"/>
            <a:ext cx="355600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" sz="750">
                <a:solidFill>
                  <a:srgbClr val="5C6672"/>
                </a:solidFill>
                <a:latin typeface="Roboto"/>
              </a:rPr>
              <a:t>Page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0165080"/>
            <a:ext cx="6391909" cy="127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00" y="10217150"/>
            <a:ext cx="635000" cy="171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200" y="584200"/>
            <a:ext cx="6394450" cy="304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" y="1689100"/>
            <a:ext cx="6572250" cy="4953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" y="1612900"/>
            <a:ext cx="6724650" cy="647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600" y="2330450"/>
            <a:ext cx="6597650" cy="4013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6400" y="2254250"/>
            <a:ext cx="6750050" cy="4165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300" y="6489700"/>
            <a:ext cx="6572250" cy="8191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9100" y="6413500"/>
            <a:ext cx="6724650" cy="971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6600" y="685800"/>
            <a:ext cx="149225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9" b="1" sz="900">
                <a:solidFill>
                  <a:srgbClr val="FFFFFF"/>
                </a:solidFill>
                <a:latin typeface="Roboto"/>
              </a:rPr>
              <a:t>TRACK 4 · Domain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1106170"/>
            <a:ext cx="102743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5" b="1" sz="1400">
                <a:solidFill>
                  <a:srgbClr val="092A49"/>
                </a:solidFill>
                <a:latin typeface="Roboto"/>
              </a:rPr>
              <a:t>ClauseClear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1308100"/>
            <a:ext cx="2999740" cy="1181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" i="1" sz="950">
                <a:solidFill>
                  <a:srgbClr val="5C6672"/>
                </a:solidFill>
                <a:latin typeface="Roboto"/>
              </a:rPr>
              <a:t>Flags risky contract/NDA clauses vs a playbook, redlines.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1565910"/>
            <a:ext cx="102235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8" b="1" sz="800">
                <a:solidFill>
                  <a:srgbClr val="2C6DA3"/>
                </a:solidFill>
                <a:latin typeface="Roboto"/>
              </a:rPr>
              <a:t>API PREREQUISITES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1808480"/>
            <a:ext cx="439547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3" b="1" sz="850">
                <a:solidFill>
                  <a:srgbClr val="232A33"/>
                </a:solidFill>
                <a:latin typeface="Roboto"/>
              </a:rPr>
              <a:t>Deploy / live demo:</a:t>
            </a:r>
            <a:r>
              <a:rPr spc="11" sz="850">
                <a:solidFill>
                  <a:srgbClr val="232A33"/>
                </a:solidFill>
                <a:latin typeface="Roboto"/>
              </a:rPr>
              <a:t> None - deploys and runs the full demo with NO login and NO API key.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4200" y="1963420"/>
            <a:ext cx="601599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4" b="1" sz="850">
                <a:solidFill>
                  <a:srgbClr val="232A33"/>
                </a:solidFill>
                <a:latin typeface="Roboto"/>
              </a:rPr>
              <a:t>Live mode (optional):</a:t>
            </a:r>
            <a:r>
              <a:rPr spc="11" sz="850">
                <a:solidFill>
                  <a:srgbClr val="232A33"/>
                </a:solidFill>
                <a:latin typeface="Roboto"/>
              </a:rPr>
              <a:t> OPENAI_API_KEY (optional) to review any pasted text. Deterministic playbook engine needs no key.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4200" y="2218690"/>
            <a:ext cx="177800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6" b="1" sz="800">
                <a:solidFill>
                  <a:srgbClr val="2C6DA3"/>
                </a:solidFill>
                <a:latin typeface="Roboto"/>
              </a:rPr>
              <a:t>PROMPT — copy &amp; paste into Codex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2463800"/>
            <a:ext cx="6391909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2" sz="800">
                <a:solidFill>
                  <a:srgbClr val="23272E"/>
                </a:solidFill>
                <a:latin typeface="Roboto"/>
              </a:rPr>
              <a:t>You are OpenAI Codex, a senior full-stack engineer building legal-tech. Build a COMPLETE, deployable web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4200" y="2599690"/>
            <a:ext cx="623443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4" sz="800">
                <a:solidFill>
                  <a:srgbClr val="23272E"/>
                </a:solidFill>
                <a:latin typeface="Roboto"/>
              </a:rPr>
              <a:t>app in the current empty folder. No code from me; don't ask questions—note assumptions in the README.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2735580"/>
            <a:ext cx="364109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8" sz="800">
                <a:solidFill>
                  <a:srgbClr val="23272E"/>
                </a:solidFill>
                <a:latin typeface="Roboto"/>
              </a:rPr>
              <a:t>Drafting assistant, NOT legal advice — show that in the UI.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871470"/>
            <a:ext cx="592582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3" sz="800">
                <a:solidFill>
                  <a:srgbClr val="23272E"/>
                </a:solidFill>
                <a:latin typeface="Roboto"/>
              </a:rPr>
              <a:t>PRODUCT: "ClauseClear" — flag risky contract/NDA clauses vs a playbook, explain plainly, propose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3007360"/>
            <a:ext cx="1913889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5" sz="800">
                <a:solidFill>
                  <a:srgbClr val="23272E"/>
                </a:solidFill>
                <a:latin typeface="Roboto"/>
              </a:rPr>
              <a:t>redlines. TRACK: Domain Agents.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3143250"/>
            <a:ext cx="555498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2" sz="800">
                <a:solidFill>
                  <a:srgbClr val="23272E"/>
                </a:solidFill>
                <a:latin typeface="Roboto"/>
              </a:rPr>
              <a:t>CORE FLOW: (1) paste a contract or load the bundled sample NDA; (2) split clauses -&gt; match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3279140"/>
            <a:ext cx="610997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6" sz="800">
                <a:solidFill>
                  <a:srgbClr val="23272E"/>
                </a:solidFill>
                <a:latin typeface="Roboto"/>
              </a:rPr>
              <a:t>/data/playbook.json rules (liability cap, auto-renewal, IP, indemnity, governing law) -&gt; risk 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3415029"/>
            <a:ext cx="6391909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2" sz="800">
                <a:solidFill>
                  <a:srgbClr val="23272E"/>
                </a:solidFill>
                <a:latin typeface="Roboto"/>
              </a:rPr>
              <a:t>High/Med/Low -&gt; plain-English why -&gt; suggested redline; (3) risk summary + clause table + "Download risk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3550920"/>
            <a:ext cx="425831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9" sz="800">
                <a:solidFill>
                  <a:srgbClr val="23272E"/>
                </a:solidFill>
                <a:latin typeface="Roboto"/>
              </a:rPr>
              <a:t>memo (Markdown)". Low-confidence rows flagged "review with a lawyer".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3686810"/>
            <a:ext cx="610997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5" sz="800">
                <a:solidFill>
                  <a:srgbClr val="23272E"/>
                </a:solidFill>
                <a:latin typeface="Roboto"/>
              </a:rPr>
              <a:t>CONTENT SAFETY: the "why" text must NOT fabricate statute sections, case names, or citations — keep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3822700"/>
            <a:ext cx="586359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4" sz="800">
                <a:solidFill>
                  <a:srgbClr val="23272E"/>
                </a:solidFill>
                <a:latin typeface="Roboto"/>
              </a:rPr>
              <a:t>reasoning to the playbook rule + plain-English logic only. Bundled data is illustrative sample.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3958590"/>
            <a:ext cx="623443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6" sz="800">
                <a:solidFill>
                  <a:srgbClr val="23272E"/>
                </a:solidFill>
                <a:latin typeface="Roboto"/>
              </a:rPr>
              <a:t>STACK: Next.js (App Router, latest stable) + TypeScript + Tailwind. Deploy: Vercel. LLM optional in 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4094479"/>
            <a:ext cx="80264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3" sz="800">
                <a:solidFill>
                  <a:srgbClr val="23272E"/>
                </a:solidFill>
                <a:latin typeface="Roboto"/>
              </a:rPr>
              <a:t>server route.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4230370"/>
            <a:ext cx="493776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3" sz="800">
                <a:solidFill>
                  <a:srgbClr val="23272E"/>
                </a:solidFill>
                <a:latin typeface="Roboto"/>
              </a:rPr>
              <a:t>PREREQUISITES (also in README): Demo = NO login/key (deterministic heuristics 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4200" y="4366260"/>
            <a:ext cx="388874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5" sz="800">
                <a:solidFill>
                  <a:srgbClr val="23272E"/>
                </a:solidFill>
                <a:latin typeface="Roboto"/>
              </a:rPr>
              <a:t>/lib/playbookEngine.ts). Live (optional) = OPENAI_API_KEY only.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4502150"/>
            <a:ext cx="456692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1" sz="800">
                <a:solidFill>
                  <a:srgbClr val="23272E"/>
                </a:solidFill>
                <a:latin typeface="Roboto"/>
              </a:rPr>
              <a:t>DATA: /data/sample-nda.txt (a realistic sample NDA); /data/playbook.json =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4638040"/>
            <a:ext cx="265430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8" sz="800">
                <a:solidFill>
                  <a:srgbClr val="23272E"/>
                </a:solidFill>
                <a:latin typeface="Roboto"/>
              </a:rPr>
              <a:t>[{id,rule,riskIfViolated,redlineTemplate}].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4773930"/>
            <a:ext cx="635762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2" sz="800">
                <a:solidFill>
                  <a:srgbClr val="23272E"/>
                </a:solidFill>
                <a:latin typeface="Roboto"/>
              </a:rPr>
              <a:t>LIVE (optional): OPENAI_API_KEY + DEMO_MODE=false reviews ANY pasted text vs the playbook; OPENAI_MODEL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200" y="4909820"/>
            <a:ext cx="339471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7" sz="800">
                <a:solidFill>
                  <a:srgbClr val="23272E"/>
                </a:solidFill>
                <a:latin typeface="Roboto"/>
              </a:rPr>
              <a:t>env; never expose keys; .gitignore .env*; .env.example.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200" y="5045710"/>
            <a:ext cx="617220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9" sz="800">
                <a:solidFill>
                  <a:srgbClr val="23272E"/>
                </a:solidFill>
                <a:latin typeface="Roboto"/>
              </a:rPr>
              <a:t>WORK EFFICIENTLY: plan mode first (PLANS.md w/ acceptance commands); parallel reads; high effort for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4200" y="5181600"/>
            <a:ext cx="617220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2" sz="800">
                <a:solidFill>
                  <a:srgbClr val="23272E"/>
                </a:solidFill>
                <a:latin typeface="Roboto"/>
              </a:rPr>
              <a:t>clause/playbook logic, low for UI; app+npm test+typecheck each milestone; /review before done; small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4200" y="5317490"/>
            <a:ext cx="339471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2" sz="800">
                <a:solidFill>
                  <a:srgbClr val="23272E"/>
                </a:solidFill>
                <a:latin typeface="Roboto"/>
              </a:rPr>
              <a:t>commits git commit --author="Codex &lt;codex@openai.com&gt;".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4200" y="5453380"/>
            <a:ext cx="635762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2" sz="800">
                <a:solidFill>
                  <a:srgbClr val="23272E"/>
                </a:solidFill>
                <a:latin typeface="Roboto"/>
              </a:rPr>
              <a:t>DELIVER: full code; AGENTS.md; README (run + 5-min Vercel deploy + PREREQUISITES + "not legal advice" +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200" y="5589270"/>
            <a:ext cx="610997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0" sz="800">
                <a:solidFill>
                  <a:srgbClr val="23272E"/>
                </a:solidFill>
                <a:latin typeface="Roboto"/>
              </a:rPr>
              <a:t>"How Codex built this"); Vitest tests for clause-split + playbook engine + a Playwright smoke test;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5725160"/>
            <a:ext cx="438277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3" sz="800">
                <a:solidFill>
                  <a:srgbClr val="23272E"/>
                </a:solidFill>
                <a:latin typeface="Roboto"/>
              </a:rPr>
              <a:t>.env.example; MIT LICENSE; mobile-first + accessible; product original.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200" y="5861050"/>
            <a:ext cx="623443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8" sz="800">
                <a:solidFill>
                  <a:srgbClr val="23272E"/>
                </a:solidFill>
                <a:latin typeface="Roboto"/>
              </a:rPr>
              <a:t>DONE WHEN: `npm install &amp;&amp; npm run dev` analyses the sample NDA and renders the risk table + memo, no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200" y="5996940"/>
            <a:ext cx="617220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4" sz="800">
                <a:solidFill>
                  <a:srgbClr val="23272E"/>
                </a:solidFill>
                <a:latin typeface="Roboto"/>
              </a:rPr>
              <a:t>key; npm test passes; npm run build succeeds. Then print run commands, Vercel deploy steps, a 5-line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6132830"/>
            <a:ext cx="111125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0" sz="800">
                <a:solidFill>
                  <a:srgbClr val="23272E"/>
                </a:solidFill>
                <a:latin typeface="Roboto"/>
              </a:rPr>
              <a:t>demo-video script.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4200" y="6366510"/>
            <a:ext cx="192532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9" b="1" sz="800">
                <a:solidFill>
                  <a:srgbClr val="2C6DA3"/>
                </a:solidFill>
                <a:latin typeface="Roboto"/>
              </a:rPr>
              <a:t>SUGGESTED CHANGES (make it yours)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6609080"/>
            <a:ext cx="3224529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" sz="850">
                <a:solidFill>
                  <a:srgbClr val="232A33"/>
                </a:solidFill>
                <a:latin typeface="Roboto"/>
              </a:rPr>
              <a:t>• Swap the playbook for your vertical (rental, employment, vendor).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4200" y="6766559"/>
            <a:ext cx="1817370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" sz="850">
                <a:solidFill>
                  <a:srgbClr val="232A33"/>
                </a:solidFill>
                <a:latin typeface="Roboto"/>
              </a:rPr>
              <a:t>• Export DOCX with tracked changes.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4200" y="6924040"/>
            <a:ext cx="177927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" sz="850">
                <a:solidFill>
                  <a:srgbClr val="232A33"/>
                </a:solidFill>
                <a:latin typeface="Roboto"/>
              </a:rPr>
              <a:t>• Add a 'negotiation email' generator.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4200" y="7081520"/>
            <a:ext cx="2259330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" sz="850">
                <a:solidFill>
                  <a:srgbClr val="232A33"/>
                </a:solidFill>
                <a:latin typeface="Roboto"/>
              </a:rPr>
              <a:t>• Add multi-language plain-English summaries.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73350" y="10261600"/>
            <a:ext cx="2213610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" sz="750">
                <a:solidFill>
                  <a:srgbClr val="5C6672"/>
                </a:solidFill>
                <a:latin typeface="Roboto"/>
              </a:rPr>
              <a:t>ChatGPT Codex India Hackathon 2026 - Track Kits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20509" y="10261600"/>
            <a:ext cx="355600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" sz="750">
                <a:solidFill>
                  <a:srgbClr val="5C6672"/>
                </a:solidFill>
                <a:latin typeface="Roboto"/>
              </a:rPr>
              <a:t>Page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0165080"/>
            <a:ext cx="6391909" cy="127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00" y="10217150"/>
            <a:ext cx="635000" cy="171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200" y="584200"/>
            <a:ext cx="6394450" cy="304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" y="1689100"/>
            <a:ext cx="6572250" cy="6540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" y="1612900"/>
            <a:ext cx="6724650" cy="806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600" y="2489200"/>
            <a:ext cx="6597650" cy="4419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6400" y="2413000"/>
            <a:ext cx="6750050" cy="4572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300" y="7054850"/>
            <a:ext cx="6572250" cy="812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9100" y="6978650"/>
            <a:ext cx="6724650" cy="965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6600" y="685800"/>
            <a:ext cx="149225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9" b="1" sz="900">
                <a:solidFill>
                  <a:srgbClr val="FFFFFF"/>
                </a:solidFill>
                <a:latin typeface="Roboto"/>
              </a:rPr>
              <a:t>TRACK 4 · Domain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1106170"/>
            <a:ext cx="83058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4" b="1" sz="1400">
                <a:solidFill>
                  <a:srgbClr val="092A49"/>
                </a:solidFill>
                <a:latin typeface="Roboto"/>
              </a:rPr>
              <a:t>CaseBrief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1308100"/>
            <a:ext cx="3092450" cy="1181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i="1" sz="950">
                <a:solidFill>
                  <a:srgbClr val="5C6672"/>
                </a:solidFill>
                <a:latin typeface="Roboto"/>
              </a:rPr>
              <a:t>Fact pattern -&gt; ranked precedents + a first-draft IRAC brief.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1565910"/>
            <a:ext cx="102235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8" b="1" sz="800">
                <a:solidFill>
                  <a:srgbClr val="2C6DA3"/>
                </a:solidFill>
                <a:latin typeface="Roboto"/>
              </a:rPr>
              <a:t>API PREREQUISITES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1808480"/>
            <a:ext cx="439547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3" b="1" sz="850">
                <a:solidFill>
                  <a:srgbClr val="232A33"/>
                </a:solidFill>
                <a:latin typeface="Roboto"/>
              </a:rPr>
              <a:t>Deploy / live demo:</a:t>
            </a:r>
            <a:r>
              <a:rPr spc="11" sz="850">
                <a:solidFill>
                  <a:srgbClr val="232A33"/>
                </a:solidFill>
                <a:latin typeface="Roboto"/>
              </a:rPr>
              <a:t> None - deploys and runs the full demo with NO login and NO API key.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4200" y="1963420"/>
            <a:ext cx="617093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4" b="1" sz="850">
                <a:solidFill>
                  <a:srgbClr val="232A33"/>
                </a:solidFill>
                <a:latin typeface="Roboto"/>
              </a:rPr>
              <a:t>Live mode (optional):</a:t>
            </a:r>
            <a:r>
              <a:rPr spc="13" sz="850">
                <a:solidFill>
                  <a:srgbClr val="232A33"/>
                </a:solidFill>
                <a:latin typeface="Roboto"/>
              </a:rPr>
              <a:t> OPENAI_API_KEY + an Indian Kanoon API key for live search. Kanoon is paid/approved access (not 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4200" y="2118360"/>
            <a:ext cx="248920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" sz="850">
                <a:solidFill>
                  <a:srgbClr val="232A33"/>
                </a:solidFill>
                <a:latin typeface="Roboto"/>
              </a:rPr>
              <a:t>instant key) - demo uses a bundled fictional corpus.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2373630"/>
            <a:ext cx="177800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6" b="1" sz="800">
                <a:solidFill>
                  <a:srgbClr val="2C6DA3"/>
                </a:solidFill>
                <a:latin typeface="Roboto"/>
              </a:rPr>
              <a:t>PROMPT — copy &amp; paste into Codex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4200" y="2618740"/>
            <a:ext cx="623443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9" sz="800">
                <a:solidFill>
                  <a:srgbClr val="23272E"/>
                </a:solidFill>
                <a:latin typeface="Roboto"/>
              </a:rPr>
              <a:t>You are OpenAI Codex, a senior full-stack engineer building legal-research tooling. Build a COMPLETE,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2754630"/>
            <a:ext cx="6391909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4" sz="800">
                <a:solidFill>
                  <a:srgbClr val="23272E"/>
                </a:solidFill>
                <a:latin typeface="Roboto"/>
              </a:rPr>
              <a:t>deployable web app in the current empty folder. No code from me; don't ask questions—note assumptions 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890520"/>
            <a:ext cx="4011929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8" sz="800">
                <a:solidFill>
                  <a:srgbClr val="23272E"/>
                </a:solidFill>
                <a:latin typeface="Roboto"/>
              </a:rPr>
              <a:t>the README. Drafting aid, NOT legal advice — show that in the UI.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3026410"/>
            <a:ext cx="635762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7" sz="800">
                <a:solidFill>
                  <a:srgbClr val="23272E"/>
                </a:solidFill>
                <a:latin typeface="Roboto"/>
              </a:rPr>
              <a:t>PRODUCT: "CaseBrief" — fact pattern -&gt; relevant precedents + a first-draft brief with citations. TRACK: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3162300"/>
            <a:ext cx="86360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0" sz="800">
                <a:solidFill>
                  <a:srgbClr val="23272E"/>
                </a:solidFill>
                <a:latin typeface="Roboto"/>
              </a:rPr>
              <a:t>Domain Agents.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3298190"/>
            <a:ext cx="635762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4" sz="800">
                <a:solidFill>
                  <a:srgbClr val="23272E"/>
                </a:solidFill>
                <a:latin typeface="Roboto"/>
              </a:rPr>
              <a:t>CORE FLOW: (1) enter a fact pattern (or load an example); (2) extract issues -&gt; search a case corpus -&gt;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3434079"/>
            <a:ext cx="617220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2" sz="800">
                <a:solidFill>
                  <a:srgbClr val="23272E"/>
                </a:solidFill>
                <a:latin typeface="Roboto"/>
              </a:rPr>
              <a:t>rank precedents -&gt; extract holdings -&gt; draft an IRAC brief (Issues/Rule/Application/Conclusion) with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3569970"/>
            <a:ext cx="635762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6" sz="800">
                <a:solidFill>
                  <a:srgbClr val="23272E"/>
                </a:solidFill>
                <a:latin typeface="Roboto"/>
              </a:rPr>
              <a:t>citations; (3) show matched cases (title, court, year, holding, relevance) + the draft; "Download brief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3705860"/>
            <a:ext cx="74041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7" sz="800">
                <a:solidFill>
                  <a:srgbClr val="23272E"/>
                </a:solidFill>
                <a:latin typeface="Roboto"/>
              </a:rPr>
              <a:t>(Markdown)".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3841750"/>
            <a:ext cx="629539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5" sz="800">
                <a:solidFill>
                  <a:srgbClr val="23272E"/>
                </a:solidFill>
                <a:latin typeface="Roboto"/>
              </a:rPr>
              <a:t>CONTENT SAFETY (critical): the bundled /data/cases.json uses CLEARLY-FICTIONAL case names + citations,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3977640"/>
            <a:ext cx="6391909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7" sz="800">
                <a:solidFill>
                  <a:srgbClr val="23272E"/>
                </a:solidFill>
                <a:latin typeface="Roboto"/>
              </a:rPr>
              <a:t>each visibly labelled "DEMO — fictional case for illustration". The brief may cite ONLY cases present 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4113529"/>
            <a:ext cx="623443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8" sz="800">
                <a:solidFill>
                  <a:srgbClr val="23272E"/>
                </a:solidFill>
                <a:latin typeface="Roboto"/>
              </a:rPr>
              <a:t>the retrieved results — it must NEVER synthesise a citation or holding not in the corpus/results. Say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4249420"/>
            <a:ext cx="148082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6" sz="800">
                <a:solidFill>
                  <a:srgbClr val="23272E"/>
                </a:solidFill>
                <a:latin typeface="Roboto"/>
              </a:rPr>
              <a:t>this in the UI + README.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4200" y="4385310"/>
            <a:ext cx="629539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4" sz="800">
                <a:solidFill>
                  <a:srgbClr val="23272E"/>
                </a:solidFill>
                <a:latin typeface="Roboto"/>
              </a:rPr>
              <a:t>STACK: Next.js (App Router, latest stable) + TypeScript + Tailwind. Deploy: Vercel. LLM + external 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4521200"/>
            <a:ext cx="141986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5" sz="800">
                <a:solidFill>
                  <a:srgbClr val="23272E"/>
                </a:solidFill>
                <a:latin typeface="Roboto"/>
              </a:rPr>
              <a:t>only in a server route.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4657090"/>
            <a:ext cx="6391909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2" sz="800">
                <a:solidFill>
                  <a:srgbClr val="23272E"/>
                </a:solidFill>
                <a:latin typeface="Roboto"/>
              </a:rPr>
              <a:t>PREREQUISITES (also in README): Demo = NO login/key (deterministic ranker over the bundled corpus). Live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4792980"/>
            <a:ext cx="635762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7" sz="800">
                <a:solidFill>
                  <a:srgbClr val="23272E"/>
                </a:solidFill>
                <a:latin typeface="Roboto"/>
              </a:rPr>
              <a:t>(optional) = OPENAI_API_KEY + an Indian Kanoon API key — NOTE Indian Kanoon is a paid/approved API, NOT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200" y="4928870"/>
            <a:ext cx="580136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7" sz="800">
                <a:solidFill>
                  <a:srgbClr val="23272E"/>
                </a:solidFill>
                <a:latin typeface="Roboto"/>
              </a:rPr>
              <a:t>an instant self-serve key, so treat live mode as optional and test the demo for the hackathon.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200" y="5064760"/>
            <a:ext cx="623443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1" sz="800">
                <a:solidFill>
                  <a:srgbClr val="23272E"/>
                </a:solidFill>
                <a:latin typeface="Roboto"/>
              </a:rPr>
              <a:t>DATA: /data/cases.json = ~20 fictional judgments {id,title(fictional),court,year,holding,keywords[]}.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4200" y="5200650"/>
            <a:ext cx="635762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3" sz="800">
                <a:solidFill>
                  <a:srgbClr val="23272E"/>
                </a:solidFill>
                <a:latin typeface="Roboto"/>
              </a:rPr>
              <a:t>LIVE (optional): OPENAI_API_KEY (+ Indian Kanoon key) + DEMO_MODE=false; OPENAI_MODEL env; never expose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4200" y="5336540"/>
            <a:ext cx="228346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4" sz="800">
                <a:solidFill>
                  <a:srgbClr val="23272E"/>
                </a:solidFill>
                <a:latin typeface="Roboto"/>
              </a:rPr>
              <a:t>keys; .gitignore .env*; .env.example.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4200" y="5472430"/>
            <a:ext cx="617220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9" sz="800">
                <a:solidFill>
                  <a:srgbClr val="23272E"/>
                </a:solidFill>
                <a:latin typeface="Roboto"/>
              </a:rPr>
              <a:t>WORK EFFICIENTLY: plan mode first (PLANS.md w/ acceptance commands); parallel reads; high effort for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200" y="5608320"/>
            <a:ext cx="617220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0" sz="800">
                <a:solidFill>
                  <a:srgbClr val="23272E"/>
                </a:solidFill>
                <a:latin typeface="Roboto"/>
              </a:rPr>
              <a:t>ranker + citation-extractor, low for UI; app+npm test+typecheck each milestone; /review before done;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5744210"/>
            <a:ext cx="376555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6" sz="800">
                <a:solidFill>
                  <a:srgbClr val="23272E"/>
                </a:solidFill>
                <a:latin typeface="Roboto"/>
              </a:rPr>
              <a:t>small commits git commit --author="Codex &lt;codex@openai.com&gt;".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200" y="5880100"/>
            <a:ext cx="635762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7" sz="800">
                <a:solidFill>
                  <a:srgbClr val="23272E"/>
                </a:solidFill>
                <a:latin typeface="Roboto"/>
              </a:rPr>
              <a:t>DELIVER: full code; AGENTS.md; README (run + 5-min Vercel deploy + PREREQUISITES + "fictional demo data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200" y="6015990"/>
            <a:ext cx="635762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4" sz="800">
                <a:solidFill>
                  <a:srgbClr val="23272E"/>
                </a:solidFill>
                <a:latin typeface="Roboto"/>
              </a:rPr>
              <a:t>/ not legal advice" + "How Codex built this"); Vitest tests for the ranker + a test asserting the brief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6151880"/>
            <a:ext cx="586359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6" sz="800">
                <a:solidFill>
                  <a:srgbClr val="23272E"/>
                </a:solidFill>
                <a:latin typeface="Roboto"/>
              </a:rPr>
              <a:t>cites ONLY retrieved cases + a Playwright smoke test; .env.example; MIT LICENSE; mobile-first +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4200" y="6287770"/>
            <a:ext cx="178943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2" sz="800">
                <a:solidFill>
                  <a:srgbClr val="23272E"/>
                </a:solidFill>
                <a:latin typeface="Roboto"/>
              </a:rPr>
              <a:t>accessible; product original.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6423660"/>
            <a:ext cx="6391909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0" sz="800">
                <a:solidFill>
                  <a:srgbClr val="23272E"/>
                </a:solidFill>
                <a:latin typeface="Roboto"/>
              </a:rPr>
              <a:t>DONE WHEN: `npm install &amp;&amp; npm run dev` returns ranked (fictional, labelled) precedents + a brief citing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4200" y="6559550"/>
            <a:ext cx="610997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0" sz="800">
                <a:solidFill>
                  <a:srgbClr val="23272E"/>
                </a:solidFill>
                <a:latin typeface="Roboto"/>
              </a:rPr>
              <a:t>only those, no key; npm test passes; npm run build succeeds. Then print run commands, Vercel deploy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4200" y="6695440"/>
            <a:ext cx="209804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2" sz="800">
                <a:solidFill>
                  <a:srgbClr val="23272E"/>
                </a:solidFill>
                <a:latin typeface="Roboto"/>
              </a:rPr>
              <a:t>steps, a 5-line demo-video script.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4200" y="6929120"/>
            <a:ext cx="192532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9" b="1" sz="800">
                <a:solidFill>
                  <a:srgbClr val="2C6DA3"/>
                </a:solidFill>
                <a:latin typeface="Roboto"/>
              </a:rPr>
              <a:t>SUGGESTED CHANGES (make it yours)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4200" y="7171690"/>
            <a:ext cx="285496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" sz="850">
                <a:solidFill>
                  <a:srgbClr val="232A33"/>
                </a:solidFill>
                <a:latin typeface="Roboto"/>
              </a:rPr>
              <a:t>• Replace the fictional corpus with a real public-domain set.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4200" y="7329170"/>
            <a:ext cx="2527300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" sz="850">
                <a:solidFill>
                  <a:srgbClr val="232A33"/>
                </a:solidFill>
                <a:latin typeface="Roboto"/>
              </a:rPr>
              <a:t>• Wire Indian Kanoon (approved key) for live search.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4200" y="7486650"/>
            <a:ext cx="1701800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" sz="850">
                <a:solidFill>
                  <a:srgbClr val="232A33"/>
                </a:solidFill>
                <a:latin typeface="Roboto"/>
              </a:rPr>
              <a:t>• Add a citation-graph visualisation.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4200" y="7644130"/>
            <a:ext cx="1694180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" sz="850">
                <a:solidFill>
                  <a:srgbClr val="232A33"/>
                </a:solidFill>
                <a:latin typeface="Roboto"/>
              </a:rPr>
              <a:t>• Add a 'counter-argument' section.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673350" y="10261600"/>
            <a:ext cx="2213610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" sz="750">
                <a:solidFill>
                  <a:srgbClr val="5C6672"/>
                </a:solidFill>
                <a:latin typeface="Roboto"/>
              </a:rPr>
              <a:t>ChatGPT Codex India Hackathon 2026 - Track Kits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20509" y="10261600"/>
            <a:ext cx="355600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" sz="750">
                <a:solidFill>
                  <a:srgbClr val="5C6672"/>
                </a:solidFill>
                <a:latin typeface="Roboto"/>
              </a:rPr>
              <a:t>Page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0165080"/>
            <a:ext cx="6391909" cy="127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00" y="10217150"/>
            <a:ext cx="635000" cy="171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200" y="584200"/>
            <a:ext cx="6394450" cy="304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" y="1689100"/>
            <a:ext cx="6572250" cy="4953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" y="1612900"/>
            <a:ext cx="6724650" cy="647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600" y="2330450"/>
            <a:ext cx="6597650" cy="45593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6400" y="2254250"/>
            <a:ext cx="6750050" cy="4711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300" y="7035800"/>
            <a:ext cx="6572250" cy="812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9100" y="6959600"/>
            <a:ext cx="6724650" cy="965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6600" y="685800"/>
            <a:ext cx="144145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4" b="1" sz="900">
                <a:solidFill>
                  <a:srgbClr val="FFFFFF"/>
                </a:solidFill>
                <a:latin typeface="Roboto"/>
              </a:rPr>
              <a:t>TRACK 5 · Building Evals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1106170"/>
            <a:ext cx="731519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4" b="1" sz="1400">
                <a:solidFill>
                  <a:srgbClr val="092A49"/>
                </a:solidFill>
                <a:latin typeface="Roboto"/>
              </a:rPr>
              <a:t>RedGate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1308100"/>
            <a:ext cx="2950210" cy="1181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i="1" sz="950">
                <a:solidFill>
                  <a:srgbClr val="5C6672"/>
                </a:solidFill>
                <a:latin typeface="Roboto"/>
              </a:rPr>
              <a:t>Runs a test suite AND a red-team suite; scores + charts.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1565910"/>
            <a:ext cx="102235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8" b="1" sz="800">
                <a:solidFill>
                  <a:srgbClr val="2C6DA3"/>
                </a:solidFill>
                <a:latin typeface="Roboto"/>
              </a:rPr>
              <a:t>API PREREQUISITES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1808480"/>
            <a:ext cx="439547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3" b="1" sz="850">
                <a:solidFill>
                  <a:srgbClr val="232A33"/>
                </a:solidFill>
                <a:latin typeface="Roboto"/>
              </a:rPr>
              <a:t>Deploy / live demo:</a:t>
            </a:r>
            <a:r>
              <a:rPr spc="11" sz="850">
                <a:solidFill>
                  <a:srgbClr val="232A33"/>
                </a:solidFill>
                <a:latin typeface="Roboto"/>
              </a:rPr>
              <a:t> None - deploys and runs the full demo with NO login and NO API key.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4200" y="1963420"/>
            <a:ext cx="591185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4" b="1" sz="850">
                <a:solidFill>
                  <a:srgbClr val="232A33"/>
                </a:solidFill>
                <a:latin typeface="Roboto"/>
              </a:rPr>
              <a:t>Live mode (optional):</a:t>
            </a:r>
            <a:r>
              <a:rPr spc="10" sz="850">
                <a:solidFill>
                  <a:srgbClr val="232A33"/>
                </a:solidFill>
                <a:latin typeface="Roboto"/>
              </a:rPr>
              <a:t> OPENAI_API_KEY (optional) for a live target. The default mock model runs everything with no key.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4200" y="2218690"/>
            <a:ext cx="177800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6" b="1" sz="800">
                <a:solidFill>
                  <a:srgbClr val="2C6DA3"/>
                </a:solidFill>
                <a:latin typeface="Roboto"/>
              </a:rPr>
              <a:t>PROMPT — copy &amp; paste into Codex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2463800"/>
            <a:ext cx="623443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9" sz="800">
                <a:solidFill>
                  <a:srgbClr val="23272E"/>
                </a:solidFill>
                <a:latin typeface="Roboto"/>
              </a:rPr>
              <a:t>You are OpenAI Codex, a senior engineer building an LLM evaluation + red-team tool. Build a COMPLETE,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4200" y="2599690"/>
            <a:ext cx="6391909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4" sz="800">
                <a:solidFill>
                  <a:srgbClr val="23272E"/>
                </a:solidFill>
                <a:latin typeface="Roboto"/>
              </a:rPr>
              <a:t>deployable web app in the current empty folder. No code from me; don't ask questions—note assumptions 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2735580"/>
            <a:ext cx="67945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0" sz="800">
                <a:solidFill>
                  <a:srgbClr val="23272E"/>
                </a:solidFill>
                <a:latin typeface="Roboto"/>
              </a:rPr>
              <a:t>the README.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871470"/>
            <a:ext cx="592582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3" sz="800">
                <a:solidFill>
                  <a:srgbClr val="23272E"/>
                </a:solidFill>
                <a:latin typeface="Roboto"/>
              </a:rPr>
              <a:t>PRODUCT: "RedGate" — run a test suite AND a red-team suite against a target and score it. TRACK: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3007360"/>
            <a:ext cx="92583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2" sz="800">
                <a:solidFill>
                  <a:srgbClr val="23272E"/>
                </a:solidFill>
                <a:latin typeface="Roboto"/>
              </a:rPr>
              <a:t>Building Evals.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3143250"/>
            <a:ext cx="456692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5" sz="800">
                <a:solidFill>
                  <a:srgbClr val="23272E"/>
                </a:solidFill>
                <a:latin typeface="Roboto"/>
              </a:rPr>
              <a:t>CORE FLOW: (1) test suite (/data/suite.json): each case = input, assertion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3279140"/>
            <a:ext cx="6049009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5" sz="800">
                <a:solidFill>
                  <a:srgbClr val="23272E"/>
                </a:solidFill>
                <a:latin typeface="Roboto"/>
              </a:rPr>
              <a:t>(exact|contains|not_contains|regex|json_valid|max_latency_ms|faithfulness), expected; (2) red-team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3415029"/>
            <a:ext cx="598678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9" sz="800">
                <a:solidFill>
                  <a:srgbClr val="23272E"/>
                </a:solidFill>
                <a:latin typeface="Roboto"/>
              </a:rPr>
              <a:t>suite (/data/redteam.json): adversarial prompts each expecting refusal; (3) target = "Mock model"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3550920"/>
            <a:ext cx="610997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0" sz="800">
                <a:solidFill>
                  <a:srgbClr val="23272E"/>
                </a:solidFill>
                <a:latin typeface="Roboto"/>
              </a:rPr>
              <a:t>(default, deterministic /lib/mockModel.ts) or "Live model" (needs key); (4) "Run all" -&gt; scoreboard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3686810"/>
            <a:ext cx="6049009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0" sz="800">
                <a:solidFill>
                  <a:srgbClr val="23272E"/>
                </a:solidFill>
                <a:latin typeface="Roboto"/>
              </a:rPr>
              <a:t>(pass rate, avg latency), red-team scorecard (pass/warn/fail), per-case drawer, run-history chart,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3822700"/>
            <a:ext cx="98806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7" sz="800">
                <a:solidFill>
                  <a:srgbClr val="23272E"/>
                </a:solidFill>
                <a:latin typeface="Roboto"/>
              </a:rPr>
              <a:t>export JSON/CSV.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3958590"/>
            <a:ext cx="635762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2" sz="800">
                <a:solidFill>
                  <a:srgbClr val="23272E"/>
                </a:solidFill>
                <a:latin typeface="Roboto"/>
              </a:rPr>
              <a:t>METRIC DEFINITIONS (implement in /lib/metrics.ts, unit-tested): faithfulness = fraction of the answer's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4094479"/>
            <a:ext cx="617220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7" sz="800">
                <a:solidFill>
                  <a:srgbClr val="23272E"/>
                </a:solidFill>
                <a:latin typeface="Roboto"/>
              </a:rPr>
              <a:t>key nouns/entities that appear in the case's provided context (0–1); red-team: FAIL = model complied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4230370"/>
            <a:ext cx="617220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6" sz="800">
                <a:solidFill>
                  <a:srgbClr val="23272E"/>
                </a:solidFill>
                <a:latin typeface="Roboto"/>
              </a:rPr>
              <a:t>with the harmful request, WARN = partial/hedged compliance, PASS = clean refusal. Pin these in tests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4200" y="4366260"/>
            <a:ext cx="216027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1" sz="800">
                <a:solidFill>
                  <a:srgbClr val="23272E"/>
                </a:solidFill>
                <a:latin typeface="Roboto"/>
              </a:rPr>
              <a:t>with hand-computed expected values.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4502150"/>
            <a:ext cx="610997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6" sz="800">
                <a:solidFill>
                  <a:srgbClr val="23272E"/>
                </a:solidFill>
                <a:latin typeface="Roboto"/>
              </a:rPr>
              <a:t>STACK: Next.js (App Router, latest stable) + TypeScript + Tailwind + Recharts. Deploy: Vercel. Live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4638040"/>
            <a:ext cx="178943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60" sz="800">
                <a:solidFill>
                  <a:srgbClr val="23272E"/>
                </a:solidFill>
                <a:latin typeface="Roboto"/>
              </a:rPr>
              <a:t>calls only in a server route.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4773930"/>
            <a:ext cx="610997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1" sz="800">
                <a:solidFill>
                  <a:srgbClr val="23272E"/>
                </a:solidFill>
                <a:latin typeface="Roboto"/>
              </a:rPr>
              <a:t>PREREQUISITES (also in README): Demo = NO login/key (Mock model runs everything). Live (optional) =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200" y="4909820"/>
            <a:ext cx="1234439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0" sz="800">
                <a:solidFill>
                  <a:srgbClr val="23272E"/>
                </a:solidFill>
                <a:latin typeface="Roboto"/>
              </a:rPr>
              <a:t>OPENAI_API_KEY only.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200" y="5045710"/>
            <a:ext cx="6391909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8" sz="800">
                <a:solidFill>
                  <a:srgbClr val="23272E"/>
                </a:solidFill>
                <a:latin typeface="Roboto"/>
              </a:rPr>
              <a:t>DATA: /data/suite.json (10 cases across all assertion types, incl. 2 faithfulness cases with a `context`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4200" y="5181600"/>
            <a:ext cx="629539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7" sz="800">
                <a:solidFill>
                  <a:srgbClr val="23272E"/>
                </a:solidFill>
                <a:latin typeface="Roboto"/>
              </a:rPr>
              <a:t>field), /data/redteam.json (6 adversarial prompts). Mock model returns deterministic outputs so scores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4200" y="5317490"/>
            <a:ext cx="104902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3" sz="800">
                <a:solidFill>
                  <a:srgbClr val="23272E"/>
                </a:solidFill>
                <a:latin typeface="Roboto"/>
              </a:rPr>
              <a:t>are reproducible.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4200" y="5453380"/>
            <a:ext cx="617220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9" sz="800">
                <a:solidFill>
                  <a:srgbClr val="23272E"/>
                </a:solidFill>
                <a:latin typeface="Roboto"/>
              </a:rPr>
              <a:t>WORK EFFICIENTLY: plan mode first (PLANS.md w/ acceptance commands); parallel reads; high effort for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200" y="5589270"/>
            <a:ext cx="623443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7" sz="800">
                <a:solidFill>
                  <a:srgbClr val="23272E"/>
                </a:solidFill>
                <a:latin typeface="Roboto"/>
              </a:rPr>
              <a:t>metrics/runner, low for UI; app+npm test+typecheck each milestone; /review before done; small commits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5725160"/>
            <a:ext cx="2900679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7" sz="800">
                <a:solidFill>
                  <a:srgbClr val="23272E"/>
                </a:solidFill>
                <a:latin typeface="Roboto"/>
              </a:rPr>
              <a:t>git commit --author="Codex &lt;codex@openai.com&gt;".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200" y="5861050"/>
            <a:ext cx="610997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3" sz="800">
                <a:solidFill>
                  <a:srgbClr val="23272E"/>
                </a:solidFill>
                <a:latin typeface="Roboto"/>
              </a:rPr>
              <a:t>DELIVER: full code; AGENTS.md; README (run + 5-min Vercel deploy + PREREQUISITES + "How Codex built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200" y="5996940"/>
            <a:ext cx="629539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5" sz="800">
                <a:solidFill>
                  <a:srgbClr val="23272E"/>
                </a:solidFill>
                <a:latin typeface="Roboto"/>
              </a:rPr>
              <a:t>this"); exhaustive Vitest tests for EVERY metric + every red-team check (hand-computed expectations) +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6132830"/>
            <a:ext cx="610997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9" sz="800">
                <a:solidFill>
                  <a:srgbClr val="23272E"/>
                </a:solidFill>
                <a:latin typeface="Roboto"/>
              </a:rPr>
              <a:t>the runner + a Playwright smoke test; .env.example; MIT LICENSE; mobile-first + accessible; product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4200" y="6268720"/>
            <a:ext cx="55499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69" sz="800">
                <a:solidFill>
                  <a:srgbClr val="23272E"/>
                </a:solidFill>
                <a:latin typeface="Roboto"/>
              </a:rPr>
              <a:t>original.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6404610"/>
            <a:ext cx="598678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4" sz="800">
                <a:solidFill>
                  <a:srgbClr val="23272E"/>
                </a:solidFill>
                <a:latin typeface="Roboto"/>
              </a:rPr>
              <a:t>DONE WHEN: `npm install &amp;&amp; npm run dev` runs both suites vs the mock model and shows scoreboard +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4200" y="6540500"/>
            <a:ext cx="623443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8" sz="800">
                <a:solidFill>
                  <a:srgbClr val="23272E"/>
                </a:solidFill>
                <a:latin typeface="Roboto"/>
              </a:rPr>
              <a:t>red-team scorecard + chart, no key; npm test passes; npm run build succeeds. Then print run commands,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4200" y="6676390"/>
            <a:ext cx="296291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9" sz="800">
                <a:solidFill>
                  <a:srgbClr val="23272E"/>
                </a:solidFill>
                <a:latin typeface="Roboto"/>
              </a:rPr>
              <a:t>Vercel deploy steps, a 5-line demo-video script.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4200" y="6910070"/>
            <a:ext cx="192532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9" b="1" sz="800">
                <a:solidFill>
                  <a:srgbClr val="2C6DA3"/>
                </a:solidFill>
                <a:latin typeface="Roboto"/>
              </a:rPr>
              <a:t>SUGGESTED CHANGES (make it yours)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4200" y="7152640"/>
            <a:ext cx="217170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" sz="850">
                <a:solidFill>
                  <a:srgbClr val="232A33"/>
                </a:solidFill>
                <a:latin typeface="Roboto"/>
              </a:rPr>
              <a:t>• Point the target at your own app's endpoint.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4200" y="7310120"/>
            <a:ext cx="2702560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850">
                <a:solidFill>
                  <a:srgbClr val="232A33"/>
                </a:solidFill>
                <a:latin typeface="Roboto"/>
              </a:rPr>
              <a:t>• Add metrics (semantic similarity, tool-call correctness).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4200" y="7467600"/>
            <a:ext cx="2138680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" sz="850">
                <a:solidFill>
                  <a:srgbClr val="232A33"/>
                </a:solidFill>
                <a:latin typeface="Roboto"/>
              </a:rPr>
              <a:t>• Expand the red-team suite (OWASP-LLM).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4200" y="7625080"/>
            <a:ext cx="1531620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" sz="850">
                <a:solidFill>
                  <a:srgbClr val="232A33"/>
                </a:solidFill>
                <a:latin typeface="Roboto"/>
              </a:rPr>
              <a:t>• Add CI / GitHub Action output.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673350" y="10261600"/>
            <a:ext cx="2213610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" sz="750">
                <a:solidFill>
                  <a:srgbClr val="5C6672"/>
                </a:solidFill>
                <a:latin typeface="Roboto"/>
              </a:rPr>
              <a:t>ChatGPT Codex India Hackathon 2026 - Track Kits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20509" y="10261600"/>
            <a:ext cx="355600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" sz="750">
                <a:solidFill>
                  <a:srgbClr val="5C6672"/>
                </a:solidFill>
                <a:latin typeface="Roboto"/>
              </a:rPr>
              <a:t>Page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0165080"/>
            <a:ext cx="6391909" cy="127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00" y="10217150"/>
            <a:ext cx="635000" cy="171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200" y="584200"/>
            <a:ext cx="6394450" cy="304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" y="1689100"/>
            <a:ext cx="6572250" cy="4953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" y="1612900"/>
            <a:ext cx="6724650" cy="647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600" y="2330450"/>
            <a:ext cx="6597650" cy="3606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6400" y="2254250"/>
            <a:ext cx="6750050" cy="3759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300" y="6083300"/>
            <a:ext cx="6572250" cy="812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9100" y="6007100"/>
            <a:ext cx="6724650" cy="965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6600" y="685800"/>
            <a:ext cx="144145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4" b="1" sz="900">
                <a:solidFill>
                  <a:srgbClr val="FFFFFF"/>
                </a:solidFill>
                <a:latin typeface="Roboto"/>
              </a:rPr>
              <a:t>TRACK 5 · Building Evals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1106170"/>
            <a:ext cx="141351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0" b="1" sz="1400">
                <a:solidFill>
                  <a:srgbClr val="092A49"/>
                </a:solidFill>
                <a:latin typeface="Roboto"/>
              </a:rPr>
              <a:t>Regression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1308100"/>
            <a:ext cx="3078479" cy="1181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i="1" sz="950">
                <a:solidFill>
                  <a:srgbClr val="5C6672"/>
                </a:solidFill>
                <a:latin typeface="Roboto"/>
              </a:rPr>
              <a:t>Evals every prompt change; blocks a merge on regression.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1565910"/>
            <a:ext cx="102235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8" b="1" sz="800">
                <a:solidFill>
                  <a:srgbClr val="2C6DA3"/>
                </a:solidFill>
                <a:latin typeface="Roboto"/>
              </a:rPr>
              <a:t>API PREREQUISITES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1808480"/>
            <a:ext cx="439547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3" b="1" sz="850">
                <a:solidFill>
                  <a:srgbClr val="232A33"/>
                </a:solidFill>
                <a:latin typeface="Roboto"/>
              </a:rPr>
              <a:t>Deploy / live demo:</a:t>
            </a:r>
            <a:r>
              <a:rPr spc="11" sz="850">
                <a:solidFill>
                  <a:srgbClr val="232A33"/>
                </a:solidFill>
                <a:latin typeface="Roboto"/>
              </a:rPr>
              <a:t> None - deploys and runs the full demo with NO login and NO API key.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4200" y="1963420"/>
            <a:ext cx="486791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4" b="1" sz="850">
                <a:solidFill>
                  <a:srgbClr val="232A33"/>
                </a:solidFill>
                <a:latin typeface="Roboto"/>
              </a:rPr>
              <a:t>Live mode (optional):</a:t>
            </a:r>
            <a:r>
              <a:rPr spc="12" sz="850">
                <a:solidFill>
                  <a:srgbClr val="232A33"/>
                </a:solidFill>
                <a:latin typeface="Roboto"/>
              </a:rPr>
              <a:t> OPENAI_API_KEY (optional) for a live target. Mock model by default, no key.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4200" y="2218690"/>
            <a:ext cx="177800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6" b="1" sz="800">
                <a:solidFill>
                  <a:srgbClr val="2C6DA3"/>
                </a:solidFill>
                <a:latin typeface="Roboto"/>
              </a:rPr>
              <a:t>PROMPT — copy &amp; paste into Codex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2463800"/>
            <a:ext cx="6049009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6" sz="800">
                <a:solidFill>
                  <a:srgbClr val="23272E"/>
                </a:solidFill>
                <a:latin typeface="Roboto"/>
              </a:rPr>
              <a:t>You are OpenAI Codex, a senior engineer. Build a COMPLETE, deployable web app in the current empty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4200" y="2599690"/>
            <a:ext cx="469138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8" sz="800">
                <a:solidFill>
                  <a:srgbClr val="23272E"/>
                </a:solidFill>
                <a:latin typeface="Roboto"/>
              </a:rPr>
              <a:t>folder. No code from me; don't ask questions—note assumptions in the README.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2735580"/>
            <a:ext cx="617220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0" sz="800">
                <a:solidFill>
                  <a:srgbClr val="23272E"/>
                </a:solidFill>
                <a:latin typeface="Roboto"/>
              </a:rPr>
              <a:t>PRODUCT: "Regression Gate" — re-run an eval suite on every prompt change, show score deltas, block 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871470"/>
            <a:ext cx="265430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8" sz="800">
                <a:solidFill>
                  <a:srgbClr val="23272E"/>
                </a:solidFill>
                <a:latin typeface="Roboto"/>
              </a:rPr>
              <a:t>merge on regression. TRACK: Building Evals.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3007360"/>
            <a:ext cx="580136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1" sz="800">
                <a:solidFill>
                  <a:srgbClr val="23272E"/>
                </a:solidFill>
                <a:latin typeface="Roboto"/>
              </a:rPr>
              <a:t>CORE FLOW: (1) simulated "PRs" (/data/prs.json) each changing a prompt; (2) selecting one runs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3143250"/>
            <a:ext cx="623443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6" sz="800">
                <a:solidFill>
                  <a:srgbClr val="23272E"/>
                </a:solidFill>
                <a:latin typeface="Roboto"/>
              </a:rPr>
              <a:t>/data/suite.json vs a built-in mock model, shows pass rate + per-case results + delta vs the baseline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3279140"/>
            <a:ext cx="580136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2" sz="800">
                <a:solidFill>
                  <a:srgbClr val="23272E"/>
                </a:solidFill>
                <a:latin typeface="Roboto"/>
              </a:rPr>
              <a:t>run; (3) a green "Merge allowed" / red "Blocked: regression" gate listing offending cases; (4)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3415029"/>
            <a:ext cx="1666239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7" sz="800">
                <a:solidFill>
                  <a:srgbClr val="23272E"/>
                </a:solidFill>
                <a:latin typeface="Roboto"/>
              </a:rPr>
              <a:t>run-history chart + export.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3550920"/>
            <a:ext cx="623443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8" sz="800">
                <a:solidFill>
                  <a:srgbClr val="23272E"/>
                </a:solidFill>
                <a:latin typeface="Roboto"/>
              </a:rPr>
              <a:t>REGRESSION RULE (define in /lib/regression.ts, unit-tested): BLOCKED if pass-rate drops &gt; 0 points vs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3686810"/>
            <a:ext cx="469138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0" sz="800">
                <a:solidFill>
                  <a:srgbClr val="23272E"/>
                </a:solidFill>
                <a:latin typeface="Roboto"/>
              </a:rPr>
              <a:t>baseline OR any previously-passing case now fails. State the rule in the UI.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3822700"/>
            <a:ext cx="610997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6" sz="800">
                <a:solidFill>
                  <a:srgbClr val="23272E"/>
                </a:solidFill>
                <a:latin typeface="Roboto"/>
              </a:rPr>
              <a:t>STACK: Next.js (App Router, latest stable) + TypeScript + Tailwind + Recharts. Deploy: Vercel. Live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3958590"/>
            <a:ext cx="203708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9" sz="800">
                <a:solidFill>
                  <a:srgbClr val="23272E"/>
                </a:solidFill>
                <a:latin typeface="Roboto"/>
              </a:rPr>
              <a:t>model optional in a server route.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4094479"/>
            <a:ext cx="6391909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1" sz="800">
                <a:solidFill>
                  <a:srgbClr val="23272E"/>
                </a:solidFill>
                <a:latin typeface="Roboto"/>
              </a:rPr>
              <a:t>PREREQUISITES (also in README): Demo = NO login/key (mock model). Live (optional) = OPENAI_API_KEY only.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4230370"/>
            <a:ext cx="574040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2" sz="800">
                <a:solidFill>
                  <a:srgbClr val="23272E"/>
                </a:solidFill>
                <a:latin typeface="Roboto"/>
              </a:rPr>
              <a:t>DATA: /data/prs.json = [{id,title,promptBefore,promptAfter}] (&gt;=3, incl. one that regresses);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4200" y="4366260"/>
            <a:ext cx="271526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8" sz="800">
                <a:solidFill>
                  <a:srgbClr val="23272E"/>
                </a:solidFill>
                <a:latin typeface="Roboto"/>
              </a:rPr>
              <a:t>/data/suite.json shared with the mock model.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4502150"/>
            <a:ext cx="617220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9" sz="800">
                <a:solidFill>
                  <a:srgbClr val="23272E"/>
                </a:solidFill>
                <a:latin typeface="Roboto"/>
              </a:rPr>
              <a:t>WORK EFFICIENTLY: plan mode first (PLANS.md w/ acceptance commands); parallel reads; high effort for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4638040"/>
            <a:ext cx="598678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2" sz="800">
                <a:solidFill>
                  <a:srgbClr val="23272E"/>
                </a:solidFill>
                <a:latin typeface="Roboto"/>
              </a:rPr>
              <a:t>metrics/delta/gate, low for UI; app+npm test+typecheck each milestone; /review before done; small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4773930"/>
            <a:ext cx="339471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2" sz="800">
                <a:solidFill>
                  <a:srgbClr val="23272E"/>
                </a:solidFill>
                <a:latin typeface="Roboto"/>
              </a:rPr>
              <a:t>commits git commit --author="Codex &lt;codex@openai.com&gt;".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200" y="4909820"/>
            <a:ext cx="610997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7" sz="800">
                <a:solidFill>
                  <a:srgbClr val="23272E"/>
                </a:solidFill>
                <a:latin typeface="Roboto"/>
              </a:rPr>
              <a:t>DELIVER: full code; AGENTS.md; README (run + 5-min Vercel deploy + PREREQUISITES + how to wire real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200" y="5045710"/>
            <a:ext cx="629539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6" sz="800">
                <a:solidFill>
                  <a:srgbClr val="23272E"/>
                </a:solidFill>
                <a:latin typeface="Roboto"/>
              </a:rPr>
              <a:t>GitHub Actions + "How Codex built this"); Vitest tests for metrics + delta + gate + a Playwright smoke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4200" y="5181600"/>
            <a:ext cx="635762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5" sz="800">
                <a:solidFill>
                  <a:srgbClr val="23272E"/>
                </a:solidFill>
                <a:latin typeface="Roboto"/>
              </a:rPr>
              <a:t>test (select regressing PR -&gt; "Blocked"); .env.example; MIT LICENSE; mobile-first + accessible; product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4200" y="5317490"/>
            <a:ext cx="55499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69" sz="800">
                <a:solidFill>
                  <a:srgbClr val="23272E"/>
                </a:solidFill>
                <a:latin typeface="Roboto"/>
              </a:rPr>
              <a:t>original.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4200" y="5453380"/>
            <a:ext cx="617220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0" sz="800">
                <a:solidFill>
                  <a:srgbClr val="23272E"/>
                </a:solidFill>
                <a:latin typeface="Roboto"/>
              </a:rPr>
              <a:t>DONE WHEN: `npm install &amp;&amp; npm run dev` runs a simulated PR and shows a correct pass/block gate with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200" y="5589270"/>
            <a:ext cx="6391909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2" sz="800">
                <a:solidFill>
                  <a:srgbClr val="23272E"/>
                </a:solidFill>
                <a:latin typeface="Roboto"/>
              </a:rPr>
              <a:t>deltas, no key; npm test passes; npm run build succeeds. Then print run commands, Vercel deploy steps, 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5725160"/>
            <a:ext cx="154305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7" sz="800">
                <a:solidFill>
                  <a:srgbClr val="23272E"/>
                </a:solidFill>
                <a:latin typeface="Roboto"/>
              </a:rPr>
              <a:t>5-line demo-video script.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200" y="5958840"/>
            <a:ext cx="192532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9" b="1" sz="800">
                <a:solidFill>
                  <a:srgbClr val="2C6DA3"/>
                </a:solidFill>
                <a:latin typeface="Roboto"/>
              </a:rPr>
              <a:t>SUGGESTED CHANGES (make it yours)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200" y="6201410"/>
            <a:ext cx="214122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" sz="850">
                <a:solidFill>
                  <a:srgbClr val="232A33"/>
                </a:solidFill>
                <a:latin typeface="Roboto"/>
              </a:rPr>
              <a:t>• Wire a real GitHub Action + PR comments.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6358890"/>
            <a:ext cx="2490470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" sz="850">
                <a:solidFill>
                  <a:srgbClr val="232A33"/>
                </a:solidFill>
                <a:latin typeface="Roboto"/>
              </a:rPr>
              <a:t>• Tune the regression rule (allow a small tolerance).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4200" y="6516370"/>
            <a:ext cx="1112520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" sz="850">
                <a:solidFill>
                  <a:srgbClr val="232A33"/>
                </a:solidFill>
                <a:latin typeface="Roboto"/>
              </a:rPr>
              <a:t>• Add per-metric gates.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6673850"/>
            <a:ext cx="1828800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" sz="850">
                <a:solidFill>
                  <a:srgbClr val="232A33"/>
                </a:solidFill>
                <a:latin typeface="Roboto"/>
              </a:rPr>
              <a:t>• Add a Slack/webhook alert on block.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73350" y="10261600"/>
            <a:ext cx="2213610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" sz="750">
                <a:solidFill>
                  <a:srgbClr val="5C6672"/>
                </a:solidFill>
                <a:latin typeface="Roboto"/>
              </a:rPr>
              <a:t>ChatGPT Codex India Hackathon 2026 - Track Kits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20509" y="10261600"/>
            <a:ext cx="355600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" sz="750">
                <a:solidFill>
                  <a:srgbClr val="5C6672"/>
                </a:solidFill>
                <a:latin typeface="Roboto"/>
              </a:rPr>
              <a:t>Page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0165080"/>
            <a:ext cx="6391909" cy="127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00" y="10217150"/>
            <a:ext cx="635000" cy="171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200" y="584200"/>
            <a:ext cx="6394450" cy="304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" y="1689100"/>
            <a:ext cx="6572250" cy="4953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" y="1612900"/>
            <a:ext cx="6724650" cy="647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600" y="2330450"/>
            <a:ext cx="6597650" cy="3746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6400" y="2254250"/>
            <a:ext cx="6750050" cy="38989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300" y="6223000"/>
            <a:ext cx="6572250" cy="812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9100" y="6146800"/>
            <a:ext cx="6724650" cy="965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6600" y="685800"/>
            <a:ext cx="144145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4" b="1" sz="900">
                <a:solidFill>
                  <a:srgbClr val="FFFFFF"/>
                </a:solidFill>
                <a:latin typeface="Roboto"/>
              </a:rPr>
              <a:t>TRACK 5 · Building Evals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1106170"/>
            <a:ext cx="160020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2" b="1" sz="1400">
                <a:solidFill>
                  <a:srgbClr val="092A49"/>
                </a:solidFill>
                <a:latin typeface="Roboto"/>
              </a:rPr>
              <a:t>Faithfulness Radar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1308100"/>
            <a:ext cx="3140710" cy="1181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2" i="1" sz="950">
                <a:solidFill>
                  <a:srgbClr val="5C6672"/>
                </a:solidFill>
                <a:latin typeface="Roboto"/>
              </a:rPr>
              <a:t>Scores a RAG agent (faithfulness/hallucination) + drift chart.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1565910"/>
            <a:ext cx="102235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8" b="1" sz="800">
                <a:solidFill>
                  <a:srgbClr val="2C6DA3"/>
                </a:solidFill>
                <a:latin typeface="Roboto"/>
              </a:rPr>
              <a:t>API PREREQUISITES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1808480"/>
            <a:ext cx="439547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3" b="1" sz="850">
                <a:solidFill>
                  <a:srgbClr val="232A33"/>
                </a:solidFill>
                <a:latin typeface="Roboto"/>
              </a:rPr>
              <a:t>Deploy / live demo:</a:t>
            </a:r>
            <a:r>
              <a:rPr spc="11" sz="850">
                <a:solidFill>
                  <a:srgbClr val="232A33"/>
                </a:solidFill>
                <a:latin typeface="Roboto"/>
              </a:rPr>
              <a:t> None - deploys and runs the full demo with NO login and NO API key.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4200" y="1963420"/>
            <a:ext cx="621538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4" b="1" sz="850">
                <a:solidFill>
                  <a:srgbClr val="232A33"/>
                </a:solidFill>
                <a:latin typeface="Roboto"/>
              </a:rPr>
              <a:t>Live mode (optional):</a:t>
            </a:r>
            <a:r>
              <a:rPr spc="11" sz="850">
                <a:solidFill>
                  <a:srgbClr val="232A33"/>
                </a:solidFill>
                <a:latin typeface="Roboto"/>
              </a:rPr>
              <a:t> OPENAI_API_KEY (optional) for LLM-as-judge on uploaded datasets. Deterministic scorers need no key.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4200" y="2218690"/>
            <a:ext cx="177800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6" b="1" sz="800">
                <a:solidFill>
                  <a:srgbClr val="2C6DA3"/>
                </a:solidFill>
                <a:latin typeface="Roboto"/>
              </a:rPr>
              <a:t>PROMPT — copy &amp; paste into Codex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2463800"/>
            <a:ext cx="6049009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6" sz="800">
                <a:solidFill>
                  <a:srgbClr val="23272E"/>
                </a:solidFill>
                <a:latin typeface="Roboto"/>
              </a:rPr>
              <a:t>You are OpenAI Codex, a senior engineer. Build a COMPLETE, deployable web app in the current empty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4200" y="2599690"/>
            <a:ext cx="469138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8" sz="800">
                <a:solidFill>
                  <a:srgbClr val="23272E"/>
                </a:solidFill>
                <a:latin typeface="Roboto"/>
              </a:rPr>
              <a:t>folder. No code from me; don't ask questions—note assumptions in the README.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2735580"/>
            <a:ext cx="327152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9" sz="800">
                <a:solidFill>
                  <a:srgbClr val="23272E"/>
                </a:solidFill>
                <a:latin typeface="Roboto"/>
              </a:rPr>
              <a:t>PRODUCT: "Faithfulness Radar" — score a RAG agent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871470"/>
            <a:ext cx="580136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5" sz="800">
                <a:solidFill>
                  <a:srgbClr val="23272E"/>
                </a:solidFill>
                <a:latin typeface="Roboto"/>
              </a:rPr>
              <a:t>faithfulness/hallucination/relevancy/context-precision and chart drift. TRACK: Building Evals.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3007360"/>
            <a:ext cx="629539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3" sz="800">
                <a:solidFill>
                  <a:srgbClr val="23272E"/>
                </a:solidFill>
                <a:latin typeface="Roboto"/>
              </a:rPr>
              <a:t>CORE FLOW: (1) bundled /data/rag.json (question, context[], answer, groundTruth); (2) "Score" computes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3143250"/>
            <a:ext cx="610997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4" sz="800">
                <a:solidFill>
                  <a:srgbClr val="23272E"/>
                </a:solidFill>
                <a:latin typeface="Roboto"/>
              </a:rPr>
              <a:t>the 4 metrics with the DETERMINISTIC heuristics below; (3) dashboard + per-question drill-down + 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3279140"/>
            <a:ext cx="376555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8" sz="800">
                <a:solidFill>
                  <a:srgbClr val="23272E"/>
                </a:solidFill>
                <a:latin typeface="Roboto"/>
              </a:rPr>
              <a:t>over-time drift chart across saved runs; (4) export JSON/CSV.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3415029"/>
            <a:ext cx="586359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7" sz="800">
                <a:solidFill>
                  <a:srgbClr val="23272E"/>
                </a:solidFill>
                <a:latin typeface="Roboto"/>
              </a:rPr>
              <a:t>HEURISTIC DEFINITIONS (implement in /lib/metrics.ts, unit-tested against hand-computed values):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3550920"/>
            <a:ext cx="623443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7" sz="800">
                <a:solidFill>
                  <a:srgbClr val="23272E"/>
                </a:solidFill>
                <a:latin typeface="Roboto"/>
              </a:rPr>
              <a:t>- faithfulness = fraction of answer sentences whose key nouns/entities all appear in context[] (0–1);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3686810"/>
            <a:ext cx="228346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9" sz="800">
                <a:solidFill>
                  <a:srgbClr val="23272E"/>
                </a:solidFill>
                <a:latin typeface="Roboto"/>
              </a:rPr>
              <a:t>- hallucinationRate = 1 faithfulness;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3822700"/>
            <a:ext cx="444373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2" sz="800">
                <a:solidFill>
                  <a:srgbClr val="23272E"/>
                </a:solidFill>
                <a:latin typeface="Roboto"/>
              </a:rPr>
              <a:t>- answerRelevancy = token-overlap (Jaccard) between question and answer;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3958590"/>
            <a:ext cx="574040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8" sz="800">
                <a:solidFill>
                  <a:srgbClr val="23272E"/>
                </a:solidFill>
                <a:latin typeface="Roboto"/>
              </a:rPr>
              <a:t>- contextPrecision = fraction of context[] chunks that share &gt;=1 key entity with groundTruth.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4094479"/>
            <a:ext cx="610997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6" sz="800">
                <a:solidFill>
                  <a:srgbClr val="23272E"/>
                </a:solidFill>
                <a:latin typeface="Roboto"/>
              </a:rPr>
              <a:t>STACK: Next.js (App Router, latest stable) + TypeScript + Tailwind + Recharts. Deploy: Vercel. Live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4230370"/>
            <a:ext cx="228346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6" sz="800">
                <a:solidFill>
                  <a:srgbClr val="23272E"/>
                </a:solidFill>
                <a:latin typeface="Roboto"/>
              </a:rPr>
              <a:t>LLM-judge optional in a server route.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4200" y="4366260"/>
            <a:ext cx="580136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8" sz="800">
                <a:solidFill>
                  <a:srgbClr val="23272E"/>
                </a:solidFill>
                <a:latin typeface="Roboto"/>
              </a:rPr>
              <a:t>PREREQUISITES (also in README): Demo = NO login/key (deterministic scorers). Live (optional) =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4502150"/>
            <a:ext cx="3148329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6" sz="800">
                <a:solidFill>
                  <a:srgbClr val="23272E"/>
                </a:solidFill>
                <a:latin typeface="Roboto"/>
              </a:rPr>
              <a:t>OPENAI_API_KEY (LLM-as-judge on uploaded datasets).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4638040"/>
            <a:ext cx="629539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3" sz="800">
                <a:solidFill>
                  <a:srgbClr val="23272E"/>
                </a:solidFill>
                <a:latin typeface="Roboto"/>
              </a:rPr>
              <a:t>DATA: /data/rag.json = ~8 items incl. 2 deliberately unfaithful answers so the metrics visibly differ.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4773930"/>
            <a:ext cx="6391909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9" sz="800">
                <a:solidFill>
                  <a:srgbClr val="23272E"/>
                </a:solidFill>
                <a:latin typeface="Roboto"/>
              </a:rPr>
              <a:t>WORK EFFICIENTLY: plan mode first (PLANS.md w/ acceptance commands); parallel reads; high effort for the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200" y="4909820"/>
            <a:ext cx="6049009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2" sz="800">
                <a:solidFill>
                  <a:srgbClr val="23272E"/>
                </a:solidFill>
                <a:latin typeface="Roboto"/>
              </a:rPr>
              <a:t>scorers, low for UI; app+npm test+typecheck each milestone; /review before done; small commits git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200" y="5045710"/>
            <a:ext cx="265430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6" sz="800">
                <a:solidFill>
                  <a:srgbClr val="23272E"/>
                </a:solidFill>
                <a:latin typeface="Roboto"/>
              </a:rPr>
              <a:t>commit --author="Codex &lt;codex@openai.com&gt;".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4200" y="5181600"/>
            <a:ext cx="610997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6" sz="800">
                <a:solidFill>
                  <a:srgbClr val="23272E"/>
                </a:solidFill>
                <a:latin typeface="Roboto"/>
              </a:rPr>
              <a:t>DELIVER: full code; AGENTS.md; README (run + 5-min Vercel deploy + PREREQUISITES + the exact metric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4200" y="5317490"/>
            <a:ext cx="635762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7" sz="800">
                <a:solidFill>
                  <a:srgbClr val="23272E"/>
                </a:solidFill>
                <a:latin typeface="Roboto"/>
              </a:rPr>
              <a:t>formulas + "How Codex built this"); Vitest tests per metric pinned to hand-computed expected values + 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4200" y="5453380"/>
            <a:ext cx="580136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2" sz="800">
                <a:solidFill>
                  <a:srgbClr val="23272E"/>
                </a:solidFill>
                <a:latin typeface="Roboto"/>
              </a:rPr>
              <a:t>Playwright smoke test; .env.example; MIT LICENSE; mobile-first + accessible; product original.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200" y="5589270"/>
            <a:ext cx="617220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5" sz="800">
                <a:solidFill>
                  <a:srgbClr val="23272E"/>
                </a:solidFill>
                <a:latin typeface="Roboto"/>
              </a:rPr>
              <a:t>DONE WHEN: `npm install &amp;&amp; npm run dev` scores the sample dataset (unfaithful items score lower) and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5725160"/>
            <a:ext cx="623443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3" sz="800">
                <a:solidFill>
                  <a:srgbClr val="23272E"/>
                </a:solidFill>
                <a:latin typeface="Roboto"/>
              </a:rPr>
              <a:t>shows a drift chart, no key; npm test passes; npm run build succeeds. Then print run commands, Vercel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200" y="5861050"/>
            <a:ext cx="253111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9" sz="800">
                <a:solidFill>
                  <a:srgbClr val="23272E"/>
                </a:solidFill>
                <a:latin typeface="Roboto"/>
              </a:rPr>
              <a:t>deploy steps, a 5-line demo-video script.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200" y="6094730"/>
            <a:ext cx="192532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9" b="1" sz="800">
                <a:solidFill>
                  <a:srgbClr val="2C6DA3"/>
                </a:solidFill>
                <a:latin typeface="Roboto"/>
              </a:rPr>
              <a:t>SUGGESTED CHANGES (make it yours)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6337300"/>
            <a:ext cx="2569210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" sz="850">
                <a:solidFill>
                  <a:srgbClr val="232A33"/>
                </a:solidFill>
                <a:latin typeface="Roboto"/>
              </a:rPr>
              <a:t>• Plug in your own RAG dataset (upload CSV/JSON).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4200" y="6494780"/>
            <a:ext cx="2721610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" sz="850">
                <a:solidFill>
                  <a:srgbClr val="232A33"/>
                </a:solidFill>
                <a:latin typeface="Roboto"/>
              </a:rPr>
              <a:t>• Add an LLM-judge mode and compare vs the heuristic.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6652259"/>
            <a:ext cx="1737360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" sz="850">
                <a:solidFill>
                  <a:srgbClr val="232A33"/>
                </a:solidFill>
                <a:latin typeface="Roboto"/>
              </a:rPr>
              <a:t>• Add per-source attribution scoring.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4200" y="6809740"/>
            <a:ext cx="180467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" sz="850">
                <a:solidFill>
                  <a:srgbClr val="232A33"/>
                </a:solidFill>
                <a:latin typeface="Roboto"/>
              </a:rPr>
              <a:t>• Alert when drift crosses a threshold.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673350" y="10261600"/>
            <a:ext cx="2213610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" sz="750">
                <a:solidFill>
                  <a:srgbClr val="5C6672"/>
                </a:solidFill>
                <a:latin typeface="Roboto"/>
              </a:rPr>
              <a:t>ChatGPT Codex India Hackathon 2026 - Track Kits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20509" y="10261600"/>
            <a:ext cx="355600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" sz="750">
                <a:solidFill>
                  <a:srgbClr val="5C6672"/>
                </a:solidFill>
                <a:latin typeface="Roboto"/>
              </a:rPr>
              <a:t>Page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0165080"/>
            <a:ext cx="6391909" cy="127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00" y="10217150"/>
            <a:ext cx="635000" cy="171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200" y="584200"/>
            <a:ext cx="6394450" cy="304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" y="1689100"/>
            <a:ext cx="6572250" cy="6540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" y="1612900"/>
            <a:ext cx="6724650" cy="806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600" y="2489200"/>
            <a:ext cx="6597650" cy="523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6400" y="2413000"/>
            <a:ext cx="6750050" cy="538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300" y="7874000"/>
            <a:ext cx="6572250" cy="812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9100" y="7797800"/>
            <a:ext cx="6724650" cy="965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6600" y="685800"/>
            <a:ext cx="252349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8" b="1" sz="900">
                <a:solidFill>
                  <a:srgbClr val="FFFFFF"/>
                </a:solidFill>
                <a:latin typeface="Roboto"/>
              </a:rPr>
              <a:t>TRACK 6 · AI Agents for Bharat's Businesses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1106170"/>
            <a:ext cx="642619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4" b="1" sz="1400">
                <a:solidFill>
                  <a:srgbClr val="092A49"/>
                </a:solidFill>
                <a:latin typeface="Roboto"/>
              </a:rPr>
              <a:t>Vyapari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1308100"/>
            <a:ext cx="3091179" cy="1181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i="1" sz="950">
                <a:solidFill>
                  <a:srgbClr val="5C6672"/>
                </a:solidFill>
                <a:latin typeface="Roboto"/>
              </a:rPr>
              <a:t>WhatsApp-style invoicing + fuzzy UPI reconciliation + GST.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1565910"/>
            <a:ext cx="102235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8" b="1" sz="800">
                <a:solidFill>
                  <a:srgbClr val="2C6DA3"/>
                </a:solidFill>
                <a:latin typeface="Roboto"/>
              </a:rPr>
              <a:t>API PREREQUISITES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1808480"/>
            <a:ext cx="439547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3" b="1" sz="850">
                <a:solidFill>
                  <a:srgbClr val="232A33"/>
                </a:solidFill>
                <a:latin typeface="Roboto"/>
              </a:rPr>
              <a:t>Deploy / live demo:</a:t>
            </a:r>
            <a:r>
              <a:rPr spc="11" sz="850">
                <a:solidFill>
                  <a:srgbClr val="232A33"/>
                </a:solidFill>
                <a:latin typeface="Roboto"/>
              </a:rPr>
              <a:t> None - deploys and runs the full demo with NO login and NO API key.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4200" y="1963420"/>
            <a:ext cx="617982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4" b="1" sz="850">
                <a:solidFill>
                  <a:srgbClr val="232A33"/>
                </a:solidFill>
                <a:latin typeface="Roboto"/>
              </a:rPr>
              <a:t>Live mode (optional):</a:t>
            </a:r>
            <a:r>
              <a:rPr spc="15" sz="850">
                <a:solidFill>
                  <a:srgbClr val="232A33"/>
                </a:solidFill>
                <a:latin typeface="Roboto"/>
              </a:rPr>
              <a:t> OPENAI_API_KEY (optional) for robust parsing. A REAL WhatsApp version needs WhatsApp Cloud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4200" y="2118360"/>
            <a:ext cx="527812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" sz="850">
                <a:solidFill>
                  <a:srgbClr val="232A33"/>
                </a:solidFill>
                <a:latin typeface="Roboto"/>
              </a:rPr>
              <a:t>(business verification ~2-7 days); Indic voice via Bhashini (PoC tier, not free for prod). Browser: Web Speech.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2373630"/>
            <a:ext cx="177800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6" b="1" sz="800">
                <a:solidFill>
                  <a:srgbClr val="2C6DA3"/>
                </a:solidFill>
                <a:latin typeface="Roboto"/>
              </a:rPr>
              <a:t>PROMPT — copy &amp; paste into Codex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4200" y="2618740"/>
            <a:ext cx="586359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0" sz="800">
                <a:solidFill>
                  <a:srgbClr val="23272E"/>
                </a:solidFill>
                <a:latin typeface="Roboto"/>
              </a:rPr>
              <a:t>You are OpenAI Codex, a senior full-stack engineer building for Indian MSMEs. Build a COMPLETE,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2754630"/>
            <a:ext cx="6391909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4" sz="800">
                <a:solidFill>
                  <a:srgbClr val="23272E"/>
                </a:solidFill>
                <a:latin typeface="Roboto"/>
              </a:rPr>
              <a:t>deployable web app in the current empty folder. No code from me; don't ask questions—note assumptions 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890520"/>
            <a:ext cx="67945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0" sz="800">
                <a:solidFill>
                  <a:srgbClr val="23272E"/>
                </a:solidFill>
                <a:latin typeface="Roboto"/>
              </a:rPr>
              <a:t>the README.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3026410"/>
            <a:ext cx="592582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5" sz="800">
                <a:solidFill>
                  <a:srgbClr val="23272E"/>
                </a:solidFill>
                <a:latin typeface="Roboto"/>
              </a:rPr>
              <a:t>PRODUCT: "Vyapari" — a WhatsApp-style assistant for a kirana shop: plain-language invoicing, UPI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3162300"/>
            <a:ext cx="598678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4" sz="800">
                <a:solidFill>
                  <a:srgbClr val="23272E"/>
                </a:solidFill>
                <a:latin typeface="Roboto"/>
              </a:rPr>
              <a:t>reconciliation, GST reminders, bilingual + Hindi voice. TRACK: AI Agents for Bharat's Businesses.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3298190"/>
            <a:ext cx="635762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3" sz="800">
                <a:solidFill>
                  <a:srgbClr val="23272E"/>
                </a:solidFill>
                <a:latin typeface="Roboto"/>
              </a:rPr>
              <a:t>CORE FLOW (mobile-first chat UI): (1) invoice by message: parse "2 kg cheeni 90, 1 Parle-G 10, chai 20"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3434079"/>
            <a:ext cx="623443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0" sz="800">
                <a:solidFill>
                  <a:srgbClr val="23272E"/>
                </a:solidFill>
                <a:latin typeface="Roboto"/>
              </a:rPr>
              <a:t>via the grammar below -&gt; invoice + total + shareable summary -&gt; Open Invoices; (2) reconcile: paste 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3569970"/>
            <a:ext cx="6391909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5" sz="800">
                <a:solidFill>
                  <a:srgbClr val="23272E"/>
                </a:solidFill>
                <a:latin typeface="Roboto"/>
              </a:rPr>
              <a:t>UPI/bank SMS -&gt; fuzzy-match to an open invoice via the formula below -&gt; mark paid or ask to confirm; (3)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3705860"/>
            <a:ext cx="635762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6" sz="800">
                <a:solidFill>
                  <a:srgbClr val="23272E"/>
                </a:solidFill>
                <a:latin typeface="Roboto"/>
              </a:rPr>
              <a:t>ledger: "Who owes me" (+ages), "Send GST reminder" (drafts a message — TEXT only, no rate math), weekly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3841750"/>
            <a:ext cx="407416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5" sz="800">
                <a:solidFill>
                  <a:srgbClr val="23272E"/>
                </a:solidFill>
                <a:latin typeface="Roboto"/>
              </a:rPr>
              <a:t>sales total; (4) English/Hindi toggle for UI + generated messages.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3977640"/>
            <a:ext cx="580136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1" sz="800">
                <a:solidFill>
                  <a:srgbClr val="23272E"/>
                </a:solidFill>
                <a:latin typeface="Roboto"/>
              </a:rPr>
              <a:t>INVOICE GRAMMAR (deterministic /lib/invoiceParser.ts): `&lt;qty&gt;&lt;unit?&gt; &lt;item&gt; &lt;price&gt;` repeated,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4113529"/>
            <a:ext cx="617220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4" sz="800">
                <a:solidFill>
                  <a:srgbClr val="23272E"/>
                </a:solidFill>
                <a:latin typeface="Roboto"/>
              </a:rPr>
              <a:t>comma-separated; unit {kg,g,l,ml,pc,pkt,dozen}; if a token can't be parsed, flag it for manual entry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4249420"/>
            <a:ext cx="617220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6" sz="800">
                <a:solidFill>
                  <a:srgbClr val="23272E"/>
                </a:solidFill>
                <a:latin typeface="Roboto"/>
              </a:rPr>
              <a:t>(don't guess). Scope parsing to Hinglish/Latin script; Hindi-voice transcripts are transliterated 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4200" y="4385310"/>
            <a:ext cx="203708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7" sz="800">
                <a:solidFill>
                  <a:srgbClr val="23272E"/>
                </a:solidFill>
                <a:latin typeface="Roboto"/>
              </a:rPr>
              <a:t>Latin before parsing (note this).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4521200"/>
            <a:ext cx="610997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5" sz="800">
                <a:solidFill>
                  <a:srgbClr val="23272E"/>
                </a:solidFill>
                <a:latin typeface="Roboto"/>
              </a:rPr>
              <a:t>RECONCILE (deterministic /lib/reconcile.ts): score = 0.5*amountExact + 0.3*JaroWinkler(payerName) 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4657090"/>
            <a:ext cx="592582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6" sz="800">
                <a:solidFill>
                  <a:srgbClr val="23272E"/>
                </a:solidFill>
                <a:latin typeface="Roboto"/>
              </a:rPr>
              <a:t>0.2*keywordOverlap(narration, invoice); &gt;=0.8 auto-match, 0.5–0.8 ask-to-confirm, &lt;0.5 no match.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4792980"/>
            <a:ext cx="160528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3" sz="800">
                <a:solidFill>
                  <a:srgbClr val="23272E"/>
                </a:solidFill>
                <a:latin typeface="Roboto"/>
              </a:rPr>
              <a:t>Unit-test all three bands.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200" y="4928870"/>
            <a:ext cx="623443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0" sz="800">
                <a:solidFill>
                  <a:srgbClr val="23272E"/>
                </a:solidFill>
                <a:latin typeface="Roboto"/>
              </a:rPr>
              <a:t>STACK: Next.js (App Router, latest stable) + TypeScript + Tailwind + Web Speech API (feature-detect).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200" y="5064760"/>
            <a:ext cx="320929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9" sz="800">
                <a:solidFill>
                  <a:srgbClr val="23272E"/>
                </a:solidFill>
                <a:latin typeface="Roboto"/>
              </a:rPr>
              <a:t>Deploy: Vercel. Optional LLM only in a server route.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4200" y="5200650"/>
            <a:ext cx="6049009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4" sz="800">
                <a:solidFill>
                  <a:srgbClr val="23272E"/>
                </a:solidFill>
                <a:latin typeface="Roboto"/>
              </a:rPr>
              <a:t>PREREQUISITES (also in README): Demo = NO login/key (deterministic parser+reconcile, localStorage,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4200" y="5336540"/>
            <a:ext cx="623443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6" sz="800">
                <a:solidFill>
                  <a:srgbClr val="23272E"/>
                </a:solidFill>
                <a:latin typeface="Roboto"/>
              </a:rPr>
              <a:t>seeded data). Live (optional) = OPENAI_API_KEY only. A REAL WhatsApp version needs the WhatsApp Cloud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4200" y="5472430"/>
            <a:ext cx="635762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7" sz="800">
                <a:solidFill>
                  <a:srgbClr val="23272E"/>
                </a:solidFill>
                <a:latin typeface="Roboto"/>
              </a:rPr>
              <a:t>API (business verification takes ~2–7 business days) and, for Indic voice, Bhashini (PoC/non-production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200" y="5608320"/>
            <a:ext cx="598678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2" sz="800">
                <a:solidFill>
                  <a:srgbClr val="23272E"/>
                </a:solidFill>
                <a:latin typeface="Roboto"/>
              </a:rPr>
              <a:t>tier only, not free for production) — NEITHER is used in this demo; this is a web/PWA that mimics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5744210"/>
            <a:ext cx="222250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0" sz="800">
                <a:solidFill>
                  <a:srgbClr val="23272E"/>
                </a:solidFill>
                <a:latin typeface="Roboto"/>
              </a:rPr>
              <a:t>WhatsApp UX with zero external deps.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200" y="5880100"/>
            <a:ext cx="610997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5" sz="800">
                <a:solidFill>
                  <a:srgbClr val="23272E"/>
                </a:solidFill>
                <a:latin typeface="Roboto"/>
              </a:rPr>
              <a:t>DATA: /data/seed.json = products + 3 open invoices + 3 realistic bank-SMS strings in 2 bank formats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200" y="6015990"/>
            <a:ext cx="6391909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3" sz="800">
                <a:solidFill>
                  <a:srgbClr val="23272E"/>
                </a:solidFill>
                <a:latin typeface="Roboto"/>
              </a:rPr>
              <a:t>incl. one truncated/ambiguous, e.g. "Rs.200.00 credited to a/c XX1234 on 30-07-26 from VPA parleg@okaxis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6151880"/>
            <a:ext cx="4011929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1" sz="800">
                <a:solidFill>
                  <a:srgbClr val="23272E"/>
                </a:solidFill>
                <a:latin typeface="Roboto"/>
              </a:rPr>
              <a:t>(Ramesh Kumar) UPI Ref 123456789012" and a terser HDFC-style one.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4200" y="6287770"/>
            <a:ext cx="617220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9" sz="800">
                <a:solidFill>
                  <a:srgbClr val="23272E"/>
                </a:solidFill>
                <a:latin typeface="Roboto"/>
              </a:rPr>
              <a:t>WORK EFFICIENTLY: plan mode first (PLANS.md w/ acceptance commands); parallel reads; high effort for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6423660"/>
            <a:ext cx="635762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6" sz="800">
                <a:solidFill>
                  <a:srgbClr val="23272E"/>
                </a:solidFill>
                <a:latin typeface="Roboto"/>
              </a:rPr>
              <a:t>parser + fuzzy reconcile, low for UI; app+npm test+typecheck each milestone; /review before done; small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4200" y="6559550"/>
            <a:ext cx="339471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2" sz="800">
                <a:solidFill>
                  <a:srgbClr val="23272E"/>
                </a:solidFill>
                <a:latin typeface="Roboto"/>
              </a:rPr>
              <a:t>commits git commit --author="Codex &lt;codex@openai.com&gt;".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4200" y="6695440"/>
            <a:ext cx="623443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9" sz="800">
                <a:solidFill>
                  <a:srgbClr val="23272E"/>
                </a:solidFill>
                <a:latin typeface="Roboto"/>
              </a:rPr>
              <a:t>DELIVER: full code; AGENTS.md; README (run + 5-min Vercel deploy + PREREQUISITES + Web Speech notes +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4200" y="6831330"/>
            <a:ext cx="623443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4" sz="800">
                <a:solidFill>
                  <a:srgbClr val="23272E"/>
                </a:solidFill>
                <a:latin typeface="Roboto"/>
              </a:rPr>
              <a:t>"How Codex built this"); Vitest tests for invoiceParser + reconcile (all 3 bands, incl. the ambiguous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4200" y="6967220"/>
            <a:ext cx="598678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9" sz="800">
                <a:solidFill>
                  <a:srgbClr val="23272E"/>
                </a:solidFill>
                <a:latin typeface="Roboto"/>
              </a:rPr>
              <a:t>SMS) + a Playwright smoke test; .env.example; MIT LICENSE; mobile-first + accessible + bilingual;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4200" y="7103109"/>
            <a:ext cx="104902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4" sz="800">
                <a:solidFill>
                  <a:srgbClr val="23272E"/>
                </a:solidFill>
                <a:latin typeface="Roboto"/>
              </a:rPr>
              <a:t>product original.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4200" y="7239000"/>
            <a:ext cx="592582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3" sz="800">
                <a:solidFill>
                  <a:srgbClr val="23272E"/>
                </a:solidFill>
                <a:latin typeface="Roboto"/>
              </a:rPr>
              <a:t>DONE WHEN: `npm install &amp;&amp; npm run dev` creates an invoice by message and reconciles the clean +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4200" y="7374890"/>
            <a:ext cx="635762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2" sz="800">
                <a:solidFill>
                  <a:srgbClr val="23272E"/>
                </a:solidFill>
                <a:latin typeface="Roboto"/>
              </a:rPr>
              <a:t>ambiguous payments correctly, no key; npm test passes; npm run build succeeds. Then print run commands,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4200" y="7510780"/>
            <a:ext cx="296291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9" sz="800">
                <a:solidFill>
                  <a:srgbClr val="23272E"/>
                </a:solidFill>
                <a:latin typeface="Roboto"/>
              </a:rPr>
              <a:t>Vercel deploy steps, a 5-line demo-video script.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4200" y="7744459"/>
            <a:ext cx="192532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9" b="1" sz="800">
                <a:solidFill>
                  <a:srgbClr val="2C6DA3"/>
                </a:solidFill>
                <a:latin typeface="Roboto"/>
              </a:rPr>
              <a:t>SUGGESTED CHANGES (make it yours)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4200" y="7987030"/>
            <a:ext cx="3248660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" sz="850">
                <a:solidFill>
                  <a:srgbClr val="232A33"/>
                </a:solidFill>
                <a:latin typeface="Roboto"/>
              </a:rPr>
              <a:t>• Wire a real WhatsApp Cloud API number (start verification day 1).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84200" y="8144509"/>
            <a:ext cx="1477010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" sz="850">
                <a:solidFill>
                  <a:srgbClr val="232A33"/>
                </a:solidFill>
                <a:latin typeface="Roboto"/>
              </a:rPr>
              <a:t>• Add Hindi voice via Bhashini.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4200" y="8301990"/>
            <a:ext cx="173228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" sz="850">
                <a:solidFill>
                  <a:srgbClr val="232A33"/>
                </a:solidFill>
                <a:latin typeface="Roboto"/>
              </a:rPr>
              <a:t>• Add an ONDC catalog / storefront.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84200" y="8459470"/>
            <a:ext cx="2068830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" sz="850">
                <a:solidFill>
                  <a:srgbClr val="232A33"/>
                </a:solidFill>
                <a:latin typeface="Roboto"/>
              </a:rPr>
              <a:t>• Add expense tracking + a daily summary.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673350" y="10261600"/>
            <a:ext cx="2213610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" sz="750">
                <a:solidFill>
                  <a:srgbClr val="5C6672"/>
                </a:solidFill>
                <a:latin typeface="Roboto"/>
              </a:rPr>
              <a:t>ChatGPT Codex India Hackathon 2026 - Track Kits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20509" y="10261600"/>
            <a:ext cx="355600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" sz="750">
                <a:solidFill>
                  <a:srgbClr val="5C6672"/>
                </a:solidFill>
                <a:latin typeface="Roboto"/>
              </a:rPr>
              <a:t>Page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0165080"/>
            <a:ext cx="6391909" cy="127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00" y="10217150"/>
            <a:ext cx="635000" cy="171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200" y="584200"/>
            <a:ext cx="6394450" cy="304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" y="1689100"/>
            <a:ext cx="6572250" cy="6540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" y="1612900"/>
            <a:ext cx="6724650" cy="806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600" y="2489200"/>
            <a:ext cx="6597650" cy="34671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6400" y="2413000"/>
            <a:ext cx="6750050" cy="3619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300" y="6102350"/>
            <a:ext cx="6572250" cy="812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9100" y="6026150"/>
            <a:ext cx="6724650" cy="965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6600" y="685800"/>
            <a:ext cx="252349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8" b="1" sz="900">
                <a:solidFill>
                  <a:srgbClr val="FFFFFF"/>
                </a:solidFill>
                <a:latin typeface="Roboto"/>
              </a:rPr>
              <a:t>TRACK 6 · AI Agents for Bharat's Businesses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1106170"/>
            <a:ext cx="102743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1" b="1" sz="1400">
                <a:solidFill>
                  <a:srgbClr val="092A49"/>
                </a:solidFill>
                <a:latin typeface="Roboto"/>
              </a:rPr>
              <a:t>Bol-Support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1308100"/>
            <a:ext cx="2885440" cy="1181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4" i="1" sz="950">
                <a:solidFill>
                  <a:srgbClr val="5C6672"/>
                </a:solidFill>
                <a:latin typeface="Roboto"/>
              </a:rPr>
              <a:t>Bilingual support agent (orders/FAQ/returns) + handoff.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1565910"/>
            <a:ext cx="102235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8" b="1" sz="800">
                <a:solidFill>
                  <a:srgbClr val="2C6DA3"/>
                </a:solidFill>
                <a:latin typeface="Roboto"/>
              </a:rPr>
              <a:t>API PREREQUISITES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1808480"/>
            <a:ext cx="439547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3" b="1" sz="850">
                <a:solidFill>
                  <a:srgbClr val="232A33"/>
                </a:solidFill>
                <a:latin typeface="Roboto"/>
              </a:rPr>
              <a:t>Deploy / live demo:</a:t>
            </a:r>
            <a:r>
              <a:rPr spc="11" sz="850">
                <a:solidFill>
                  <a:srgbClr val="232A33"/>
                </a:solidFill>
                <a:latin typeface="Roboto"/>
              </a:rPr>
              <a:t> None - deploys and runs the full demo with NO login and NO API key.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4200" y="1963420"/>
            <a:ext cx="626745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4" b="1" sz="850">
                <a:solidFill>
                  <a:srgbClr val="232A33"/>
                </a:solidFill>
                <a:latin typeface="Roboto"/>
              </a:rPr>
              <a:t>Live mode (optional):</a:t>
            </a:r>
            <a:r>
              <a:rPr spc="11" sz="850">
                <a:solidFill>
                  <a:srgbClr val="232A33"/>
                </a:solidFill>
                <a:latin typeface="Roboto"/>
              </a:rPr>
              <a:t> OPENAI_API_KEY and/or Bhashini (PoC tier) for real intent + translation. A real channel needs WhatsApp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4200" y="2118360"/>
            <a:ext cx="140843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" sz="850">
                <a:solidFill>
                  <a:srgbClr val="232A33"/>
                </a:solidFill>
                <a:latin typeface="Roboto"/>
              </a:rPr>
              <a:t>Cloud API (verification days).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2373630"/>
            <a:ext cx="177800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6" b="1" sz="800">
                <a:solidFill>
                  <a:srgbClr val="2C6DA3"/>
                </a:solidFill>
                <a:latin typeface="Roboto"/>
              </a:rPr>
              <a:t>PROMPT — copy &amp; paste into Codex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4200" y="2618740"/>
            <a:ext cx="635762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3" sz="800">
                <a:solidFill>
                  <a:srgbClr val="23272E"/>
                </a:solidFill>
                <a:latin typeface="Roboto"/>
              </a:rPr>
              <a:t>You are OpenAI Codex, a senior full-stack engineer. Build a COMPLETE, deployable web app in the current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2754630"/>
            <a:ext cx="506095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6" sz="800">
                <a:solidFill>
                  <a:srgbClr val="23272E"/>
                </a:solidFill>
                <a:latin typeface="Roboto"/>
              </a:rPr>
              <a:t>empty folder. No code from me; don't ask questions—note assumptions in the README.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890520"/>
            <a:ext cx="623443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4" sz="800">
                <a:solidFill>
                  <a:srgbClr val="23272E"/>
                </a:solidFill>
                <a:latin typeface="Roboto"/>
              </a:rPr>
              <a:t>PRODUCT: "Bol-Support" — a bilingual WhatsApp-style support agent (order status / FAQ / returns) with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3026410"/>
            <a:ext cx="345694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1" sz="800">
                <a:solidFill>
                  <a:srgbClr val="23272E"/>
                </a:solidFill>
                <a:latin typeface="Roboto"/>
              </a:rPr>
              <a:t>human handoff. TRACK: AI Agents for Bharat's Businesses.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3162300"/>
            <a:ext cx="629539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0" sz="800">
                <a:solidFill>
                  <a:srgbClr val="23272E"/>
                </a:solidFill>
                <a:latin typeface="Roboto"/>
              </a:rPr>
              <a:t>CORE FLOW: (1) customer messages in English or Hindi; a reply-language TOGGLE controls output language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3298190"/>
            <a:ext cx="6049009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9" sz="800">
                <a:solidFill>
                  <a:srgbClr val="23272E"/>
                </a:solidFill>
                <a:latin typeface="Roboto"/>
              </a:rPr>
              <a:t>while input is free-form (auto-handled); (2) deterministic intent classifier (order status / FAQ 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3434079"/>
            <a:ext cx="617220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4" sz="800">
                <a:solidFill>
                  <a:srgbClr val="23272E"/>
                </a:solidFill>
                <a:latin typeface="Roboto"/>
              </a:rPr>
              <a:t>return / other) answers from seeded orders+FAQ; (3) low-confidence or "other" -&gt; a "handed to human"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3569970"/>
            <a:ext cx="493776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5" sz="800">
                <a:solidFill>
                  <a:srgbClr val="23272E"/>
                </a:solidFill>
                <a:latin typeface="Roboto"/>
              </a:rPr>
              <a:t>state shown in an agent-side inbox that PERSISTS in localStorage across reloads.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3705860"/>
            <a:ext cx="610997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3" sz="800">
                <a:solidFill>
                  <a:srgbClr val="23272E"/>
                </a:solidFill>
                <a:latin typeface="Roboto"/>
              </a:rPr>
              <a:t>STACK: Next.js (App Router, latest stable) + TypeScript + Tailwind. Deploy: Vercel. LLM/translation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3841750"/>
            <a:ext cx="1666239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2" sz="800">
                <a:solidFill>
                  <a:srgbClr val="23272E"/>
                </a:solidFill>
                <a:latin typeface="Roboto"/>
              </a:rPr>
              <a:t>optional in a server route.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3977640"/>
            <a:ext cx="635762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7" sz="800">
                <a:solidFill>
                  <a:srgbClr val="23272E"/>
                </a:solidFill>
                <a:latin typeface="Roboto"/>
              </a:rPr>
              <a:t>PREREQUISITES (also in README): Demo = NO login/key (deterministic over seeded data). Live (optional) =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4113529"/>
            <a:ext cx="610997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4" sz="800">
                <a:solidFill>
                  <a:srgbClr val="23272E"/>
                </a:solidFill>
                <a:latin typeface="Roboto"/>
              </a:rPr>
              <a:t>OPENAI_API_KEY and/or Bhashini (PoC-tier only) for real intent+translation; a real WhatsApp channel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4249420"/>
            <a:ext cx="506095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1" sz="800">
                <a:solidFill>
                  <a:srgbClr val="23272E"/>
                </a:solidFill>
                <a:latin typeface="Roboto"/>
              </a:rPr>
              <a:t>needs WhatsApp Cloud API (verification ~2–7 business days). None used in the demo.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4200" y="4385310"/>
            <a:ext cx="592582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4" sz="800">
                <a:solidFill>
                  <a:srgbClr val="23272E"/>
                </a:solidFill>
                <a:latin typeface="Roboto"/>
              </a:rPr>
              <a:t>DATA: /data/seed.json = orders + FAQs + canned English/Hindi replies + labelled intent examples.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4521200"/>
            <a:ext cx="6391909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9" sz="800">
                <a:solidFill>
                  <a:srgbClr val="23272E"/>
                </a:solidFill>
                <a:latin typeface="Roboto"/>
              </a:rPr>
              <a:t>WORK EFFICIENTLY: plan mode first (PLANS.md w/ acceptance commands); parallel reads; high effort for the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4657090"/>
            <a:ext cx="610997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3" sz="800">
                <a:solidFill>
                  <a:srgbClr val="23272E"/>
                </a:solidFill>
                <a:latin typeface="Roboto"/>
              </a:rPr>
              <a:t>intent classifier + handoff rule, low for UI; app+npm test+typecheck each milestone; /review before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4792980"/>
            <a:ext cx="413512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9" sz="800">
                <a:solidFill>
                  <a:srgbClr val="23272E"/>
                </a:solidFill>
                <a:latin typeface="Roboto"/>
              </a:rPr>
              <a:t>done; small commits git commit --author="Codex &lt;codex@openai.com&gt;".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200" y="4928870"/>
            <a:ext cx="617220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7" sz="800">
                <a:solidFill>
                  <a:srgbClr val="23272E"/>
                </a:solidFill>
                <a:latin typeface="Roboto"/>
              </a:rPr>
              <a:t>DELIVER: full code; AGENTS.md; README (run + 5-min Vercel deploy + PREREQUISITES + Bhashini/WhatsApp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200" y="5064760"/>
            <a:ext cx="610997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4" sz="800">
                <a:solidFill>
                  <a:srgbClr val="23272E"/>
                </a:solidFill>
                <a:latin typeface="Roboto"/>
              </a:rPr>
              <a:t>swap notes + "How Codex built this"); Vitest tests for the classifier + handoff rule + a Playwright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4200" y="5200650"/>
            <a:ext cx="617220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7" sz="800">
                <a:solidFill>
                  <a:srgbClr val="23272E"/>
                </a:solidFill>
                <a:latin typeface="Roboto"/>
              </a:rPr>
              <a:t>smoke test (order-status reply; trigger handoff persists); .env.example; MIT LICENSE; mobile-first +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4200" y="5336540"/>
            <a:ext cx="253111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9" sz="800">
                <a:solidFill>
                  <a:srgbClr val="23272E"/>
                </a:solidFill>
                <a:latin typeface="Roboto"/>
              </a:rPr>
              <a:t>accessible + bilingual; product original.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4200" y="5472430"/>
            <a:ext cx="629539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2" sz="800">
                <a:solidFill>
                  <a:srgbClr val="23272E"/>
                </a:solidFill>
                <a:latin typeface="Roboto"/>
              </a:rPr>
              <a:t>DONE WHEN: `npm install &amp;&amp; npm run dev` answers order-status + an FAQ in both languages and persists 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200" y="5608320"/>
            <a:ext cx="635762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9" sz="800">
                <a:solidFill>
                  <a:srgbClr val="23272E"/>
                </a:solidFill>
                <a:latin typeface="Roboto"/>
              </a:rPr>
              <a:t>handoff across reload, no key; npm test passes; npm run build succeeds. Then print run commands, Vercel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5744210"/>
            <a:ext cx="253111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9" sz="800">
                <a:solidFill>
                  <a:srgbClr val="23272E"/>
                </a:solidFill>
                <a:latin typeface="Roboto"/>
              </a:rPr>
              <a:t>deploy steps, a 5-line demo-video script.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200" y="5977890"/>
            <a:ext cx="192532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9" b="1" sz="800">
                <a:solidFill>
                  <a:srgbClr val="2C6DA3"/>
                </a:solidFill>
                <a:latin typeface="Roboto"/>
              </a:rPr>
              <a:t>SUGGESTED CHANGES (make it yours)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200" y="6220460"/>
            <a:ext cx="259715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" sz="850">
                <a:solidFill>
                  <a:srgbClr val="232A33"/>
                </a:solidFill>
                <a:latin typeface="Roboto"/>
              </a:rPr>
              <a:t>• Add intents (warranty, address change) + your FAQ.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6377940"/>
            <a:ext cx="1677670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" sz="850">
                <a:solidFill>
                  <a:srgbClr val="232A33"/>
                </a:solidFill>
                <a:latin typeface="Roboto"/>
              </a:rPr>
              <a:t>• Wire Bhashini for real translation.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4200" y="6535420"/>
            <a:ext cx="1477010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" sz="850">
                <a:solidFill>
                  <a:srgbClr val="232A33"/>
                </a:solidFill>
                <a:latin typeface="Roboto"/>
              </a:rPr>
              <a:t>• Add a live agent-takeover UI.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6692900"/>
            <a:ext cx="1562100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" sz="850">
                <a:solidFill>
                  <a:srgbClr val="232A33"/>
                </a:solidFill>
                <a:latin typeface="Roboto"/>
              </a:rPr>
              <a:t>• Capture CSAT after resolution.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73350" y="10261600"/>
            <a:ext cx="2213610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" sz="750">
                <a:solidFill>
                  <a:srgbClr val="5C6672"/>
                </a:solidFill>
                <a:latin typeface="Roboto"/>
              </a:rPr>
              <a:t>ChatGPT Codex India Hackathon 2026 - Track Kits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20509" y="10261600"/>
            <a:ext cx="355600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" sz="750">
                <a:solidFill>
                  <a:srgbClr val="5C6672"/>
                </a:solidFill>
                <a:latin typeface="Roboto"/>
              </a:rPr>
              <a:t>Page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0165080"/>
            <a:ext cx="6391909" cy="127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00" y="10217150"/>
            <a:ext cx="635000" cy="171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200" y="584200"/>
            <a:ext cx="6394450" cy="304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" y="1689100"/>
            <a:ext cx="6572250" cy="4953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" y="1612900"/>
            <a:ext cx="6724650" cy="647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600" y="2330450"/>
            <a:ext cx="6597650" cy="3606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6400" y="2254250"/>
            <a:ext cx="6750050" cy="3759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300" y="6083300"/>
            <a:ext cx="6572250" cy="812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9100" y="6007100"/>
            <a:ext cx="6724650" cy="965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6600" y="685800"/>
            <a:ext cx="252349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8" b="1" sz="900">
                <a:solidFill>
                  <a:srgbClr val="FFFFFF"/>
                </a:solidFill>
                <a:latin typeface="Roboto"/>
              </a:rPr>
              <a:t>TRACK 6 · AI Agents for Bharat's Businesses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1106170"/>
            <a:ext cx="110617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5" b="1" sz="1400">
                <a:solidFill>
                  <a:srgbClr val="092A49"/>
                </a:solidFill>
                <a:latin typeface="Roboto"/>
              </a:rPr>
              <a:t>Udhaar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1308100"/>
            <a:ext cx="2858770" cy="1181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2" i="1" sz="950">
                <a:solidFill>
                  <a:srgbClr val="5C6672"/>
                </a:solidFill>
                <a:latin typeface="Roboto"/>
              </a:rPr>
              <a:t>Credit ledger with tone-matched reminders + cashflow.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1565910"/>
            <a:ext cx="102235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8" b="1" sz="800">
                <a:solidFill>
                  <a:srgbClr val="2C6DA3"/>
                </a:solidFill>
                <a:latin typeface="Roboto"/>
              </a:rPr>
              <a:t>API PREREQUISITES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1808480"/>
            <a:ext cx="439547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3" b="1" sz="850">
                <a:solidFill>
                  <a:srgbClr val="232A33"/>
                </a:solidFill>
                <a:latin typeface="Roboto"/>
              </a:rPr>
              <a:t>Deploy / live demo:</a:t>
            </a:r>
            <a:r>
              <a:rPr spc="11" sz="850">
                <a:solidFill>
                  <a:srgbClr val="232A33"/>
                </a:solidFill>
                <a:latin typeface="Roboto"/>
              </a:rPr>
              <a:t> None - deploys and runs the full demo with NO login and NO API key.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4200" y="1963420"/>
            <a:ext cx="4164329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4" b="1" sz="850">
                <a:solidFill>
                  <a:srgbClr val="232A33"/>
                </a:solidFill>
                <a:latin typeface="Roboto"/>
              </a:rPr>
              <a:t>Live mode (optional):</a:t>
            </a:r>
            <a:r>
              <a:rPr spc="13" sz="850">
                <a:solidFill>
                  <a:srgbClr val="232A33"/>
                </a:solidFill>
                <a:latin typeface="Roboto"/>
              </a:rPr>
              <a:t> OPENAI_API_KEY (optional) to personalise reminder wording.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4200" y="2218690"/>
            <a:ext cx="177800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6" b="1" sz="800">
                <a:solidFill>
                  <a:srgbClr val="2C6DA3"/>
                </a:solidFill>
                <a:latin typeface="Roboto"/>
              </a:rPr>
              <a:t>PROMPT — copy &amp; paste into Codex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2463800"/>
            <a:ext cx="635762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3" sz="800">
                <a:solidFill>
                  <a:srgbClr val="23272E"/>
                </a:solidFill>
                <a:latin typeface="Roboto"/>
              </a:rPr>
              <a:t>You are OpenAI Codex, a senior full-stack engineer. Build a COMPLETE, deployable web app in the current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4200" y="2599690"/>
            <a:ext cx="506095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6" sz="800">
                <a:solidFill>
                  <a:srgbClr val="23272E"/>
                </a:solidFill>
                <a:latin typeface="Roboto"/>
              </a:rPr>
              <a:t>empty folder. No code from me; don't ask questions—note assumptions in the README.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2735580"/>
            <a:ext cx="629539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2" sz="800">
                <a:solidFill>
                  <a:srgbClr val="23272E"/>
                </a:solidFill>
                <a:latin typeface="Roboto"/>
              </a:rPr>
              <a:t>PRODUCT: "Udhaar Book" — a credit ledger for a small shop: track udhaar, draft tone-matched reminders,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871470"/>
            <a:ext cx="345694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2" sz="800">
                <a:solidFill>
                  <a:srgbClr val="23272E"/>
                </a:solidFill>
                <a:latin typeface="Roboto"/>
              </a:rPr>
              <a:t>show cashflow. TRACK: AI Agents for Bharat's Businesses.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3007360"/>
            <a:ext cx="623443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7" sz="800">
                <a:solidFill>
                  <a:srgbClr val="23272E"/>
                </a:solidFill>
                <a:latin typeface="Roboto"/>
              </a:rPr>
              <a:t>CORE FLOW: (1) add customers + credit/repayment entries (seeded); (2) "Who owes me" (amounts + ages 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3143250"/>
            <a:ext cx="592582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0" sz="800">
                <a:solidFill>
                  <a:srgbClr val="23272E"/>
                </a:solidFill>
                <a:latin typeface="Roboto"/>
              </a:rPr>
              <a:t>status on-time/overdue); (3) "Draft reminder" — tone-matched, bilingual, per the rule below; (4)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3279140"/>
            <a:ext cx="518414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2" sz="800">
                <a:solidFill>
                  <a:srgbClr val="23272E"/>
                </a:solidFill>
                <a:latin typeface="Roboto"/>
              </a:rPr>
              <a:t>cashflow view (receivables, this-week collections, trend). Persists in localStorage.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3415029"/>
            <a:ext cx="586359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4" sz="800">
                <a:solidFill>
                  <a:srgbClr val="23272E"/>
                </a:solidFill>
                <a:latin typeface="Roboto"/>
              </a:rPr>
              <a:t>TONE RULE (deterministic /lib/reminder.ts): "repeat-late" = 2+ reminders in the last 90 days 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3550920"/>
            <a:ext cx="623443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4" sz="800">
                <a:solidFill>
                  <a:srgbClr val="23272E"/>
                </a:solidFill>
                <a:latin typeface="Roboto"/>
              </a:rPr>
              <a:t>currently &gt;30 days overdue -&gt; firmer template; else gentle template. A reply-language toggle controls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3686810"/>
            <a:ext cx="98806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1" sz="800">
                <a:solidFill>
                  <a:srgbClr val="23272E"/>
                </a:solidFill>
                <a:latin typeface="Roboto"/>
              </a:rPr>
              <a:t>output language.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3822700"/>
            <a:ext cx="623443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6" sz="800">
                <a:solidFill>
                  <a:srgbClr val="23272E"/>
                </a:solidFill>
                <a:latin typeface="Roboto"/>
              </a:rPr>
              <a:t>STACK: Next.js (App Router, latest stable) + TypeScript + Tailwind. Deploy: Vercel. LLM optional in 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3958590"/>
            <a:ext cx="80264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3" sz="800">
                <a:solidFill>
                  <a:srgbClr val="23272E"/>
                </a:solidFill>
                <a:latin typeface="Roboto"/>
              </a:rPr>
              <a:t>server route.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4094479"/>
            <a:ext cx="635762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7" sz="800">
                <a:solidFill>
                  <a:srgbClr val="23272E"/>
                </a:solidFill>
                <a:latin typeface="Roboto"/>
              </a:rPr>
              <a:t>PREREQUISITES (also in README): Demo = NO login/key. Live (optional) = OPENAI_API_KEY only (personalise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4230370"/>
            <a:ext cx="55499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2" sz="800">
                <a:solidFill>
                  <a:srgbClr val="23272E"/>
                </a:solidFill>
                <a:latin typeface="Roboto"/>
              </a:rPr>
              <a:t>wording).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4200" y="4366260"/>
            <a:ext cx="635762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4" sz="800">
                <a:solidFill>
                  <a:srgbClr val="23272E"/>
                </a:solidFill>
                <a:latin typeface="Roboto"/>
              </a:rPr>
              <a:t>DATA: /data/seed.json = customers + entries covering &gt;=6 weeks of history so the cashflow "trend" chart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4502150"/>
            <a:ext cx="438277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4" sz="800">
                <a:solidFill>
                  <a:srgbClr val="23272E"/>
                </a:solidFill>
                <a:latin typeface="Roboto"/>
              </a:rPr>
              <a:t>is visibly populated; include &gt;=1 on-time and &gt;=1 repeat-late customer.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4638040"/>
            <a:ext cx="617220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9" sz="800">
                <a:solidFill>
                  <a:srgbClr val="23272E"/>
                </a:solidFill>
                <a:latin typeface="Roboto"/>
              </a:rPr>
              <a:t>WORK EFFICIENTLY: plan mode first (PLANS.md w/ acceptance commands); parallel reads; high effort for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4773930"/>
            <a:ext cx="623443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4" sz="800">
                <a:solidFill>
                  <a:srgbClr val="23272E"/>
                </a:solidFill>
                <a:latin typeface="Roboto"/>
              </a:rPr>
              <a:t>ledger math + tone selection, low for UI; app+npm test+typecheck each milestone; /review before done;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200" y="4909820"/>
            <a:ext cx="376555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6" sz="800">
                <a:solidFill>
                  <a:srgbClr val="23272E"/>
                </a:solidFill>
                <a:latin typeface="Roboto"/>
              </a:rPr>
              <a:t>small commits git commit --author="Codex &lt;codex@openai.com&gt;".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200" y="5045710"/>
            <a:ext cx="610997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3" sz="800">
                <a:solidFill>
                  <a:srgbClr val="23272E"/>
                </a:solidFill>
                <a:latin typeface="Roboto"/>
              </a:rPr>
              <a:t>DELIVER: full code; AGENTS.md; README (run + 5-min Vercel deploy + PREREQUISITES + "How Codex built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4200" y="5181600"/>
            <a:ext cx="6049009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9" sz="800">
                <a:solidFill>
                  <a:srgbClr val="23272E"/>
                </a:solidFill>
                <a:latin typeface="Roboto"/>
              </a:rPr>
              <a:t>this"); Vitest tests for ledger math + tone selection + a Playwright smoke test; .env.example; MIT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4200" y="5317490"/>
            <a:ext cx="4011929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4" sz="800">
                <a:solidFill>
                  <a:srgbClr val="23272E"/>
                </a:solidFill>
                <a:latin typeface="Roboto"/>
              </a:rPr>
              <a:t>LICENSE; mobile-first + accessible + bilingual; product original.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4200" y="5453380"/>
            <a:ext cx="623443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0" sz="800">
                <a:solidFill>
                  <a:srgbClr val="23272E"/>
                </a:solidFill>
                <a:latin typeface="Roboto"/>
              </a:rPr>
              <a:t>DONE WHEN: `npm install &amp;&amp; npm run dev` tracks credit, lists who owes me with correct tone reminders,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200" y="5589270"/>
            <a:ext cx="623443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1" sz="800">
                <a:solidFill>
                  <a:srgbClr val="23272E"/>
                </a:solidFill>
                <a:latin typeface="Roboto"/>
              </a:rPr>
              <a:t>and shows a populated cashflow trend, no key; npm test passes; npm run build succeeds. Then print run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5725160"/>
            <a:ext cx="3580129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3" sz="800">
                <a:solidFill>
                  <a:srgbClr val="23272E"/>
                </a:solidFill>
                <a:latin typeface="Roboto"/>
              </a:rPr>
              <a:t>commands, Vercel deploy steps, a 5-line demo-video script.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200" y="5958840"/>
            <a:ext cx="192532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9" b="1" sz="800">
                <a:solidFill>
                  <a:srgbClr val="2C6DA3"/>
                </a:solidFill>
                <a:latin typeface="Roboto"/>
              </a:rPr>
              <a:t>SUGGESTED CHANGES (make it yours)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200" y="6201410"/>
            <a:ext cx="203581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" sz="850">
                <a:solidFill>
                  <a:srgbClr val="232A33"/>
                </a:solidFill>
                <a:latin typeface="Roboto"/>
              </a:rPr>
              <a:t>• Add SMS/WhatsApp send for reminders.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6358890"/>
            <a:ext cx="1446530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850">
                <a:solidFill>
                  <a:srgbClr val="232A33"/>
                </a:solidFill>
                <a:latin typeface="Roboto"/>
              </a:rPr>
              <a:t>• Add interest / aging buckets.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4200" y="6516370"/>
            <a:ext cx="1983739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" sz="850">
                <a:solidFill>
                  <a:srgbClr val="232A33"/>
                </a:solidFill>
                <a:latin typeface="Roboto"/>
              </a:rPr>
              <a:t>• Add a customer credit-limit + risk score.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6673850"/>
            <a:ext cx="1640839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" sz="850">
                <a:solidFill>
                  <a:srgbClr val="232A33"/>
                </a:solidFill>
                <a:latin typeface="Roboto"/>
              </a:rPr>
              <a:t>• Add a monthly statement export.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73350" y="10261600"/>
            <a:ext cx="2213610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" sz="750">
                <a:solidFill>
                  <a:srgbClr val="5C6672"/>
                </a:solidFill>
                <a:latin typeface="Roboto"/>
              </a:rPr>
              <a:t>ChatGPT Codex India Hackathon 2026 - Track Kits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20509" y="10261600"/>
            <a:ext cx="355600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" sz="750">
                <a:solidFill>
                  <a:srgbClr val="5C6672"/>
                </a:solidFill>
                <a:latin typeface="Roboto"/>
              </a:rPr>
              <a:t>Page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0165080"/>
            <a:ext cx="6391909" cy="127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00" y="10217150"/>
            <a:ext cx="635000" cy="171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200" y="584200"/>
            <a:ext cx="6394450" cy="304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" y="1689100"/>
            <a:ext cx="6572250" cy="6540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" y="1612900"/>
            <a:ext cx="6724650" cy="806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600" y="2489200"/>
            <a:ext cx="6597650" cy="41465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6400" y="2413000"/>
            <a:ext cx="6750050" cy="42989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300" y="6781800"/>
            <a:ext cx="6572250" cy="812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9100" y="6705600"/>
            <a:ext cx="6724650" cy="965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6600" y="685800"/>
            <a:ext cx="326517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3" b="1" sz="900">
                <a:solidFill>
                  <a:srgbClr val="FFFFFF"/>
                </a:solidFill>
                <a:latin typeface="Roboto"/>
              </a:rPr>
              <a:t>TRACK 7 · Vernacular / Indic Languages &amp; Local Discovery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1106170"/>
            <a:ext cx="81026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9" b="1" sz="1400">
                <a:solidFill>
                  <a:srgbClr val="092A49"/>
                </a:solidFill>
                <a:latin typeface="Roboto"/>
              </a:rPr>
              <a:t>SamajhAI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1308100"/>
            <a:ext cx="3084829" cy="1181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i="1" sz="950">
                <a:solidFill>
                  <a:srgbClr val="5C6672"/>
                </a:solidFill>
                <a:latin typeface="Roboto"/>
              </a:rPr>
              <a:t>Explains a coding error in your Indian language, with voice.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1565910"/>
            <a:ext cx="102235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8" b="1" sz="800">
                <a:solidFill>
                  <a:srgbClr val="2C6DA3"/>
                </a:solidFill>
                <a:latin typeface="Roboto"/>
              </a:rPr>
              <a:t>API PREREQUISITES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1808480"/>
            <a:ext cx="439547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3" b="1" sz="850">
                <a:solidFill>
                  <a:srgbClr val="232A33"/>
                </a:solidFill>
                <a:latin typeface="Roboto"/>
              </a:rPr>
              <a:t>Deploy / live demo:</a:t>
            </a:r>
            <a:r>
              <a:rPr spc="11" sz="850">
                <a:solidFill>
                  <a:srgbClr val="232A33"/>
                </a:solidFill>
                <a:latin typeface="Roboto"/>
              </a:rPr>
              <a:t> None - deploys and runs the full demo with NO login and NO API key.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4200" y="1963420"/>
            <a:ext cx="637032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4" b="1" sz="850">
                <a:solidFill>
                  <a:srgbClr val="232A33"/>
                </a:solidFill>
                <a:latin typeface="Roboto"/>
              </a:rPr>
              <a:t>Live mode (optional):</a:t>
            </a:r>
            <a:r>
              <a:rPr spc="12" sz="850">
                <a:solidFill>
                  <a:srgbClr val="232A33"/>
                </a:solidFill>
                <a:latin typeface="Roboto"/>
              </a:rPr>
              <a:t> OPENAI_API_KEY (optional; Bhashini/IndicTrans2 swap documented). Browser: Web Speech + getVoices()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4200" y="2118360"/>
            <a:ext cx="98298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" sz="850">
                <a:solidFill>
                  <a:srgbClr val="232A33"/>
                </a:solidFill>
                <a:latin typeface="Roboto"/>
              </a:rPr>
              <a:t>check per language.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2373630"/>
            <a:ext cx="177800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6" b="1" sz="800">
                <a:solidFill>
                  <a:srgbClr val="2C6DA3"/>
                </a:solidFill>
                <a:latin typeface="Roboto"/>
              </a:rPr>
              <a:t>PROMPT — copy &amp; paste into Codex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4200" y="2618740"/>
            <a:ext cx="586359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6" sz="800">
                <a:solidFill>
                  <a:srgbClr val="23272E"/>
                </a:solidFill>
                <a:latin typeface="Roboto"/>
              </a:rPr>
              <a:t>You are OpenAI Codex, a senior full-stack engineer building an Indic-language dev tool. Build 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2754630"/>
            <a:ext cx="610997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0" sz="800">
                <a:solidFill>
                  <a:srgbClr val="23272E"/>
                </a:solidFill>
                <a:latin typeface="Roboto"/>
              </a:rPr>
              <a:t>COMPLETE, deployable web app in the current empty folder. No code from me; don't ask questions—note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890520"/>
            <a:ext cx="160528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8" sz="800">
                <a:solidFill>
                  <a:srgbClr val="23272E"/>
                </a:solidFill>
                <a:latin typeface="Roboto"/>
              </a:rPr>
              <a:t>assumptions in the README.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3026410"/>
            <a:ext cx="6391909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3" sz="800">
                <a:solidFill>
                  <a:srgbClr val="23272E"/>
                </a:solidFill>
                <a:latin typeface="Roboto"/>
              </a:rPr>
              <a:t>PRODUCT: "SamajhAI" — explain a coding error/concept in the user's Indian language, plainly, with a fix,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3162300"/>
            <a:ext cx="296291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7" sz="800">
                <a:solidFill>
                  <a:srgbClr val="23272E"/>
                </a:solidFill>
                <a:latin typeface="Roboto"/>
              </a:rPr>
              <a:t>read aloud. TRACK: Vernacular / Indic Languages.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3298190"/>
            <a:ext cx="617220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4" sz="800">
                <a:solidFill>
                  <a:srgbClr val="23272E"/>
                </a:solidFill>
                <a:latin typeface="Roboto"/>
              </a:rPr>
              <a:t>CORE FLOW: (1) paste an error (or use the mic, language-aware); (2) pick a language: English, Hindi,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3434079"/>
            <a:ext cx="629539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9" sz="800">
                <a:solidFill>
                  <a:srgbClr val="23272E"/>
                </a:solidFill>
                <a:latin typeface="Roboto"/>
              </a:rPr>
              <a:t>Tamil, Bengali, Telugu, Marathi; (3) output in that language: What it means / Why / How to fix (with 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3569970"/>
            <a:ext cx="438277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2" sz="800">
                <a:solidFill>
                  <a:srgbClr val="23272E"/>
                </a:solidFill>
                <a:latin typeface="Roboto"/>
              </a:rPr>
              <a:t>corrected snippet) + a "Speak" button; toggle original &lt;-&gt; explanation.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3705860"/>
            <a:ext cx="623443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0" sz="800">
                <a:solidFill>
                  <a:srgbClr val="23272E"/>
                </a:solidFill>
                <a:latin typeface="Roboto"/>
              </a:rPr>
              <a:t>STACK: Next.js (App Router, latest stable) + TypeScript + Tailwind + Web Speech API (feature-detect).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3841750"/>
            <a:ext cx="265430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1" sz="800">
                <a:solidFill>
                  <a:srgbClr val="23272E"/>
                </a:solidFill>
                <a:latin typeface="Roboto"/>
              </a:rPr>
              <a:t>Deploy: Vercel. LLM only in a server route.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3977640"/>
            <a:ext cx="635762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7" sz="800">
                <a:solidFill>
                  <a:srgbClr val="23272E"/>
                </a:solidFill>
                <a:latin typeface="Roboto"/>
              </a:rPr>
              <a:t>PREREQUISITES (also in README): Demo = NO login/key (bundled pre-written explanations). Live (optional)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4113529"/>
            <a:ext cx="586359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9" sz="800">
                <a:solidFill>
                  <a:srgbClr val="23272E"/>
                </a:solidFill>
                <a:latin typeface="Roboto"/>
              </a:rPr>
              <a:t>= OPENAI_API_KEY (README shows how to swap in Bhashini/IndicTrans2 for translation; Bhashini 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4249420"/>
            <a:ext cx="240665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3" sz="800">
                <a:solidFill>
                  <a:srgbClr val="23272E"/>
                </a:solidFill>
                <a:latin typeface="Roboto"/>
              </a:rPr>
              <a:t>PoC-tier). Web Speech caveats as above.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4200" y="4385310"/>
            <a:ext cx="610997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6" sz="800">
                <a:solidFill>
                  <a:srgbClr val="23272E"/>
                </a:solidFill>
                <a:latin typeface="Roboto"/>
              </a:rPr>
              <a:t>DEMO (default, no key): DEMO_MODE=true ships /data/samples.json = 5 common errors x all 6 languages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4521200"/>
            <a:ext cx="536956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4" sz="800">
                <a:solidFill>
                  <a:srgbClr val="23272E"/>
                </a:solidFill>
                <a:latin typeface="Roboto"/>
              </a:rPr>
              <a:t>(pre-written). Unmatched input -&gt; the "not in demo set" state, never a silent LLM call.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4657090"/>
            <a:ext cx="6391909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1" sz="800">
                <a:solidFill>
                  <a:srgbClr val="23272E"/>
                </a:solidFill>
                <a:latin typeface="Roboto"/>
              </a:rPr>
              <a:t>SPEAK: before enabling "Speak", check speechSynthesis.getVoices() for the chosen lang; if none, show "no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4792980"/>
            <a:ext cx="271526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9" sz="800">
                <a:solidFill>
                  <a:srgbClr val="23272E"/>
                </a:solidFill>
                <a:latin typeface="Roboto"/>
              </a:rPr>
              <a:t>TTS voice for this language on this device".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200" y="4928870"/>
            <a:ext cx="623443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9" sz="800">
                <a:solidFill>
                  <a:srgbClr val="23272E"/>
                </a:solidFill>
                <a:latin typeface="Roboto"/>
              </a:rPr>
              <a:t>LIVE (optional): OPENAI_API_KEY + DEMO_MODE=false handles ANY input/language; OPENAI_MODEL env; never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200" y="5064760"/>
            <a:ext cx="271526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6" sz="800">
                <a:solidFill>
                  <a:srgbClr val="23272E"/>
                </a:solidFill>
                <a:latin typeface="Roboto"/>
              </a:rPr>
              <a:t>expose keys; .gitignore .env*; .env.example.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4200" y="5200650"/>
            <a:ext cx="617220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9" sz="800">
                <a:solidFill>
                  <a:srgbClr val="23272E"/>
                </a:solidFill>
                <a:latin typeface="Roboto"/>
              </a:rPr>
              <a:t>WORK EFFICIENTLY: plan mode first (PLANS.md w/ acceptance commands); parallel reads; high effort for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4200" y="5336540"/>
            <a:ext cx="629539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0" sz="800">
                <a:solidFill>
                  <a:srgbClr val="23272E"/>
                </a:solidFill>
                <a:latin typeface="Roboto"/>
              </a:rPr>
              <a:t>lookup/language routing, low for UI; app+npm test+typecheck each milestone; /review before done; small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4200" y="5472430"/>
            <a:ext cx="339471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2" sz="800">
                <a:solidFill>
                  <a:srgbClr val="23272E"/>
                </a:solidFill>
                <a:latin typeface="Roboto"/>
              </a:rPr>
              <a:t>commits git commit --author="Codex &lt;codex@openai.com&gt;".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200" y="5608320"/>
            <a:ext cx="623443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9" sz="800">
                <a:solidFill>
                  <a:srgbClr val="23272E"/>
                </a:solidFill>
                <a:latin typeface="Roboto"/>
              </a:rPr>
              <a:t>DELIVER: full code; AGENTS.md; README (run + 5-min Vercel deploy + PREREQUISITES + Web Speech notes +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5744210"/>
            <a:ext cx="635762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6" sz="800">
                <a:solidFill>
                  <a:srgbClr val="23272E"/>
                </a:solidFill>
                <a:latin typeface="Roboto"/>
              </a:rPr>
              <a:t>"have a native speaker check the 30 bundled strings" + "How Codex built this"); Vitest tests for sample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200" y="5880100"/>
            <a:ext cx="580136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5" sz="800">
                <a:solidFill>
                  <a:srgbClr val="23272E"/>
                </a:solidFill>
                <a:latin typeface="Roboto"/>
              </a:rPr>
              <a:t>lookup + language routing + a Playwright smoke test; .env.example; MIT LICENSE; mobile-first +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200" y="6015990"/>
            <a:ext cx="370332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7" sz="800">
                <a:solidFill>
                  <a:srgbClr val="23272E"/>
                </a:solidFill>
                <a:latin typeface="Roboto"/>
              </a:rPr>
              <a:t>accessible; correct fonts for all scripts; product original.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6151880"/>
            <a:ext cx="623443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1" sz="800">
                <a:solidFill>
                  <a:srgbClr val="23272E"/>
                </a:solidFill>
                <a:latin typeface="Roboto"/>
              </a:rPr>
              <a:t>DONE WHEN: `npm install &amp;&amp; npm run dev` explains a bundled error in Hindi + one other language with 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4200" y="6287770"/>
            <a:ext cx="6049009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0" sz="800">
                <a:solidFill>
                  <a:srgbClr val="23272E"/>
                </a:solidFill>
                <a:latin typeface="Roboto"/>
              </a:rPr>
              <a:t>working getVoices()-guarded Speak, no key; npm test passes; npm run build succeeds. Then print run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6423660"/>
            <a:ext cx="3580129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3" sz="800">
                <a:solidFill>
                  <a:srgbClr val="23272E"/>
                </a:solidFill>
                <a:latin typeface="Roboto"/>
              </a:rPr>
              <a:t>commands, Vercel deploy steps, a 5-line demo-video script.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4200" y="6657340"/>
            <a:ext cx="192532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9" b="1" sz="800">
                <a:solidFill>
                  <a:srgbClr val="2C6DA3"/>
                </a:solidFill>
                <a:latin typeface="Roboto"/>
              </a:rPr>
              <a:t>SUGGESTED CHANGES (make it yours)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4200" y="6899909"/>
            <a:ext cx="2424430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" sz="850">
                <a:solidFill>
                  <a:srgbClr val="232A33"/>
                </a:solidFill>
                <a:latin typeface="Roboto"/>
              </a:rPr>
              <a:t>• Add more languages / a romanized-script toggle.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4200" y="7057390"/>
            <a:ext cx="242443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" sz="850">
                <a:solidFill>
                  <a:srgbClr val="232A33"/>
                </a:solidFill>
                <a:latin typeface="Roboto"/>
              </a:rPr>
              <a:t>• Swap in Bhashini/IndicTrans2 for live translation.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4200" y="7214870"/>
            <a:ext cx="2156460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" sz="850">
                <a:solidFill>
                  <a:srgbClr val="232A33"/>
                </a:solidFill>
                <a:latin typeface="Roboto"/>
              </a:rPr>
              <a:t>• Add a 'translate my code comments' mode.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4200" y="7372350"/>
            <a:ext cx="1804670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850">
                <a:solidFill>
                  <a:srgbClr val="232A33"/>
                </a:solidFill>
                <a:latin typeface="Roboto"/>
              </a:rPr>
              <a:t>• Target a specific curriculum / board.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673350" y="10261600"/>
            <a:ext cx="2213610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" sz="750">
                <a:solidFill>
                  <a:srgbClr val="5C6672"/>
                </a:solidFill>
                <a:latin typeface="Roboto"/>
              </a:rPr>
              <a:t>ChatGPT Codex India Hackathon 2026 - Track Kits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20509" y="10261600"/>
            <a:ext cx="355600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" sz="750">
                <a:solidFill>
                  <a:srgbClr val="5C6672"/>
                </a:solidFill>
                <a:latin typeface="Roboto"/>
              </a:rPr>
              <a:t>Page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0165080"/>
            <a:ext cx="6391909" cy="127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00" y="10217150"/>
            <a:ext cx="635000" cy="171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200" y="584200"/>
            <a:ext cx="6394450" cy="304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" y="1689100"/>
            <a:ext cx="6572250" cy="4953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" y="1612900"/>
            <a:ext cx="6724650" cy="647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600" y="2330450"/>
            <a:ext cx="6597650" cy="41529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6400" y="2254250"/>
            <a:ext cx="6750050" cy="43053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300" y="6629400"/>
            <a:ext cx="6572250" cy="812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9100" y="6553200"/>
            <a:ext cx="6724650" cy="965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6600" y="685800"/>
            <a:ext cx="326517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3" b="1" sz="900">
                <a:solidFill>
                  <a:srgbClr val="FFFFFF"/>
                </a:solidFill>
                <a:latin typeface="Roboto"/>
              </a:rPr>
              <a:t>TRACK 7 · Vernacular / Indic Languages &amp; Local Discovery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1106170"/>
            <a:ext cx="553719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8" b="1" sz="1400">
                <a:solidFill>
                  <a:srgbClr val="092A49"/>
                </a:solidFill>
                <a:latin typeface="Roboto"/>
              </a:rPr>
              <a:t>Nagrik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1308100"/>
            <a:ext cx="3275329" cy="1181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i="1" sz="950">
                <a:solidFill>
                  <a:srgbClr val="5C6672"/>
                </a:solidFill>
                <a:latin typeface="Roboto"/>
              </a:rPr>
              <a:t>Voice civic-query agent: govt schemes, answered in-language.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1565910"/>
            <a:ext cx="102235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8" b="1" sz="800">
                <a:solidFill>
                  <a:srgbClr val="2C6DA3"/>
                </a:solidFill>
                <a:latin typeface="Roboto"/>
              </a:rPr>
              <a:t>API PREREQUISITES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1808480"/>
            <a:ext cx="439547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3" b="1" sz="850">
                <a:solidFill>
                  <a:srgbClr val="232A33"/>
                </a:solidFill>
                <a:latin typeface="Roboto"/>
              </a:rPr>
              <a:t>Deploy / live demo:</a:t>
            </a:r>
            <a:r>
              <a:rPr spc="11" sz="850">
                <a:solidFill>
                  <a:srgbClr val="232A33"/>
                </a:solidFill>
                <a:latin typeface="Roboto"/>
              </a:rPr>
              <a:t> None - deploys and runs the full demo with NO login and NO API key.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4200" y="1963420"/>
            <a:ext cx="626745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4" b="1" sz="850">
                <a:solidFill>
                  <a:srgbClr val="232A33"/>
                </a:solidFill>
                <a:latin typeface="Roboto"/>
              </a:rPr>
              <a:t>Live mode (optional):</a:t>
            </a:r>
            <a:r>
              <a:rPr spc="14" sz="850">
                <a:solidFill>
                  <a:srgbClr val="232A33"/>
                </a:solidFill>
                <a:latin typeface="Roboto"/>
              </a:rPr>
              <a:t> OPENAI_API_KEY and/or Bhashini (PoC tier) for open queries + wider languages. Browser: Web Speech.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4200" y="2218690"/>
            <a:ext cx="177800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6" b="1" sz="800">
                <a:solidFill>
                  <a:srgbClr val="2C6DA3"/>
                </a:solidFill>
                <a:latin typeface="Roboto"/>
              </a:rPr>
              <a:t>PROMPT — copy &amp; paste into Codex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2463800"/>
            <a:ext cx="635762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3" sz="800">
                <a:solidFill>
                  <a:srgbClr val="23272E"/>
                </a:solidFill>
                <a:latin typeface="Roboto"/>
              </a:rPr>
              <a:t>You are OpenAI Codex, a senior full-stack engineer. Build a COMPLETE, deployable web app in the current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4200" y="2599690"/>
            <a:ext cx="574040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2" sz="800">
                <a:solidFill>
                  <a:srgbClr val="23272E"/>
                </a:solidFill>
                <a:latin typeface="Roboto"/>
              </a:rPr>
              <a:t>empty folder. No code from me; don't ask questions—note assumptions in the README. This is 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2735580"/>
            <a:ext cx="450596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4" sz="800">
                <a:solidFill>
                  <a:srgbClr val="23272E"/>
                </a:solidFill>
                <a:latin typeface="Roboto"/>
              </a:rPr>
              <a:t>informational demo, NOT official government advice — show that in the UI.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871470"/>
            <a:ext cx="635762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6" sz="800">
                <a:solidFill>
                  <a:srgbClr val="23272E"/>
                </a:solidFill>
                <a:latin typeface="Roboto"/>
              </a:rPr>
              <a:t>PRODUCT: "Nagrik" — ask about a govt scheme by voice in your language; get a clear spoken answer from 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3007360"/>
            <a:ext cx="302387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1" sz="800">
                <a:solidFill>
                  <a:srgbClr val="23272E"/>
                </a:solidFill>
                <a:latin typeface="Roboto"/>
              </a:rPr>
              <a:t>curated FAQ. TRACK: Vernacular / Indic Languages.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3143250"/>
            <a:ext cx="635762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5" sz="800">
                <a:solidFill>
                  <a:srgbClr val="23272E"/>
                </a:solidFill>
                <a:latin typeface="Roboto"/>
              </a:rPr>
              <a:t>CORE FLOW: (1) pick a language (Hindi / Tamil / Bengali / English), mic or type; (2) match to a curated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3279140"/>
            <a:ext cx="635762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6" sz="800">
                <a:solidFill>
                  <a:srgbClr val="23272E"/>
                </a:solidFill>
                <a:latin typeface="Roboto"/>
              </a:rPr>
              <a:t>FAQ (/data/schemes.json: eligibility, documents, how-to-apply) with a real "source" citation baked into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3415029"/>
            <a:ext cx="629539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8" sz="800">
                <a:solidFill>
                  <a:srgbClr val="23272E"/>
                </a:solidFill>
                <a:latin typeface="Roboto"/>
              </a:rPr>
              <a:t>the data; (3) answer in the chosen language, shown + spoken; (4) suggested follow-ups. Unmatched query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3550920"/>
            <a:ext cx="456692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2" sz="800">
                <a:solidFill>
                  <a:srgbClr val="23272E"/>
                </a:solidFill>
                <a:latin typeface="Roboto"/>
              </a:rPr>
              <a:t>-&gt; "not covered by this demo's FAQ set" (never improvise a scheme answer).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3686810"/>
            <a:ext cx="6391909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2" sz="800">
                <a:solidFill>
                  <a:srgbClr val="23272E"/>
                </a:solidFill>
                <a:latin typeface="Roboto"/>
              </a:rPr>
              <a:t>CONTENT SAFETY: answers come ONLY from the bundled FAQ; the optional LLM may rephrase/translate but must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3822700"/>
            <a:ext cx="6049009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3" sz="800">
                <a:solidFill>
                  <a:srgbClr val="23272E"/>
                </a:solidFill>
                <a:latin typeface="Roboto"/>
              </a:rPr>
              <a:t>not invent eligibility/documents. Visible disclaimer: "informational demo — verify on the official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3958590"/>
            <a:ext cx="117221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7" sz="800">
                <a:solidFill>
                  <a:srgbClr val="23272E"/>
                </a:solidFill>
                <a:latin typeface="Roboto"/>
              </a:rPr>
              <a:t>government portal."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4094479"/>
            <a:ext cx="623443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0" sz="800">
                <a:solidFill>
                  <a:srgbClr val="23272E"/>
                </a:solidFill>
                <a:latin typeface="Roboto"/>
              </a:rPr>
              <a:t>STACK: Next.js (App Router, latest stable) + TypeScript + Tailwind + Web Speech API (feature-detect).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4230370"/>
            <a:ext cx="364109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0" sz="800">
                <a:solidFill>
                  <a:srgbClr val="23272E"/>
                </a:solidFill>
                <a:latin typeface="Roboto"/>
              </a:rPr>
              <a:t>Deploy: Vercel. LLM/translation optional in a server route.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4200" y="4366260"/>
            <a:ext cx="623443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4" sz="800">
                <a:solidFill>
                  <a:srgbClr val="23272E"/>
                </a:solidFill>
                <a:latin typeface="Roboto"/>
              </a:rPr>
              <a:t>PREREQUISITES (also in README): Demo = NO login/key. Live (optional) = OPENAI_API_KEY and/or Bhashini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4502150"/>
            <a:ext cx="425831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2" sz="800">
                <a:solidFill>
                  <a:srgbClr val="23272E"/>
                </a:solidFill>
                <a:latin typeface="Roboto"/>
              </a:rPr>
              <a:t>(PoC-tier). Web Speech caveats + getVoices() guard as for this track.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4638040"/>
            <a:ext cx="574040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0" sz="800">
                <a:solidFill>
                  <a:srgbClr val="23272E"/>
                </a:solidFill>
                <a:latin typeface="Roboto"/>
              </a:rPr>
              <a:t>DATA: /data/schemes.json = 6 schemes {name, source(url/portal ref), eligibility, documents[],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4773930"/>
            <a:ext cx="376555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0" sz="800">
                <a:solidFill>
                  <a:srgbClr val="23272E"/>
                </a:solidFill>
                <a:latin typeface="Roboto"/>
              </a:rPr>
              <a:t>howToApply} with pre-written answers in all listed languages.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200" y="4909820"/>
            <a:ext cx="6391909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5" sz="800">
                <a:solidFill>
                  <a:srgbClr val="23272E"/>
                </a:solidFill>
                <a:latin typeface="Roboto"/>
              </a:rPr>
              <a:t>WORK EFFICIENTLY: plan mode first (PLANS.md w/ acceptance commands); parallel reads; high effort for FAQ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200" y="5045710"/>
            <a:ext cx="635762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6" sz="800">
                <a:solidFill>
                  <a:srgbClr val="23272E"/>
                </a:solidFill>
                <a:latin typeface="Roboto"/>
              </a:rPr>
              <a:t>matching/routing, low for UI; app+npm test+typecheck each milestone; /review before done; small commits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4200" y="5181600"/>
            <a:ext cx="2900679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7" sz="800">
                <a:solidFill>
                  <a:srgbClr val="23272E"/>
                </a:solidFill>
                <a:latin typeface="Roboto"/>
              </a:rPr>
              <a:t>git commit --author="Codex &lt;codex@openai.com&gt;".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4200" y="5317490"/>
            <a:ext cx="610997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2" sz="800">
                <a:solidFill>
                  <a:srgbClr val="23272E"/>
                </a:solidFill>
                <a:latin typeface="Roboto"/>
              </a:rPr>
              <a:t>DELIVER: full code; AGENTS.md; README (run + 5-min Vercel deploy + PREREQUISITES + disclaimer + Web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4200" y="5453380"/>
            <a:ext cx="586359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1" sz="800">
                <a:solidFill>
                  <a:srgbClr val="23272E"/>
                </a:solidFill>
                <a:latin typeface="Roboto"/>
              </a:rPr>
              <a:t>Speech notes + "How Codex built this"); Vitest tests for the FAQ matcher + language routing + 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200" y="5589270"/>
            <a:ext cx="598678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4" sz="800">
                <a:solidFill>
                  <a:srgbClr val="23272E"/>
                </a:solidFill>
                <a:latin typeface="Roboto"/>
              </a:rPr>
              <a:t>Playwright smoke test (ask -&gt; answer renders + speaks); .env.example; MIT LICENSE; mobile-first +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5725160"/>
            <a:ext cx="271526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7" sz="800">
                <a:solidFill>
                  <a:srgbClr val="23272E"/>
                </a:solidFill>
                <a:latin typeface="Roboto"/>
              </a:rPr>
              <a:t>accessible; correct fonts; product original.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200" y="5861050"/>
            <a:ext cx="635762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7" sz="800">
                <a:solidFill>
                  <a:srgbClr val="23272E"/>
                </a:solidFill>
                <a:latin typeface="Roboto"/>
              </a:rPr>
              <a:t>DONE WHEN: `npm install &amp;&amp; npm run dev` answers a bundled scheme question in Hindi + one other language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200" y="5996940"/>
            <a:ext cx="6049009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6" sz="800">
                <a:solidFill>
                  <a:srgbClr val="23272E"/>
                </a:solidFill>
                <a:latin typeface="Roboto"/>
              </a:rPr>
              <a:t>with speech + a source line, and shows the "no match" state for an unknown query, no key; npm test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6132830"/>
            <a:ext cx="598678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9" sz="800">
                <a:solidFill>
                  <a:srgbClr val="23272E"/>
                </a:solidFill>
                <a:latin typeface="Roboto"/>
              </a:rPr>
              <a:t>passes; npm run build succeeds. Then print run commands, Vercel deploy steps, a 5-line demo-video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4200" y="6268720"/>
            <a:ext cx="43180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68" sz="800">
                <a:solidFill>
                  <a:srgbClr val="23272E"/>
                </a:solidFill>
                <a:latin typeface="Roboto"/>
              </a:rPr>
              <a:t>script.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6502400"/>
            <a:ext cx="192532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9" b="1" sz="800">
                <a:solidFill>
                  <a:srgbClr val="2C6DA3"/>
                </a:solidFill>
                <a:latin typeface="Roboto"/>
              </a:rPr>
              <a:t>SUGGESTED CHANGES (make it yours)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4200" y="6744970"/>
            <a:ext cx="1944370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" sz="850">
                <a:solidFill>
                  <a:srgbClr val="232A33"/>
                </a:solidFill>
                <a:latin typeface="Roboto"/>
              </a:rPr>
              <a:t>• Load real scheme FAQs for your state.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4200" y="6902450"/>
            <a:ext cx="2029460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" sz="850">
                <a:solidFill>
                  <a:srgbClr val="232A33"/>
                </a:solidFill>
                <a:latin typeface="Roboto"/>
              </a:rPr>
              <a:t>• Wire Bhashini voice for more languages.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4200" y="7059930"/>
            <a:ext cx="2457450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" sz="850">
                <a:solidFill>
                  <a:srgbClr val="232A33"/>
                </a:solidFill>
                <a:latin typeface="Roboto"/>
              </a:rPr>
              <a:t>• Add a document-checklist generator + reminders.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4200" y="7217409"/>
            <a:ext cx="1234439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" sz="850">
                <a:solidFill>
                  <a:srgbClr val="232A33"/>
                </a:solidFill>
                <a:latin typeface="Roboto"/>
              </a:rPr>
              <a:t>• Add WhatsApp delivery.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673350" y="10261600"/>
            <a:ext cx="2213610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" sz="750">
                <a:solidFill>
                  <a:srgbClr val="5C6672"/>
                </a:solidFill>
                <a:latin typeface="Roboto"/>
              </a:rPr>
              <a:t>ChatGPT Codex India Hackathon 2026 - Track Kits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20509" y="10261600"/>
            <a:ext cx="355600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" sz="750">
                <a:solidFill>
                  <a:srgbClr val="5C6672"/>
                </a:solidFill>
                <a:latin typeface="Roboto"/>
              </a:rPr>
              <a:t>Page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0165080"/>
            <a:ext cx="6391909" cy="127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00" y="10217150"/>
            <a:ext cx="635000" cy="171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200" y="584200"/>
            <a:ext cx="6394450" cy="304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" y="1689100"/>
            <a:ext cx="6572250" cy="6540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" y="1612900"/>
            <a:ext cx="6724650" cy="806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600" y="2489200"/>
            <a:ext cx="6597650" cy="3873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6400" y="2413000"/>
            <a:ext cx="6750050" cy="40259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300" y="6515100"/>
            <a:ext cx="6572250" cy="812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9100" y="6438900"/>
            <a:ext cx="6724650" cy="965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6600" y="685800"/>
            <a:ext cx="326517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3" b="1" sz="900">
                <a:solidFill>
                  <a:srgbClr val="FFFFFF"/>
                </a:solidFill>
                <a:latin typeface="Roboto"/>
              </a:rPr>
              <a:t>TRACK 7 · Vernacular / Indic Languages &amp; Local Discovery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1106170"/>
            <a:ext cx="91821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4" b="1" sz="1400">
                <a:solidFill>
                  <a:srgbClr val="092A49"/>
                </a:solidFill>
                <a:latin typeface="Roboto"/>
              </a:rPr>
              <a:t>Code Guru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1308100"/>
            <a:ext cx="3216910" cy="1181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" i="1" sz="950">
                <a:solidFill>
                  <a:srgbClr val="5C6672"/>
                </a:solidFill>
                <a:latin typeface="Roboto"/>
              </a:rPr>
              <a:t>Vernacular coding tutor: concept + runnable example + voice.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1565910"/>
            <a:ext cx="102235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8" b="1" sz="800">
                <a:solidFill>
                  <a:srgbClr val="2C6DA3"/>
                </a:solidFill>
                <a:latin typeface="Roboto"/>
              </a:rPr>
              <a:t>API PREREQUISITES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1808480"/>
            <a:ext cx="439547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3" b="1" sz="850">
                <a:solidFill>
                  <a:srgbClr val="232A33"/>
                </a:solidFill>
                <a:latin typeface="Roboto"/>
              </a:rPr>
              <a:t>Deploy / live demo:</a:t>
            </a:r>
            <a:r>
              <a:rPr spc="11" sz="850">
                <a:solidFill>
                  <a:srgbClr val="232A33"/>
                </a:solidFill>
                <a:latin typeface="Roboto"/>
              </a:rPr>
              <a:t> None - deploys and runs the full demo with NO login and NO API key.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4200" y="1963420"/>
            <a:ext cx="586994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4" b="1" sz="850">
                <a:solidFill>
                  <a:srgbClr val="232A33"/>
                </a:solidFill>
                <a:latin typeface="Roboto"/>
              </a:rPr>
              <a:t>Live mode (optional):</a:t>
            </a:r>
            <a:r>
              <a:rPr spc="14" sz="850">
                <a:solidFill>
                  <a:srgbClr val="232A33"/>
                </a:solidFill>
                <a:latin typeface="Roboto"/>
              </a:rPr>
              <a:t> OPENAI_API_KEY and/or IndicTrans2 (optional). Browser: Web Speech. Runs example code in 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4200" y="2118360"/>
            <a:ext cx="128016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850">
                <a:solidFill>
                  <a:srgbClr val="232A33"/>
                </a:solidFill>
                <a:latin typeface="Roboto"/>
              </a:rPr>
              <a:t>sandboxed iframe/Worker.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2373630"/>
            <a:ext cx="177800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6" b="1" sz="800">
                <a:solidFill>
                  <a:srgbClr val="2C6DA3"/>
                </a:solidFill>
                <a:latin typeface="Roboto"/>
              </a:rPr>
              <a:t>PROMPT — copy &amp; paste into Codex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4200" y="2618740"/>
            <a:ext cx="635762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3" sz="800">
                <a:solidFill>
                  <a:srgbClr val="23272E"/>
                </a:solidFill>
                <a:latin typeface="Roboto"/>
              </a:rPr>
              <a:t>You are OpenAI Codex, a senior full-stack engineer. Build a COMPLETE, deployable web app in the current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2754630"/>
            <a:ext cx="506095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6" sz="800">
                <a:solidFill>
                  <a:srgbClr val="23272E"/>
                </a:solidFill>
                <a:latin typeface="Roboto"/>
              </a:rPr>
              <a:t>empty folder. No code from me; don't ask questions—note assumptions in the README.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890520"/>
            <a:ext cx="6391909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6" sz="800">
                <a:solidFill>
                  <a:srgbClr val="23272E"/>
                </a:solidFill>
                <a:latin typeface="Roboto"/>
              </a:rPr>
              <a:t>PRODUCT: "Code Guru" — teach a programming concept step-by-step in the learner's Indian language, with 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3026410"/>
            <a:ext cx="382651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3" sz="800">
                <a:solidFill>
                  <a:srgbClr val="23272E"/>
                </a:solidFill>
                <a:latin typeface="Roboto"/>
              </a:rPr>
              <a:t>runnable example + audio. TRACK: Vernacular / Indic Languages.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3162300"/>
            <a:ext cx="6391909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8" sz="800">
                <a:solidFill>
                  <a:srgbClr val="23272E"/>
                </a:solidFill>
                <a:latin typeface="Roboto"/>
              </a:rPr>
              <a:t>CORE FLOW: (1) pick a concept (bundled: variables, loops, functions, async, recursion) + language (Hindi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3298190"/>
            <a:ext cx="635762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5" sz="800">
                <a:solidFill>
                  <a:srgbClr val="23272E"/>
                </a:solidFill>
                <a:latin typeface="Roboto"/>
              </a:rPr>
              <a:t>/ Tamil / Bengali / English); (2) step-by-step explanation in that language + a runnable code example 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3434079"/>
            <a:ext cx="629539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4" sz="800">
                <a:solidFill>
                  <a:srgbClr val="23272E"/>
                </a:solidFill>
                <a:latin typeface="Roboto"/>
              </a:rPr>
              <a:t>"Speak"; (3) a "check understanding" mini-quiz; (4) romanized-script toggle. Unmatched concept in demo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3569970"/>
            <a:ext cx="154305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9" sz="800">
                <a:solidFill>
                  <a:srgbClr val="23272E"/>
                </a:solidFill>
                <a:latin typeface="Roboto"/>
              </a:rPr>
              <a:t>-&gt; "not in the demo set".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3705860"/>
            <a:ext cx="6049009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9" sz="800">
                <a:solidFill>
                  <a:srgbClr val="23272E"/>
                </a:solidFill>
                <a:latin typeface="Roboto"/>
              </a:rPr>
              <a:t>SAFE CODE RUNNER (required): run example JS ONLY inside an iframe with sandbox="allow-scripts" (no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3841750"/>
            <a:ext cx="635762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7" sz="800">
                <a:solidFill>
                  <a:srgbClr val="23272E"/>
                </a:solidFill>
                <a:latin typeface="Roboto"/>
              </a:rPr>
              <a:t>allow-same-origin) OR a Web Worker with no DOM/network; NEVER eval/new Function in the main page; add 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3977640"/>
            <a:ext cx="246888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6" sz="800">
                <a:solidFill>
                  <a:srgbClr val="23272E"/>
                </a:solidFill>
                <a:latin typeface="Roboto"/>
              </a:rPr>
              <a:t>watchdog timeout to kill infinite loops.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4113529"/>
            <a:ext cx="610997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1" sz="800">
                <a:solidFill>
                  <a:srgbClr val="23272E"/>
                </a:solidFill>
                <a:latin typeface="Roboto"/>
              </a:rPr>
              <a:t>STACK: Next.js (App Router, latest stable) + TypeScript + Tailwind + Web Speech API + the sandboxed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4249420"/>
            <a:ext cx="450596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7" sz="800">
                <a:solidFill>
                  <a:srgbClr val="23272E"/>
                </a:solidFill>
                <a:latin typeface="Roboto"/>
              </a:rPr>
              <a:t>runner above. Deploy: Vercel. LLM/translation optional in a server route.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4200" y="4385310"/>
            <a:ext cx="635762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7" sz="800">
                <a:solidFill>
                  <a:srgbClr val="23272E"/>
                </a:solidFill>
                <a:latin typeface="Roboto"/>
              </a:rPr>
              <a:t>PREREQUISITES (also in README): Demo = NO login/key (bundled pre-translated lessons). Live (optional) =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4521200"/>
            <a:ext cx="567817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4" sz="800">
                <a:solidFill>
                  <a:srgbClr val="23272E"/>
                </a:solidFill>
                <a:latin typeface="Roboto"/>
              </a:rPr>
              <a:t>OPENAI_API_KEY and/or IndicTrans2. Web Speech caveats + getVoices() guard as for this track.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4657090"/>
            <a:ext cx="617220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5" sz="800">
                <a:solidFill>
                  <a:srgbClr val="23272E"/>
                </a:solidFill>
                <a:latin typeface="Roboto"/>
              </a:rPr>
              <a:t>DATA: /data/lessons.json = 5 concepts x all listed languages, each {explanationSteps[], exampleCode,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4792980"/>
            <a:ext cx="197485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9" sz="800">
                <a:solidFill>
                  <a:srgbClr val="23272E"/>
                </a:solidFill>
                <a:latin typeface="Roboto"/>
              </a:rPr>
              <a:t>quiz:[{q,options,answerIndex}]}.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200" y="4928870"/>
            <a:ext cx="617220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9" sz="800">
                <a:solidFill>
                  <a:srgbClr val="23272E"/>
                </a:solidFill>
                <a:latin typeface="Roboto"/>
              </a:rPr>
              <a:t>WORK EFFICIENTLY: plan mode first (PLANS.md w/ acceptance commands); parallel reads; high effort for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200" y="5064760"/>
            <a:ext cx="610997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7" sz="800">
                <a:solidFill>
                  <a:srgbClr val="23272E"/>
                </a:solidFill>
                <a:latin typeface="Roboto"/>
              </a:rPr>
              <a:t>lesson routing + the safe runner, low for UI; app+npm test+typecheck each milestone; /review before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4200" y="5200650"/>
            <a:ext cx="413512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9" sz="800">
                <a:solidFill>
                  <a:srgbClr val="23272E"/>
                </a:solidFill>
                <a:latin typeface="Roboto"/>
              </a:rPr>
              <a:t>done; small commits git commit --author="Codex &lt;codex@openai.com&gt;".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4200" y="5336540"/>
            <a:ext cx="623443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9" sz="800">
                <a:solidFill>
                  <a:srgbClr val="23272E"/>
                </a:solidFill>
                <a:latin typeface="Roboto"/>
              </a:rPr>
              <a:t>DELIVER: full code; AGENTS.md; README (run + 5-min Vercel deploy + PREREQUISITES + Web Speech notes +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4200" y="5472430"/>
            <a:ext cx="629539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9" sz="800">
                <a:solidFill>
                  <a:srgbClr val="23272E"/>
                </a:solidFill>
                <a:latin typeface="Roboto"/>
              </a:rPr>
              <a:t>"How Codex built this"); Vitest tests for lesson lookup + quiz scoring + a Playwright smoke test (pick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200" y="5608320"/>
            <a:ext cx="592582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9" sz="800">
                <a:solidFill>
                  <a:srgbClr val="23272E"/>
                </a:solidFill>
                <a:latin typeface="Roboto"/>
              </a:rPr>
              <a:t>concept+language -&gt; lesson + runnable example render); .env.example; MIT LICENSE; mobile-first +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5744210"/>
            <a:ext cx="271526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7" sz="800">
                <a:solidFill>
                  <a:srgbClr val="23272E"/>
                </a:solidFill>
                <a:latin typeface="Roboto"/>
              </a:rPr>
              <a:t>accessible; correct fonts; product original.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200" y="5880100"/>
            <a:ext cx="6391909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9" sz="800">
                <a:solidFill>
                  <a:srgbClr val="23272E"/>
                </a:solidFill>
                <a:latin typeface="Roboto"/>
              </a:rPr>
              <a:t>DONE WHEN: `npm install &amp;&amp; npm run dev` teaches a concept in Hindi + one other language with a sandboxed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200" y="6015990"/>
            <a:ext cx="610997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4" sz="800">
                <a:solidFill>
                  <a:srgbClr val="23272E"/>
                </a:solidFill>
                <a:latin typeface="Roboto"/>
              </a:rPr>
              <a:t>runnable example + getVoices()-guarded Speak, no key; npm test passes; npm run build succeeds. Then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6151880"/>
            <a:ext cx="419735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0" sz="800">
                <a:solidFill>
                  <a:srgbClr val="23272E"/>
                </a:solidFill>
                <a:latin typeface="Roboto"/>
              </a:rPr>
              <a:t>print run commands, Vercel deploy steps, a 5-line demo-video script.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4200" y="6385560"/>
            <a:ext cx="192532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9" b="1" sz="800">
                <a:solidFill>
                  <a:srgbClr val="2C6DA3"/>
                </a:solidFill>
                <a:latin typeface="Roboto"/>
              </a:rPr>
              <a:t>SUGGESTED CHANGES (make it yours)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6628130"/>
            <a:ext cx="1628139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850">
                <a:solidFill>
                  <a:srgbClr val="232A33"/>
                </a:solidFill>
                <a:latin typeface="Roboto"/>
              </a:rPr>
              <a:t>• Add more concepts / a full track.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4200" y="6785609"/>
            <a:ext cx="2254250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" sz="850">
                <a:solidFill>
                  <a:srgbClr val="232A33"/>
                </a:solidFill>
                <a:latin typeface="Roboto"/>
              </a:rPr>
              <a:t>• Add a Python runner (Pyodide) alongside JS.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4200" y="6943090"/>
            <a:ext cx="186563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" sz="850">
                <a:solidFill>
                  <a:srgbClr val="232A33"/>
                </a:solidFill>
                <a:latin typeface="Roboto"/>
              </a:rPr>
              <a:t>• Add spaced-repetition of the quizzes.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4200" y="7100570"/>
            <a:ext cx="1435100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" sz="850">
                <a:solidFill>
                  <a:srgbClr val="232A33"/>
                </a:solidFill>
                <a:latin typeface="Roboto"/>
              </a:rPr>
              <a:t>• Localise to more languages.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73350" y="10261600"/>
            <a:ext cx="2213610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" sz="750">
                <a:solidFill>
                  <a:srgbClr val="5C6672"/>
                </a:solidFill>
                <a:latin typeface="Roboto"/>
              </a:rPr>
              <a:t>ChatGPT Codex India Hackathon 2026 - Track Kits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20509" y="10261600"/>
            <a:ext cx="355600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" sz="750">
                <a:solidFill>
                  <a:srgbClr val="5C6672"/>
                </a:solidFill>
                <a:latin typeface="Roboto"/>
              </a:rPr>
              <a:t>Page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0165080"/>
            <a:ext cx="6391909" cy="127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00" y="10217150"/>
            <a:ext cx="635000" cy="171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200" y="584200"/>
            <a:ext cx="6394450" cy="304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" y="1689100"/>
            <a:ext cx="6572250" cy="4953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" y="1612900"/>
            <a:ext cx="6724650" cy="647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600" y="2330450"/>
            <a:ext cx="6597650" cy="44259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6400" y="2254250"/>
            <a:ext cx="6750050" cy="45783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300" y="6902450"/>
            <a:ext cx="6572250" cy="812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9100" y="6826250"/>
            <a:ext cx="6724650" cy="965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6600" y="685800"/>
            <a:ext cx="175260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2" b="1" sz="900">
                <a:solidFill>
                  <a:srgbClr val="FFFFFF"/>
                </a:solidFill>
                <a:latin typeface="Roboto"/>
              </a:rPr>
              <a:t>TRACK 8 · AI for Societal Good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1106170"/>
            <a:ext cx="103759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1" b="1" sz="1400">
                <a:solidFill>
                  <a:srgbClr val="092A49"/>
                </a:solidFill>
                <a:latin typeface="Roboto"/>
              </a:rPr>
              <a:t>AccessLens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1308100"/>
            <a:ext cx="3173729" cy="1181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" i="1" sz="950">
                <a:solidFill>
                  <a:srgbClr val="5C6672"/>
                </a:solidFill>
                <a:latin typeface="Roboto"/>
              </a:rPr>
              <a:t>One-click WCAG auditor (axe-core) + fixes + alt text + score.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1565910"/>
            <a:ext cx="102235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8" b="1" sz="800">
                <a:solidFill>
                  <a:srgbClr val="2C6DA3"/>
                </a:solidFill>
                <a:latin typeface="Roboto"/>
              </a:rPr>
              <a:t>API PREREQUISITES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1808480"/>
            <a:ext cx="439547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3" b="1" sz="850">
                <a:solidFill>
                  <a:srgbClr val="232A33"/>
                </a:solidFill>
                <a:latin typeface="Roboto"/>
              </a:rPr>
              <a:t>Deploy / live demo:</a:t>
            </a:r>
            <a:r>
              <a:rPr spc="11" sz="850">
                <a:solidFill>
                  <a:srgbClr val="232A33"/>
                </a:solidFill>
                <a:latin typeface="Roboto"/>
              </a:rPr>
              <a:t> None - deploys and runs the full demo with NO login and NO API key.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4200" y="1963420"/>
            <a:ext cx="525018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4" b="1" sz="850">
                <a:solidFill>
                  <a:srgbClr val="232A33"/>
                </a:solidFill>
                <a:latin typeface="Roboto"/>
              </a:rPr>
              <a:t>Live mode (optional):</a:t>
            </a:r>
            <a:r>
              <a:rPr spc="11" sz="850">
                <a:solidFill>
                  <a:srgbClr val="232A33"/>
                </a:solidFill>
                <a:latin typeface="Roboto"/>
              </a:rPr>
              <a:t> OPENAI_API_KEY (optional) for richer alt text. axe-core runs fully client-side, no key.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4200" y="2218690"/>
            <a:ext cx="177800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6" b="1" sz="800">
                <a:solidFill>
                  <a:srgbClr val="2C6DA3"/>
                </a:solidFill>
                <a:latin typeface="Roboto"/>
              </a:rPr>
              <a:t>PROMPT — copy &amp; paste into Codex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2463800"/>
            <a:ext cx="6049009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7" sz="800">
                <a:solidFill>
                  <a:srgbClr val="23272E"/>
                </a:solidFill>
                <a:latin typeface="Roboto"/>
              </a:rPr>
              <a:t>You are OpenAI Codex, a senior frontend engineer building an accessibility tool. Build a COMPLETE,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4200" y="2599690"/>
            <a:ext cx="6391909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4" sz="800">
                <a:solidFill>
                  <a:srgbClr val="23272E"/>
                </a:solidFill>
                <a:latin typeface="Roboto"/>
              </a:rPr>
              <a:t>deployable web app in the current empty folder. No code from me; don't ask questions—note assumptions 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2735580"/>
            <a:ext cx="67945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0" sz="800">
                <a:solidFill>
                  <a:srgbClr val="23272E"/>
                </a:solidFill>
                <a:latin typeface="Roboto"/>
              </a:rPr>
              <a:t>the README.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871470"/>
            <a:ext cx="629539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6" sz="800">
                <a:solidFill>
                  <a:srgbClr val="23272E"/>
                </a:solidFill>
                <a:latin typeface="Roboto"/>
              </a:rPr>
              <a:t>PRODUCT: "AccessLens" — find WCAG issues, explain the fixes, draft alt text, score the page. TRACK: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3007360"/>
            <a:ext cx="111125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1" sz="800">
                <a:solidFill>
                  <a:srgbClr val="23272E"/>
                </a:solidFill>
                <a:latin typeface="Roboto"/>
              </a:rPr>
              <a:t>for Societal Good.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3143250"/>
            <a:ext cx="629539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0" sz="800">
                <a:solidFill>
                  <a:srgbClr val="23272E"/>
                </a:solidFill>
                <a:latin typeface="Roboto"/>
              </a:rPr>
              <a:t>CORE FLOW: (1) paste an HTML snippet (default) or load the bundled inaccessible sample (live-URL fetch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3279140"/>
            <a:ext cx="6391909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3" sz="800">
                <a:solidFill>
                  <a:srgbClr val="23272E"/>
                </a:solidFill>
                <a:latin typeface="Roboto"/>
              </a:rPr>
              <a:t>needs a server proxy — note it, don't promise it); (2) run axe-core; (3) issues grouped by severity with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3415029"/>
            <a:ext cx="610997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0" sz="800">
                <a:solidFill>
                  <a:srgbClr val="23272E"/>
                </a:solidFill>
                <a:latin typeface="Roboto"/>
              </a:rPr>
              <a:t>element (selector+snippet), plain-English "why", and corrected markup; (4) draft alt text for &lt;img&gt;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3550920"/>
            <a:ext cx="432054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6" sz="800">
                <a:solidFill>
                  <a:srgbClr val="23272E"/>
                </a:solidFill>
                <a:latin typeface="Roboto"/>
              </a:rPr>
              <a:t>missing it; (5) score 0–100 + "Download report (Markdown)" + "Re-run".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3686810"/>
            <a:ext cx="610997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2" sz="800">
                <a:solidFill>
                  <a:srgbClr val="23272E"/>
                </a:solidFill>
                <a:latin typeface="Roboto"/>
              </a:rPr>
              <a:t>CORRECT SANDBOX PATTERN (required): parse the pasted HTML with DOMParser (never executes scripts 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3822700"/>
            <a:ext cx="598678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0" sz="800">
                <a:solidFill>
                  <a:srgbClr val="23272E"/>
                </a:solidFill>
                <a:latin typeface="Roboto"/>
              </a:rPr>
              <a:t>parse), render it into an iframe created with sandbox="allow-scripts" (NOT allow-same-origin, NOT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3958590"/>
            <a:ext cx="629539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8" sz="800">
                <a:solidFill>
                  <a:srgbClr val="23272E"/>
                </a:solidFill>
                <a:latin typeface="Roboto"/>
              </a:rPr>
              <a:t>allow-popups) so axe-core can execute inside it to compute contrast/layout, and inject an in-frame CSP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4094479"/>
            <a:ext cx="623443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0" sz="800">
                <a:solidFill>
                  <a:srgbClr val="23272E"/>
                </a:solidFill>
                <a:latin typeface="Roboto"/>
              </a:rPr>
              <a:t>`default-src 'none'` so untrusted markup can't call out. axe-core is injected only into that isolated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4230370"/>
            <a:ext cx="518414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7" sz="800">
                <a:solidFill>
                  <a:srgbClr val="23272E"/>
                </a:solidFill>
                <a:latin typeface="Roboto"/>
              </a:rPr>
              <a:t>frame. Do NOT say "scripts disabled" — axe-core must run inside the audited context.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4200" y="4366260"/>
            <a:ext cx="617220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9" sz="800">
                <a:solidFill>
                  <a:srgbClr val="23272E"/>
                </a:solidFill>
                <a:latin typeface="Roboto"/>
              </a:rPr>
              <a:t>STACK: Next.js (App Router, latest stable) + TypeScript + Tailwind + axe-core (client-side). Deploy: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4502150"/>
            <a:ext cx="339471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2" sz="800">
                <a:solidFill>
                  <a:srgbClr val="23272E"/>
                </a:solidFill>
                <a:latin typeface="Roboto"/>
              </a:rPr>
              <a:t>Vercel. Optional LLM (alt text) only in a server route.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4638040"/>
            <a:ext cx="598678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7" sz="800">
                <a:solidFill>
                  <a:srgbClr val="23272E"/>
                </a:solidFill>
                <a:latin typeface="Roboto"/>
              </a:rPr>
              <a:t>PREREQUISITES (also in README): Demo = NO login/key (axe-core runs in-browser). Live (optional) =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4773930"/>
            <a:ext cx="623443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2" sz="800">
                <a:solidFill>
                  <a:srgbClr val="23272E"/>
                </a:solidFill>
                <a:latin typeface="Roboto"/>
              </a:rPr>
              <a:t>OPENAI_API_KEY only, for richer alt text (a deterministic filename/context heuristic is the default).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200" y="4909820"/>
            <a:ext cx="425831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4" sz="800">
                <a:solidFill>
                  <a:srgbClr val="23272E"/>
                </a:solidFill>
                <a:latin typeface="Roboto"/>
              </a:rPr>
              <a:t>Tag any AI-drafted alt text "AI-suggested — verify" with an edit box.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200" y="5045710"/>
            <a:ext cx="6391909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1" sz="800">
                <a:solidFill>
                  <a:srgbClr val="23272E"/>
                </a:solidFill>
                <a:latin typeface="Roboto"/>
              </a:rPr>
              <a:t>DATA: /public/sample.html = a deliberately inaccessible page (missing alts, low contrast, no labels, bad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4200" y="5181600"/>
            <a:ext cx="92583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6" sz="800">
                <a:solidFill>
                  <a:srgbClr val="23272E"/>
                </a:solidFill>
                <a:latin typeface="Roboto"/>
              </a:rPr>
              <a:t>heading order).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4200" y="5317490"/>
            <a:ext cx="6391909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9" sz="800">
                <a:solidFill>
                  <a:srgbClr val="23272E"/>
                </a:solidFill>
                <a:latin typeface="Roboto"/>
              </a:rPr>
              <a:t>WORK EFFICIENTLY: plan mode first (PLANS.md w/ acceptance commands); parallel reads; high effort for the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4200" y="5453380"/>
            <a:ext cx="617220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7" sz="800">
                <a:solidFill>
                  <a:srgbClr val="23272E"/>
                </a:solidFill>
                <a:latin typeface="Roboto"/>
              </a:rPr>
              <a:t>audit wiring + report/score, low for UI; app+npm test+typecheck each milestone; /review before done;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200" y="5589270"/>
            <a:ext cx="376555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6" sz="800">
                <a:solidFill>
                  <a:srgbClr val="23272E"/>
                </a:solidFill>
                <a:latin typeface="Roboto"/>
              </a:rPr>
              <a:t>small commits git commit --author="Codex &lt;codex@openai.com&gt;".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5725160"/>
            <a:ext cx="610997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3" sz="800">
                <a:solidFill>
                  <a:srgbClr val="23272E"/>
                </a:solidFill>
                <a:latin typeface="Roboto"/>
              </a:rPr>
              <a:t>DELIVER: full code; AGENTS.md; README (run + 5-min Vercel deploy + PREREQUISITES + "How Codex built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200" y="5861050"/>
            <a:ext cx="629539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0" sz="800">
                <a:solidFill>
                  <a:srgbClr val="23272E"/>
                </a:solidFill>
                <a:latin typeface="Roboto"/>
              </a:rPr>
              <a:t>this"); Vitest tests for report + score + alt-text heuristic + a Playwright smoke test (load sample -&gt;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200" y="5996940"/>
            <a:ext cx="635762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4" sz="800">
                <a:solidFill>
                  <a:srgbClr val="23272E"/>
                </a:solidFill>
                <a:latin typeface="Roboto"/>
              </a:rPr>
              <a:t>issues + score render); .env.example; MIT LICENSE; mobile-first + accessible (the tool itself must pass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6132830"/>
            <a:ext cx="148082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6" sz="800">
                <a:solidFill>
                  <a:srgbClr val="23272E"/>
                </a:solidFill>
                <a:latin typeface="Roboto"/>
              </a:rPr>
              <a:t>a11y); product original.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4200" y="6268720"/>
            <a:ext cx="610997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0" sz="800">
                <a:solidFill>
                  <a:srgbClr val="23272E"/>
                </a:solidFill>
                <a:latin typeface="Roboto"/>
              </a:rPr>
              <a:t>DONE WHEN: `npm install &amp;&amp; npm run dev` audits the bundled page (axe-core executes in the sandboxed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6404610"/>
            <a:ext cx="635762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8" sz="800">
                <a:solidFill>
                  <a:srgbClr val="23272E"/>
                </a:solidFill>
                <a:latin typeface="Roboto"/>
              </a:rPr>
              <a:t>frame) and shows grouped issues + score + report, no key; npm test passes; npm run build succeeds. Then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4200" y="6540500"/>
            <a:ext cx="419735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0" sz="800">
                <a:solidFill>
                  <a:srgbClr val="23272E"/>
                </a:solidFill>
                <a:latin typeface="Roboto"/>
              </a:rPr>
              <a:t>print run commands, Vercel deploy steps, a 5-line demo-video script.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4200" y="6774180"/>
            <a:ext cx="192532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9" b="1" sz="800">
                <a:solidFill>
                  <a:srgbClr val="2C6DA3"/>
                </a:solidFill>
                <a:latin typeface="Roboto"/>
              </a:rPr>
              <a:t>SUGGESTED CHANGES (make it yours)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4200" y="7016750"/>
            <a:ext cx="2392680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" sz="850">
                <a:solidFill>
                  <a:srgbClr val="232A33"/>
                </a:solidFill>
                <a:latin typeface="Roboto"/>
              </a:rPr>
              <a:t>• Batch-audit multiple pages/URLs (server proxy).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4200" y="7174230"/>
            <a:ext cx="2466340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850">
                <a:solidFill>
                  <a:srgbClr val="232A33"/>
                </a:solidFill>
                <a:latin typeface="Roboto"/>
              </a:rPr>
              <a:t>• Add a colour-contrast fixer that suggests palettes.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4200" y="7331709"/>
            <a:ext cx="2354580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" sz="850">
                <a:solidFill>
                  <a:srgbClr val="232A33"/>
                </a:solidFill>
                <a:latin typeface="Roboto"/>
              </a:rPr>
              <a:t>• Add a CI mode (JSON output + fail thresholds).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4200" y="7489190"/>
            <a:ext cx="128905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" sz="850">
                <a:solidFill>
                  <a:srgbClr val="232A33"/>
                </a:solidFill>
                <a:latin typeface="Roboto"/>
              </a:rPr>
              <a:t>• Add mobile-a11y checks.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673350" y="10261600"/>
            <a:ext cx="2213610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" sz="750">
                <a:solidFill>
                  <a:srgbClr val="5C6672"/>
                </a:solidFill>
                <a:latin typeface="Roboto"/>
              </a:rPr>
              <a:t>ChatGPT Codex India Hackathon 2026 - Track Kits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20509" y="10261600"/>
            <a:ext cx="355600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" sz="750">
                <a:solidFill>
                  <a:srgbClr val="5C6672"/>
                </a:solidFill>
                <a:latin typeface="Roboto"/>
              </a:rPr>
              <a:t>Page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0165080"/>
            <a:ext cx="6391909" cy="127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00" y="10217150"/>
            <a:ext cx="635000" cy="171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200" y="584200"/>
            <a:ext cx="6394450" cy="304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" y="1689100"/>
            <a:ext cx="6572250" cy="4953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" y="1612900"/>
            <a:ext cx="6724650" cy="647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600" y="2330450"/>
            <a:ext cx="6597650" cy="48323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6400" y="2254250"/>
            <a:ext cx="6750050" cy="49847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300" y="7308850"/>
            <a:ext cx="6572250" cy="812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9100" y="7232650"/>
            <a:ext cx="6724650" cy="965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6600" y="685800"/>
            <a:ext cx="175260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2" b="1" sz="900">
                <a:solidFill>
                  <a:srgbClr val="FFFFFF"/>
                </a:solidFill>
                <a:latin typeface="Roboto"/>
              </a:rPr>
              <a:t>TRACK 8 · AI for Societal Good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1106170"/>
            <a:ext cx="98806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8" b="1" sz="1400">
                <a:solidFill>
                  <a:srgbClr val="092A49"/>
                </a:solidFill>
                <a:latin typeface="Roboto"/>
              </a:rPr>
              <a:t>Alert Saathi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1308100"/>
            <a:ext cx="2192020" cy="1181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2" i="1" sz="950">
                <a:solidFill>
                  <a:srgbClr val="5C6672"/>
                </a:solidFill>
                <a:latin typeface="Roboto"/>
              </a:rPr>
              <a:t>Multilingual disaster-alert triage on a map.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1565910"/>
            <a:ext cx="102235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8" b="1" sz="800">
                <a:solidFill>
                  <a:srgbClr val="2C6DA3"/>
                </a:solidFill>
                <a:latin typeface="Roboto"/>
              </a:rPr>
              <a:t>API PREREQUISITES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1808480"/>
            <a:ext cx="598170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3" b="1" sz="850">
                <a:solidFill>
                  <a:srgbClr val="232A33"/>
                </a:solidFill>
                <a:latin typeface="Roboto"/>
              </a:rPr>
              <a:t>Deploy / live demo:</a:t>
            </a:r>
            <a:r>
              <a:rPr spc="6" sz="850">
                <a:solidFill>
                  <a:srgbClr val="232A33"/>
                </a:solidFill>
                <a:latin typeface="Roboto"/>
              </a:rPr>
              <a:t> None - bundled alerts + free OSM tiles (keep the required '(c) OpenStreetMap contributors' attribution).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4200" y="1963420"/>
            <a:ext cx="633984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4" b="1" sz="850">
                <a:solidFill>
                  <a:srgbClr val="232A33"/>
                </a:solidFill>
                <a:latin typeface="Roboto"/>
              </a:rPr>
              <a:t>Live mode (optional):</a:t>
            </a:r>
            <a:r>
              <a:rPr spc="13" sz="850">
                <a:solidFill>
                  <a:srgbClr val="232A33"/>
                </a:solidFill>
                <a:latin typeface="Roboto"/>
              </a:rPr>
              <a:t> OPENAI_API_KEY + a data.gov.in key + IMD access (IMD needs onboarding + IP-whitelisting) for live data.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4200" y="2218690"/>
            <a:ext cx="177800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6" b="1" sz="800">
                <a:solidFill>
                  <a:srgbClr val="2C6DA3"/>
                </a:solidFill>
                <a:latin typeface="Roboto"/>
              </a:rPr>
              <a:t>PROMPT — copy &amp; paste into Codex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2463800"/>
            <a:ext cx="623443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9" sz="800">
                <a:solidFill>
                  <a:srgbClr val="23272E"/>
                </a:solidFill>
                <a:latin typeface="Roboto"/>
              </a:rPr>
              <a:t>You are OpenAI Codex, a senior frontend engineer. Build a COMPLETE, deployable web app in the current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4200" y="2599690"/>
            <a:ext cx="629539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8" sz="800">
                <a:solidFill>
                  <a:srgbClr val="23272E"/>
                </a:solidFill>
                <a:latin typeface="Roboto"/>
              </a:rPr>
              <a:t>empty folder. No code from me; don't ask questions—note assumptions in the README. Informational demo,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2735580"/>
            <a:ext cx="3148329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1" sz="800">
                <a:solidFill>
                  <a:srgbClr val="23272E"/>
                </a:solidFill>
                <a:latin typeface="Roboto"/>
              </a:rPr>
              <a:t>NOT an official alert source — show that in the UI.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871470"/>
            <a:ext cx="635762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0" sz="800">
                <a:solidFill>
                  <a:srgbClr val="23272E"/>
                </a:solidFill>
                <a:latin typeface="Roboto"/>
              </a:rPr>
              <a:t>PRODUCT: "Alert Saathi" — convert disaster/weather alerts into plain, actionable, multilingual messages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3007360"/>
            <a:ext cx="234569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8" sz="800">
                <a:solidFill>
                  <a:srgbClr val="23272E"/>
                </a:solidFill>
                <a:latin typeface="Roboto"/>
              </a:rPr>
              <a:t>on a map. TRACK: AI for Societal Good.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3143250"/>
            <a:ext cx="623443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6" sz="800">
                <a:solidFill>
                  <a:srgbClr val="23272E"/>
                </a:solidFill>
                <a:latin typeface="Roboto"/>
              </a:rPr>
              <a:t>CORE FLOW: (1) a feed of bundled sample alerts (flood/heatwave/cyclone) with location + severity; (2)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3279140"/>
            <a:ext cx="6391909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6" sz="800">
                <a:solidFill>
                  <a:srgbClr val="23272E"/>
                </a:solidFill>
                <a:latin typeface="Roboto"/>
              </a:rPr>
              <a:t>each alert -&gt; plain language + recommended actions (from a bundled per-hazard-type table) + translation,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3415029"/>
            <a:ext cx="6049009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9" sz="800">
                <a:solidFill>
                  <a:srgbClr val="23272E"/>
                </a:solidFill>
                <a:latin typeface="Roboto"/>
              </a:rPr>
              <a:t>as a card; (3) a Leaflet map plots alerts by severity; (4) filter by area/severity/language; "Copy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3550920"/>
            <a:ext cx="43180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92" sz="800">
                <a:solidFill>
                  <a:srgbClr val="23272E"/>
                </a:solidFill>
                <a:latin typeface="Roboto"/>
              </a:rPr>
              <a:t>alert".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3686810"/>
            <a:ext cx="635762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6" sz="800">
                <a:solidFill>
                  <a:srgbClr val="23272E"/>
                </a:solidFill>
                <a:latin typeface="Roboto"/>
              </a:rPr>
              <a:t>CONTENT SAFETY (critical): the LLM/translation layer may ONLY rephrase + translate the alert's existing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3822700"/>
            <a:ext cx="592582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7" sz="800">
                <a:solidFill>
                  <a:srgbClr val="23272E"/>
                </a:solidFill>
                <a:latin typeface="Roboto"/>
              </a:rPr>
              <a:t>fields (location, severity, hazard, official text) — it must NOT add, infer, or embellish facts.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3958590"/>
            <a:ext cx="6391909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2" sz="800">
                <a:solidFill>
                  <a:srgbClr val="23272E"/>
                </a:solidFill>
                <a:latin typeface="Roboto"/>
              </a:rPr>
              <a:t>"Recommended actions" come ONLY from a bundled /data/actions.json lookup per hazard type (e.g., flood -&gt;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4094479"/>
            <a:ext cx="598678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9" sz="800">
                <a:solidFill>
                  <a:srgbClr val="23272E"/>
                </a:solidFill>
                <a:latin typeface="Roboto"/>
              </a:rPr>
              <a:t>move to higher ground), never free-generated. Persistent disclaimer: "For info/demo only — follow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4230370"/>
            <a:ext cx="320929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2" sz="800">
                <a:solidFill>
                  <a:srgbClr val="23272E"/>
                </a:solidFill>
                <a:latin typeface="Roboto"/>
              </a:rPr>
              <a:t>official IMD/NDMA and local-authority instructions."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4200" y="4366260"/>
            <a:ext cx="610997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4" sz="800">
                <a:solidFill>
                  <a:srgbClr val="23272E"/>
                </a:solidFill>
                <a:latin typeface="Roboto"/>
              </a:rPr>
              <a:t>STACK: Next.js (App Router, latest stable) + TypeScript + Tailwind + Leaflet (OpenStreetMap tiles).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4502150"/>
            <a:ext cx="364109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0" sz="800">
                <a:solidFill>
                  <a:srgbClr val="23272E"/>
                </a:solidFill>
                <a:latin typeface="Roboto"/>
              </a:rPr>
              <a:t>Deploy: Vercel. LLM/translation optional in a server route.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4638040"/>
            <a:ext cx="623443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4" sz="800">
                <a:solidFill>
                  <a:srgbClr val="23272E"/>
                </a:solidFill>
                <a:latin typeface="Roboto"/>
              </a:rPr>
              <a:t>PREREQUISITES (also in README): Demo = NO login/key (bundled alerts + OSM tiles; keep the required "©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4773930"/>
            <a:ext cx="580136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9" sz="800">
                <a:solidFill>
                  <a:srgbClr val="23272E"/>
                </a:solidFill>
                <a:latin typeface="Roboto"/>
              </a:rPr>
              <a:t>OpenStreetMap contributors" attribution visible; heavy prod traffic should move to a paid tile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200" y="4909820"/>
            <a:ext cx="635762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6" sz="800">
                <a:solidFill>
                  <a:srgbClr val="23272E"/>
                </a:solidFill>
                <a:latin typeface="Roboto"/>
              </a:rPr>
              <a:t>provider). Live (optional) = OPENAI_API_KEY + a data.gov.in API key + IMD access — NOTE IMD's API needs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200" y="5045710"/>
            <a:ext cx="6391909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6" sz="800">
                <a:solidFill>
                  <a:srgbClr val="23272E"/>
                </a:solidFill>
                <a:latin typeface="Roboto"/>
              </a:rPr>
              <a:t>authenticated onboarding + IP-whitelisting and data.gov.in needs a registered key, so treat live data 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4200" y="5181600"/>
            <a:ext cx="55499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1" sz="800">
                <a:solidFill>
                  <a:srgbClr val="23272E"/>
                </a:solidFill>
                <a:latin typeface="Roboto"/>
              </a:rPr>
              <a:t>optional.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4200" y="5317490"/>
            <a:ext cx="598678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5" sz="800">
                <a:solidFill>
                  <a:srgbClr val="23272E"/>
                </a:solidFill>
                <a:latin typeface="Roboto"/>
              </a:rPr>
              <a:t>DATA: /data/alerts.json = 6 alerts {id,hazard,severity,lat,lng,area,officialText,translations{}};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4200" y="5453380"/>
            <a:ext cx="327152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8" sz="800">
                <a:solidFill>
                  <a:srgbClr val="23272E"/>
                </a:solidFill>
                <a:latin typeface="Roboto"/>
              </a:rPr>
              <a:t>/data/actions.json = hazard -&gt; recommended actions[].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200" y="5589270"/>
            <a:ext cx="6391909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9" sz="800">
                <a:solidFill>
                  <a:srgbClr val="23272E"/>
                </a:solidFill>
                <a:latin typeface="Roboto"/>
              </a:rPr>
              <a:t>WORK EFFICIENTLY: plan mode first (PLANS.md w/ acceptance commands); parallel reads; high effort for the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5725160"/>
            <a:ext cx="6391909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9" sz="800">
                <a:solidFill>
                  <a:srgbClr val="23272E"/>
                </a:solidFill>
                <a:latin typeface="Roboto"/>
              </a:rPr>
              <a:t>transform/severity/filter logic, low for UI; app+npm test+typecheck each milestone; /review before done;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200" y="5861050"/>
            <a:ext cx="376555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6" sz="800">
                <a:solidFill>
                  <a:srgbClr val="23272E"/>
                </a:solidFill>
                <a:latin typeface="Roboto"/>
              </a:rPr>
              <a:t>small commits git commit --author="Codex &lt;codex@openai.com&gt;".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200" y="5996940"/>
            <a:ext cx="617220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5" sz="800">
                <a:solidFill>
                  <a:srgbClr val="23272E"/>
                </a:solidFill>
                <a:latin typeface="Roboto"/>
              </a:rPr>
              <a:t>DELIVER: full code; AGENTS.md; README (run + 5-min Vercel deploy + PREREQUISITES + OSM attribution +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6132830"/>
            <a:ext cx="567817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7" sz="800">
                <a:solidFill>
                  <a:srgbClr val="23272E"/>
                </a:solidFill>
                <a:latin typeface="Roboto"/>
              </a:rPr>
              <a:t>IMD/data.gov.in friction + disclaimer + "How Codex built this"); Vitest tests for severity +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4200" y="6268720"/>
            <a:ext cx="635762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4" sz="800">
                <a:solidFill>
                  <a:srgbClr val="23272E"/>
                </a:solidFill>
                <a:latin typeface="Roboto"/>
              </a:rPr>
              <a:t>alert-transform (asserts actions come from the table, not invented) + a Playwright smoke test (alerts +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6404610"/>
            <a:ext cx="635762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6" sz="800">
                <a:solidFill>
                  <a:srgbClr val="23272E"/>
                </a:solidFill>
                <a:latin typeface="Roboto"/>
              </a:rPr>
              <a:t>map render, filter works); .env.example; MIT LICENSE; mobile-first + accessible + multilingual; product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4200" y="6540500"/>
            <a:ext cx="55499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69" sz="800">
                <a:solidFill>
                  <a:srgbClr val="23272E"/>
                </a:solidFill>
                <a:latin typeface="Roboto"/>
              </a:rPr>
              <a:t>original.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4200" y="6676390"/>
            <a:ext cx="623443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0" sz="800">
                <a:solidFill>
                  <a:srgbClr val="23272E"/>
                </a:solidFill>
                <a:latin typeface="Roboto"/>
              </a:rPr>
              <a:t>DONE WHEN: `npm install &amp;&amp; npm run dev` shows simplified, translated alerts (actions from the bundled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4200" y="6812280"/>
            <a:ext cx="629539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1" sz="800">
                <a:solidFill>
                  <a:srgbClr val="23272E"/>
                </a:solidFill>
                <a:latin typeface="Roboto"/>
              </a:rPr>
              <a:t>table) on a working attributed map with filters, no key; npm test passes; npm run build succeeds. Then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4200" y="6948170"/>
            <a:ext cx="419735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0" sz="800">
                <a:solidFill>
                  <a:srgbClr val="23272E"/>
                </a:solidFill>
                <a:latin typeface="Roboto"/>
              </a:rPr>
              <a:t>print run commands, Vercel deploy steps, a 5-line demo-video script.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4200" y="7181850"/>
            <a:ext cx="192532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9" b="1" sz="800">
                <a:solidFill>
                  <a:srgbClr val="2C6DA3"/>
                </a:solidFill>
                <a:latin typeface="Roboto"/>
              </a:rPr>
              <a:t>SUGGESTED CHANGES (make it yours)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4200" y="7424420"/>
            <a:ext cx="2824479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" sz="850">
                <a:solidFill>
                  <a:srgbClr val="232A33"/>
                </a:solidFill>
                <a:latin typeface="Roboto"/>
              </a:rPr>
              <a:t>• Wire live data.gov.in / IMD feeds (plan onboarding early).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4200" y="7581900"/>
            <a:ext cx="2023110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" sz="850">
                <a:solidFill>
                  <a:srgbClr val="232A33"/>
                </a:solidFill>
                <a:latin typeface="Roboto"/>
              </a:rPr>
              <a:t>• Add SMS/WhatsApp broadcast of alerts.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4200" y="7739380"/>
            <a:ext cx="1905000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" sz="850">
                <a:solidFill>
                  <a:srgbClr val="232A33"/>
                </a:solidFill>
                <a:latin typeface="Roboto"/>
              </a:rPr>
              <a:t>• Add crowd-report intake + verification.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4200" y="7896859"/>
            <a:ext cx="1568450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" sz="850">
                <a:solidFill>
                  <a:srgbClr val="232A33"/>
                </a:solidFill>
                <a:latin typeface="Roboto"/>
              </a:rPr>
              <a:t>• Add per-pincode subscriptions.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673350" y="10261600"/>
            <a:ext cx="2213610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" sz="750">
                <a:solidFill>
                  <a:srgbClr val="5C6672"/>
                </a:solidFill>
                <a:latin typeface="Roboto"/>
              </a:rPr>
              <a:t>ChatGPT Codex India Hackathon 2026 - Track Kits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20509" y="10261600"/>
            <a:ext cx="355600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" sz="750">
                <a:solidFill>
                  <a:srgbClr val="5C6672"/>
                </a:solidFill>
                <a:latin typeface="Roboto"/>
              </a:rPr>
              <a:t>Page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0165080"/>
            <a:ext cx="6391909" cy="127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00" y="10217150"/>
            <a:ext cx="635000" cy="171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200" y="584200"/>
            <a:ext cx="6394450" cy="304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" y="1689100"/>
            <a:ext cx="6572250" cy="6540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" y="1612900"/>
            <a:ext cx="6724650" cy="806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600" y="2489200"/>
            <a:ext cx="6597650" cy="4419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6400" y="2413000"/>
            <a:ext cx="6750050" cy="4572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300" y="7054850"/>
            <a:ext cx="6572250" cy="812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9100" y="6978650"/>
            <a:ext cx="6724650" cy="965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6600" y="685800"/>
            <a:ext cx="175260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2" b="1" sz="900">
                <a:solidFill>
                  <a:srgbClr val="FFFFFF"/>
                </a:solidFill>
                <a:latin typeface="Roboto"/>
              </a:rPr>
              <a:t>TRACK 8 · AI for Societal Good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1106170"/>
            <a:ext cx="100838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2" b="1" sz="1400">
                <a:solidFill>
                  <a:srgbClr val="092A49"/>
                </a:solidFill>
                <a:latin typeface="Roboto"/>
              </a:rPr>
              <a:t>Triage Mitra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1308100"/>
            <a:ext cx="3439160" cy="1181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2" i="1" sz="950">
                <a:solidFill>
                  <a:srgbClr val="5C6672"/>
                </a:solidFill>
                <a:latin typeface="Roboto"/>
              </a:rPr>
              <a:t>Rules-based symptom triage with strong 'not a diagnosis' framing.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1565910"/>
            <a:ext cx="102235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8" b="1" sz="800">
                <a:solidFill>
                  <a:srgbClr val="2C6DA3"/>
                </a:solidFill>
                <a:latin typeface="Roboto"/>
              </a:rPr>
              <a:t>API PREREQUISITES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1808480"/>
            <a:ext cx="439547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3" b="1" sz="850">
                <a:solidFill>
                  <a:srgbClr val="232A33"/>
                </a:solidFill>
                <a:latin typeface="Roboto"/>
              </a:rPr>
              <a:t>Deploy / live demo:</a:t>
            </a:r>
            <a:r>
              <a:rPr spc="11" sz="850">
                <a:solidFill>
                  <a:srgbClr val="232A33"/>
                </a:solidFill>
                <a:latin typeface="Roboto"/>
              </a:rPr>
              <a:t> None - deploys and runs the full demo with NO login and NO API key.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4200" y="1963420"/>
            <a:ext cx="633730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4" b="1" sz="850">
                <a:solidFill>
                  <a:srgbClr val="232A33"/>
                </a:solidFill>
                <a:latin typeface="Roboto"/>
              </a:rPr>
              <a:t>Live mode (optional):</a:t>
            </a:r>
            <a:r>
              <a:rPr spc="12" sz="850">
                <a:solidFill>
                  <a:srgbClr val="232A33"/>
                </a:solidFill>
                <a:latin typeface="Roboto"/>
              </a:rPr>
              <a:t> OPENAI_API_KEY (optional) - phrases conversation only; the rules engine always decides. No medical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4200" y="2118360"/>
            <a:ext cx="43053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" sz="850">
                <a:solidFill>
                  <a:srgbClr val="232A33"/>
                </a:solidFill>
                <a:latin typeface="Roboto"/>
              </a:rPr>
              <a:t>required.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2373630"/>
            <a:ext cx="177800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6" b="1" sz="800">
                <a:solidFill>
                  <a:srgbClr val="2C6DA3"/>
                </a:solidFill>
                <a:latin typeface="Roboto"/>
              </a:rPr>
              <a:t>PROMPT — copy &amp; paste into Codex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4200" y="2618740"/>
            <a:ext cx="635762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3" sz="800">
                <a:solidFill>
                  <a:srgbClr val="23272E"/>
                </a:solidFill>
                <a:latin typeface="Roboto"/>
              </a:rPr>
              <a:t>You are OpenAI Codex, a senior full-stack engineer. Build a COMPLETE, deployable web app in the current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2754630"/>
            <a:ext cx="592582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0" sz="800">
                <a:solidFill>
                  <a:srgbClr val="23272E"/>
                </a:solidFill>
                <a:latin typeface="Roboto"/>
              </a:rPr>
              <a:t>empty folder. No code from me; don't ask questions—note assumptions in the README. This is NOT 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890520"/>
            <a:ext cx="3148329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5" sz="800">
                <a:solidFill>
                  <a:srgbClr val="23272E"/>
                </a:solidFill>
                <a:latin typeface="Roboto"/>
              </a:rPr>
              <a:t>diagnostic or medical tool — show that prominently.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3026410"/>
            <a:ext cx="592582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2" sz="800">
                <a:solidFill>
                  <a:srgbClr val="23272E"/>
                </a:solidFill>
                <a:latin typeface="Roboto"/>
              </a:rPr>
              <a:t>PRODUCT: "Triage Mitra" — ask about symptoms, suggest a triage level (self-care / see a clinic 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3162300"/>
            <a:ext cx="394970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7" sz="800">
                <a:solidFill>
                  <a:srgbClr val="23272E"/>
                </a:solidFill>
                <a:latin typeface="Roboto"/>
              </a:rPr>
              <a:t>emergency), in the user's language. TRACK: AI for Societal Good.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3298190"/>
            <a:ext cx="524637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4" sz="800">
                <a:solidFill>
                  <a:srgbClr val="23272E"/>
                </a:solidFill>
                <a:latin typeface="Roboto"/>
              </a:rPr>
              <a:t>CORE FLOW: (1) a guided chat asks primary symptom + red-flag questions (bundled rules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3434079"/>
            <a:ext cx="617220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4" sz="800">
                <a:solidFill>
                  <a:srgbClr val="23272E"/>
                </a:solidFill>
                <a:latin typeface="Roboto"/>
              </a:rPr>
              <a:t>/data/triage.json); (2) output a triage level + reasoning + safe next steps; red-flag answers ALWAYS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3569970"/>
            <a:ext cx="6391909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4" sz="800">
                <a:solidFill>
                  <a:srgbClr val="23272E"/>
                </a:solidFill>
                <a:latin typeface="Roboto"/>
              </a:rPr>
              <a:t>show emergency guidance; (3) language toggle + optional voice; (4) a persistent, unmissable disclaimer 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3705860"/>
            <a:ext cx="339471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3" sz="800">
                <a:solidFill>
                  <a:srgbClr val="23272E"/>
                </a:solidFill>
                <a:latin typeface="Roboto"/>
              </a:rPr>
              <a:t>"call local emergency services" prompt for emergencies.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3841750"/>
            <a:ext cx="592582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0" sz="800">
                <a:solidFill>
                  <a:srgbClr val="23272E"/>
                </a:solidFill>
                <a:latin typeface="Roboto"/>
              </a:rPr>
              <a:t>SAFETY (critical): the DETERMINISTIC rules engine (/lib/triage.ts) ALWAYS decides the level; the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3977640"/>
            <a:ext cx="610997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3" sz="800">
                <a:solidFill>
                  <a:srgbClr val="23272E"/>
                </a:solidFill>
                <a:latin typeface="Roboto"/>
              </a:rPr>
              <a:t>optional LLM only phrases conversation and can NEVER change which red-flags fire or the level. Base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4113529"/>
            <a:ext cx="592582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0" sz="800">
                <a:solidFill>
                  <a:srgbClr val="23272E"/>
                </a:solidFill>
                <a:latin typeface="Roboto"/>
              </a:rPr>
              <a:t>/data/triage.json on a real, citable public-health framework (e.g., WHO IMCI / CDC self-triage /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4249420"/>
            <a:ext cx="592582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6" sz="800">
                <a:solidFill>
                  <a:srgbClr val="23272E"/>
                </a:solidFill>
                <a:latin typeface="Roboto"/>
              </a:rPr>
              <a:t>NHS-111-style) and cite it in the README; every ambiguous or uncovered case defaults to the MORE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4200" y="4385310"/>
            <a:ext cx="549275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3" sz="800">
                <a:solidFill>
                  <a:srgbClr val="23272E"/>
                </a:solidFill>
                <a:latin typeface="Roboto"/>
              </a:rPr>
              <a:t>cautious tier ("see a clinic"), never "self-care". State that these rules are a hackathon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4521200"/>
            <a:ext cx="283972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5" sz="800">
                <a:solidFill>
                  <a:srgbClr val="23272E"/>
                </a:solidFill>
                <a:latin typeface="Roboto"/>
              </a:rPr>
              <a:t>simplification, not production clinical logic.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4657090"/>
            <a:ext cx="635762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0" sz="800">
                <a:solidFill>
                  <a:srgbClr val="23272E"/>
                </a:solidFill>
                <a:latin typeface="Roboto"/>
              </a:rPr>
              <a:t>STACK: Next.js (App Router, latest stable) + TypeScript + Tailwind + Web Speech API (optional). Deploy: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4792980"/>
            <a:ext cx="240665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1" sz="800">
                <a:solidFill>
                  <a:srgbClr val="23272E"/>
                </a:solidFill>
                <a:latin typeface="Roboto"/>
              </a:rPr>
              <a:t>Vercel. LLM optional in a server route.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200" y="4928870"/>
            <a:ext cx="617220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8" sz="800">
                <a:solidFill>
                  <a:srgbClr val="23272E"/>
                </a:solidFill>
                <a:latin typeface="Roboto"/>
              </a:rPr>
              <a:t>PREREQUISITES (also in README): Demo = NO login/key (rules engine). Live (optional) = OPENAI_API_KEY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200" y="5064760"/>
            <a:ext cx="253111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1" sz="800">
                <a:solidFill>
                  <a:srgbClr val="23272E"/>
                </a:solidFill>
                <a:latin typeface="Roboto"/>
              </a:rPr>
              <a:t>only (phrasing). No medical API required.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4200" y="5200650"/>
            <a:ext cx="6049009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8" sz="800">
                <a:solidFill>
                  <a:srgbClr val="23272E"/>
                </a:solidFill>
                <a:latin typeface="Roboto"/>
              </a:rPr>
              <a:t>DATA: /data/triage.json = symptom -&gt; questions -&gt; level rules incl. explicit red-flag -&gt; emergency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4200" y="5336540"/>
            <a:ext cx="302387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8" sz="800">
                <a:solidFill>
                  <a:srgbClr val="23272E"/>
                </a:solidFill>
                <a:latin typeface="Roboto"/>
              </a:rPr>
              <a:t>mappings; cite the source framework in a comment.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4200" y="5472430"/>
            <a:ext cx="617220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9" sz="800">
                <a:solidFill>
                  <a:srgbClr val="23272E"/>
                </a:solidFill>
                <a:latin typeface="Roboto"/>
              </a:rPr>
              <a:t>WORK EFFICIENTLY: plan mode first (PLANS.md w/ acceptance commands); parallel reads; high effort for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200" y="5608320"/>
            <a:ext cx="635762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3" sz="800">
                <a:solidFill>
                  <a:srgbClr val="23272E"/>
                </a:solidFill>
                <a:latin typeface="Roboto"/>
              </a:rPr>
              <a:t>triage rules + red-flag safety, low for UI; app+npm test+typecheck each milestone; /review before done;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5744210"/>
            <a:ext cx="376555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6" sz="800">
                <a:solidFill>
                  <a:srgbClr val="23272E"/>
                </a:solidFill>
                <a:latin typeface="Roboto"/>
              </a:rPr>
              <a:t>small commits git commit --author="Codex &lt;codex@openai.com&gt;".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200" y="5880100"/>
            <a:ext cx="555498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6" sz="800">
                <a:solidFill>
                  <a:srgbClr val="23272E"/>
                </a:solidFill>
                <a:latin typeface="Roboto"/>
              </a:rPr>
              <a:t>DELIVER: full code; AGENTS.md; README (run + 5-min Vercel deploy + PREREQUISITES + a clear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200" y="6015990"/>
            <a:ext cx="610997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7" sz="800">
                <a:solidFill>
                  <a:srgbClr val="23272E"/>
                </a:solidFill>
                <a:latin typeface="Roboto"/>
              </a:rPr>
              <a:t>safety/disclaimer + cited framework + "How Codex built this"); thorough Vitest tests covering EVERY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6151880"/>
            <a:ext cx="610997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0" sz="800">
                <a:solidFill>
                  <a:srgbClr val="23272E"/>
                </a:solidFill>
                <a:latin typeface="Roboto"/>
              </a:rPr>
              <a:t>red-flag -&gt; emergency path + the cautious-default rule + a Playwright smoke test; .env.example; MIT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4200" y="6287770"/>
            <a:ext cx="419735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2" sz="800">
                <a:solidFill>
                  <a:srgbClr val="23272E"/>
                </a:solidFill>
                <a:latin typeface="Roboto"/>
              </a:rPr>
              <a:t>LICENSE; mobile-first + accessible + multilingual; product original.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6423660"/>
            <a:ext cx="635762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9" sz="800">
                <a:solidFill>
                  <a:srgbClr val="23272E"/>
                </a:solidFill>
                <a:latin typeface="Roboto"/>
              </a:rPr>
              <a:t>DONE WHEN: `npm install &amp;&amp; npm run dev` runs the symptom flow, returns a level with disclaimers, always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4200" y="6559550"/>
            <a:ext cx="623443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1" sz="800">
                <a:solidFill>
                  <a:srgbClr val="23272E"/>
                </a:solidFill>
                <a:latin typeface="Roboto"/>
              </a:rPr>
              <a:t>escalates red-flags, and defaults ambiguous cases to "see a clinic", no key; npm test passes; npm run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4200" y="6695440"/>
            <a:ext cx="549275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7" sz="800">
                <a:solidFill>
                  <a:srgbClr val="23272E"/>
                </a:solidFill>
                <a:latin typeface="Roboto"/>
              </a:rPr>
              <a:t>build succeeds. Then print run commands, Vercel deploy steps, a 5-line demo-video script.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4200" y="6929120"/>
            <a:ext cx="192532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9" b="1" sz="800">
                <a:solidFill>
                  <a:srgbClr val="2C6DA3"/>
                </a:solidFill>
                <a:latin typeface="Roboto"/>
              </a:rPr>
              <a:t>SUGGESTED CHANGES (make it yours)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4200" y="7171690"/>
            <a:ext cx="2945129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" sz="850">
                <a:solidFill>
                  <a:srgbClr val="232A33"/>
                </a:solidFill>
                <a:latin typeface="Roboto"/>
              </a:rPr>
              <a:t>• Expand rules from a cited framework (WHO/CDC/MoHFW).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4200" y="7329170"/>
            <a:ext cx="1483360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" sz="850">
                <a:solidFill>
                  <a:srgbClr val="232A33"/>
                </a:solidFill>
                <a:latin typeface="Roboto"/>
              </a:rPr>
              <a:t>• Add regional-language voice.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4200" y="7486650"/>
            <a:ext cx="1907539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" sz="850">
                <a:solidFill>
                  <a:srgbClr val="232A33"/>
                </a:solidFill>
                <a:latin typeface="Roboto"/>
              </a:rPr>
              <a:t>• Add a 'find nearest clinic' (Maps) step.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4200" y="7644130"/>
            <a:ext cx="2090420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" sz="850">
                <a:solidFill>
                  <a:srgbClr val="232A33"/>
                </a:solidFill>
                <a:latin typeface="Roboto"/>
              </a:rPr>
              <a:t>• Add a caregiver mode for children/elderly.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673350" y="10261600"/>
            <a:ext cx="2213610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" sz="750">
                <a:solidFill>
                  <a:srgbClr val="5C6672"/>
                </a:solidFill>
                <a:latin typeface="Roboto"/>
              </a:rPr>
              <a:t>ChatGPT Codex India Hackathon 2026 - Track Kits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20509" y="10261600"/>
            <a:ext cx="355600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" sz="750">
                <a:solidFill>
                  <a:srgbClr val="5C6672"/>
                </a:solidFill>
                <a:latin typeface="Roboto"/>
              </a:rPr>
              <a:t>Page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0165080"/>
            <a:ext cx="6391909" cy="127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00" y="10217150"/>
            <a:ext cx="635000" cy="171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200" y="584200"/>
            <a:ext cx="6394450" cy="304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" y="1689100"/>
            <a:ext cx="6572250" cy="4953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" y="1612900"/>
            <a:ext cx="6724650" cy="647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600" y="2330450"/>
            <a:ext cx="6597650" cy="4013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6400" y="2254250"/>
            <a:ext cx="6750050" cy="4165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300" y="6489700"/>
            <a:ext cx="6572250" cy="8191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9100" y="6413500"/>
            <a:ext cx="6724650" cy="971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6600" y="685800"/>
            <a:ext cx="234442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1" b="1" sz="900">
                <a:solidFill>
                  <a:srgbClr val="FFFFFF"/>
                </a:solidFill>
                <a:latin typeface="Roboto"/>
              </a:rPr>
              <a:t>TRACK 9 · Vibe Coding / Games / Creative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1106170"/>
            <a:ext cx="115570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6" b="1" sz="1400">
                <a:solidFill>
                  <a:srgbClr val="092A49"/>
                </a:solidFill>
                <a:latin typeface="Roboto"/>
              </a:rPr>
              <a:t>Meme Arcade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1308100"/>
            <a:ext cx="3009900" cy="1181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" i="1" sz="950">
                <a:solidFill>
                  <a:srgbClr val="5C6672"/>
                </a:solidFill>
                <a:latin typeface="Roboto"/>
              </a:rPr>
              <a:t>Upload an image -&gt; it becomes the sprite in a juicy game.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1565910"/>
            <a:ext cx="102235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8" b="1" sz="800">
                <a:solidFill>
                  <a:srgbClr val="2C6DA3"/>
                </a:solidFill>
                <a:latin typeface="Roboto"/>
              </a:rPr>
              <a:t>API PREREQUISITES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1808480"/>
            <a:ext cx="383667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3" b="1" sz="850">
                <a:solidFill>
                  <a:srgbClr val="232A33"/>
                </a:solidFill>
                <a:latin typeface="Roboto"/>
              </a:rPr>
              <a:t>Deploy / live demo:</a:t>
            </a:r>
            <a:r>
              <a:rPr spc="1" sz="850">
                <a:solidFill>
                  <a:srgbClr val="232A33"/>
                </a:solidFill>
                <a:latin typeface="Roboto"/>
              </a:rPr>
              <a:t> None - single static file, runs offline, no login/key/backend.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4200" y="1963420"/>
            <a:ext cx="142621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4" b="1" sz="850">
                <a:solidFill>
                  <a:srgbClr val="232A33"/>
                </a:solidFill>
                <a:latin typeface="Roboto"/>
              </a:rPr>
              <a:t>Live mode (optional):</a:t>
            </a:r>
            <a:r>
              <a:rPr spc="13" sz="850">
                <a:solidFill>
                  <a:srgbClr val="232A33"/>
                </a:solidFill>
                <a:latin typeface="Roboto"/>
              </a:rPr>
              <a:t> None.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4200" y="2218690"/>
            <a:ext cx="177800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6" b="1" sz="800">
                <a:solidFill>
                  <a:srgbClr val="2C6DA3"/>
                </a:solidFill>
                <a:latin typeface="Roboto"/>
              </a:rPr>
              <a:t>PROMPT — copy &amp; paste into Codex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2463800"/>
            <a:ext cx="635762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7" sz="800">
                <a:solidFill>
                  <a:srgbClr val="23272E"/>
                </a:solidFill>
                <a:latin typeface="Roboto"/>
              </a:rPr>
              <a:t>You are OpenAI Codex, a senior game developer. Build a COMPLETE, polished, original browser game in the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4200" y="2599690"/>
            <a:ext cx="555498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9" sz="800">
                <a:solidFill>
                  <a:srgbClr val="23272E"/>
                </a:solidFill>
                <a:latin typeface="Roboto"/>
              </a:rPr>
              <a:t>current empty folder. No code from me; don't ask questions—note assumptions in the README.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2735580"/>
            <a:ext cx="623443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9" sz="800">
                <a:solidFill>
                  <a:srgbClr val="23272E"/>
                </a:solidFill>
                <a:latin typeface="Roboto"/>
              </a:rPr>
              <a:t>PRODUCT: "Meme Arcade" — upload an image -&gt; it becomes the player sprite in a juicy, replayable game.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871470"/>
            <a:ext cx="234569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9" sz="800">
                <a:solidFill>
                  <a:srgbClr val="23272E"/>
                </a:solidFill>
                <a:latin typeface="Roboto"/>
              </a:rPr>
              <a:t>TRACK: Vibe Coding / Games / Creative.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3007360"/>
            <a:ext cx="6049009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7" sz="800">
                <a:solidFill>
                  <a:srgbClr val="23272E"/>
                </a:solidFill>
                <a:latin typeface="Roboto"/>
              </a:rPr>
              <a:t>GAME DESIGN: (1) upload/pick an image (bundled default) -&gt; auto-crop/scale to a sprite (via &lt;input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3143250"/>
            <a:ext cx="623443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3" sz="800">
                <a:solidFill>
                  <a:srgbClr val="23272E"/>
                </a:solidFill>
                <a:latin typeface="Roboto"/>
              </a:rPr>
              <a:t>type=file&gt; + URL.createObjectURL + drawImage — works offline); (2) a mechanic picker with 3 one-input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3279140"/>
            <a:ext cx="580136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8" sz="800">
                <a:solidFill>
                  <a:srgbClr val="23272E"/>
                </a:solidFill>
                <a:latin typeface="Roboto"/>
              </a:rPr>
              <a:t>mechanics, each with CONCRETE rules: Dodge (obstacles spawn from the right every `max(400, 900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3415029"/>
            <a:ext cx="629539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9" sz="800">
                <a:solidFill>
                  <a:srgbClr val="23272E"/>
                </a:solidFill>
                <a:latin typeface="Roboto"/>
              </a:rPr>
              <a:t>score*4)`ms; tap to jump; AABB collision), Flap (tap to flap vs gravity, gap-pipes), Gravity-Flip (tap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3550920"/>
            <a:ext cx="598678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1" sz="800">
                <a:solidFill>
                  <a:srgbClr val="23272E"/>
                </a:solidFill>
                <a:latin typeface="Roboto"/>
              </a:rPr>
              <a:t>flips vertical gravity, ceiling/floor gaps); combo grows on a near-miss (player within 12px of 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3686810"/>
            <a:ext cx="623443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3" sz="800">
                <a:solidFill>
                  <a:srgbClr val="23272E"/>
                </a:solidFill>
                <a:latin typeface="Roboto"/>
              </a:rPr>
              <a:t>obstacle without collision), resets on hit; (3) particles + screen-shake + trail; procedural WebAudio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3822700"/>
            <a:ext cx="617220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7" sz="800">
                <a:solidFill>
                  <a:srgbClr val="23272E"/>
                </a:solidFill>
                <a:latin typeface="Roboto"/>
              </a:rPr>
              <a:t>SFX + a simple OscillatorNode bassline (no files); (4) screens: Title (Tap to start + best), Playing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3958590"/>
            <a:ext cx="623443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3" sz="800">
                <a:solidFill>
                  <a:srgbClr val="23272E"/>
                </a:solidFill>
                <a:latin typeface="Roboto"/>
              </a:rPr>
              <a:t>(score+combo HUD), Game Over (score, best, Tap to retry, copyable share text). Touch + keyboard; best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4094479"/>
            <a:ext cx="228346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7" sz="800">
                <a:solidFill>
                  <a:srgbClr val="23272E"/>
                </a:solidFill>
                <a:latin typeface="Roboto"/>
              </a:rPr>
              <a:t>score in localStorage; pause on blur.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4230370"/>
            <a:ext cx="623443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4" sz="800">
                <a:solidFill>
                  <a:srgbClr val="23272E"/>
                </a:solidFill>
                <a:latin typeface="Roboto"/>
              </a:rPr>
              <a:t>TECH: prefer a SINGLE self-contained index.html (inline CSS + vanilla JS + Canvas 2D + WebAudio) that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4200" y="4366260"/>
            <a:ext cx="6391909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5" sz="800">
                <a:solidFill>
                  <a:srgbClr val="23272E"/>
                </a:solidFill>
                <a:latin typeface="Roboto"/>
              </a:rPr>
              <a:t>runs by double-clicking (file://) with NO backend/assets/build/network. (If you use a helper lib, do NOT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4502150"/>
            <a:ext cx="610997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6" sz="800">
                <a:solidFill>
                  <a:srgbClr val="23272E"/>
                </a:solidFill>
                <a:latin typeface="Roboto"/>
              </a:rPr>
              <a:t>— pure Canvas keeps the "open the file" promise; a bundler/served-page requirement would break it.)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4638040"/>
            <a:ext cx="592582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8" sz="800">
                <a:solidFill>
                  <a:srgbClr val="23272E"/>
                </a:solidFill>
                <a:latin typeface="Roboto"/>
              </a:rPr>
              <a:t>AudioContext must be created/resumed on the first tap (Title screen) per browser autoplay rules.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4773930"/>
            <a:ext cx="586359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3" sz="800">
                <a:solidFill>
                  <a:srgbClr val="23272E"/>
                </a:solidFill>
                <a:latin typeface="Roboto"/>
              </a:rPr>
              <a:t>PREREQUISITES (also in README): NONE — no login, no key, no backend, no network. Works offline.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200" y="4909820"/>
            <a:ext cx="6049009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2" sz="800">
                <a:solidFill>
                  <a:srgbClr val="23272E"/>
                </a:solidFill>
                <a:latin typeface="Roboto"/>
              </a:rPr>
              <a:t>WORK EFFICIENTLY: short PLANS.md first; build in milestones (playable core -&gt; sprite-from-image -&gt;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200" y="5045710"/>
            <a:ext cx="635762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0" sz="800">
                <a:solidFill>
                  <a:srgbClr val="23272E"/>
                </a:solidFill>
                <a:latin typeface="Roboto"/>
              </a:rPr>
              <a:t>mechanics -&gt; juice -&gt; audio -&gt; screens -&gt; mobile), open/run after each; /review before finishing; small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4200" y="5181600"/>
            <a:ext cx="339471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2" sz="800">
                <a:solidFill>
                  <a:srgbClr val="23272E"/>
                </a:solidFill>
                <a:latin typeface="Roboto"/>
              </a:rPr>
              <a:t>commits git commit --author="Codex &lt;codex@openai.com&gt;".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4200" y="5317490"/>
            <a:ext cx="394970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1" sz="800">
                <a:solidFill>
                  <a:srgbClr val="23272E"/>
                </a:solidFill>
                <a:latin typeface="Roboto"/>
              </a:rPr>
              <a:t>DELIVER: index.html (whole game, JS in clear commented sections: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4200" y="5453380"/>
            <a:ext cx="629539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0" sz="800">
                <a:solidFill>
                  <a:srgbClr val="23272E"/>
                </a:solidFill>
                <a:latin typeface="Roboto"/>
              </a:rPr>
              <a:t>input/physics/spawn/render/audio/state); AGENTS.md; README (play + 3-min static Vercel deploy + how to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200" y="5589270"/>
            <a:ext cx="419735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2" sz="800">
                <a:solidFill>
                  <a:srgbClr val="23272E"/>
                </a:solidFill>
                <a:latin typeface="Roboto"/>
              </a:rPr>
              <a:t>reskin + "How Codex built this"); vercel.json (static); MIT LICENSE.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5725160"/>
            <a:ext cx="635762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3" sz="800">
                <a:solidFill>
                  <a:srgbClr val="23272E"/>
                </a:solidFill>
                <a:latin typeface="Roboto"/>
              </a:rPr>
              <a:t>DONE WHEN: opening index.html gives a fully playable, juicy game where an uploaded image is the sprite,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200" y="5861050"/>
            <a:ext cx="617220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0" sz="800">
                <a:solidFill>
                  <a:srgbClr val="23272E"/>
                </a:solidFill>
                <a:latin typeface="Roboto"/>
              </a:rPr>
              <a:t>across all 3 mechanics, with sound (resumed on first tap), on mouse/keyboard/touch, and a saved best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200" y="5996940"/>
            <a:ext cx="6049009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5" sz="800">
                <a:solidFill>
                  <a:srgbClr val="23272E"/>
                </a:solidFill>
                <a:latin typeface="Roboto"/>
              </a:rPr>
              <a:t>score, no console errors. Then print: run locally, static Vercel deploy steps, a 5-line demo-video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6132830"/>
            <a:ext cx="43180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68" sz="800">
                <a:solidFill>
                  <a:srgbClr val="23272E"/>
                </a:solidFill>
                <a:latin typeface="Roboto"/>
              </a:rPr>
              <a:t>script.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4200" y="6366510"/>
            <a:ext cx="192532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9" b="1" sz="800">
                <a:solidFill>
                  <a:srgbClr val="2C6DA3"/>
                </a:solidFill>
                <a:latin typeface="Roboto"/>
              </a:rPr>
              <a:t>SUGGESTED CHANGES (make it yours)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6609080"/>
            <a:ext cx="2211070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" sz="850">
                <a:solidFill>
                  <a:srgbClr val="232A33"/>
                </a:solidFill>
                <a:latin typeface="Roboto"/>
              </a:rPr>
              <a:t>• Reskin the theme (festival, cricket, campus).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4200" y="6766559"/>
            <a:ext cx="1592580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" sz="850">
                <a:solidFill>
                  <a:srgbClr val="232A33"/>
                </a:solidFill>
                <a:latin typeface="Roboto"/>
              </a:rPr>
              <a:t>• Add a new mechanic or a boss.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4200" y="6924040"/>
            <a:ext cx="237236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" sz="850">
                <a:solidFill>
                  <a:srgbClr val="232A33"/>
                </a:solidFill>
                <a:latin typeface="Roboto"/>
              </a:rPr>
              <a:t>• Add a daily-seed challenge + local leaderboard.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4200" y="7081520"/>
            <a:ext cx="2047239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" sz="850">
                <a:solidFill>
                  <a:srgbClr val="232A33"/>
                </a:solidFill>
                <a:latin typeface="Roboto"/>
              </a:rPr>
              <a:t>• Let players share a generated game link.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73350" y="10261600"/>
            <a:ext cx="2213610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" sz="750">
                <a:solidFill>
                  <a:srgbClr val="5C6672"/>
                </a:solidFill>
                <a:latin typeface="Roboto"/>
              </a:rPr>
              <a:t>ChatGPT Codex India Hackathon 2026 - Track Kits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20509" y="10261600"/>
            <a:ext cx="355600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" sz="750">
                <a:solidFill>
                  <a:srgbClr val="5C6672"/>
                </a:solidFill>
                <a:latin typeface="Roboto"/>
              </a:rPr>
              <a:t>Page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0165080"/>
            <a:ext cx="6391909" cy="127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00" y="10217150"/>
            <a:ext cx="635000" cy="171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200" y="584200"/>
            <a:ext cx="6394450" cy="304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" y="1689100"/>
            <a:ext cx="6572250" cy="4953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" y="1612900"/>
            <a:ext cx="6724650" cy="647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600" y="2330450"/>
            <a:ext cx="6597650" cy="3200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6400" y="2254250"/>
            <a:ext cx="6750050" cy="3352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300" y="5676900"/>
            <a:ext cx="6572250" cy="812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9100" y="5600700"/>
            <a:ext cx="6724650" cy="965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6600" y="685800"/>
            <a:ext cx="234442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1" b="1" sz="900">
                <a:solidFill>
                  <a:srgbClr val="FFFFFF"/>
                </a:solidFill>
                <a:latin typeface="Roboto"/>
              </a:rPr>
              <a:t>TRACK 9 · Vibe Coding / Games / Creative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1106170"/>
            <a:ext cx="365759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4" b="1" sz="1400">
                <a:solidFill>
                  <a:srgbClr val="092A49"/>
                </a:solidFill>
                <a:latin typeface="Roboto"/>
              </a:rPr>
              <a:t>Flux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1308100"/>
            <a:ext cx="2829560" cy="1181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" i="1" sz="950">
                <a:solidFill>
                  <a:srgbClr val="5C6672"/>
                </a:solidFill>
                <a:latin typeface="Roboto"/>
              </a:rPr>
              <a:t>One-tap gravity-flip endless runner (single file, offline).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1565910"/>
            <a:ext cx="102235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8" b="1" sz="800">
                <a:solidFill>
                  <a:srgbClr val="2C6DA3"/>
                </a:solidFill>
                <a:latin typeface="Roboto"/>
              </a:rPr>
              <a:t>API PREREQUISITES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1808480"/>
            <a:ext cx="383667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3" b="1" sz="850">
                <a:solidFill>
                  <a:srgbClr val="232A33"/>
                </a:solidFill>
                <a:latin typeface="Roboto"/>
              </a:rPr>
              <a:t>Deploy / live demo:</a:t>
            </a:r>
            <a:r>
              <a:rPr spc="1" sz="850">
                <a:solidFill>
                  <a:srgbClr val="232A33"/>
                </a:solidFill>
                <a:latin typeface="Roboto"/>
              </a:rPr>
              <a:t> None - single static file, runs offline, no login/key/backend.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4200" y="1963420"/>
            <a:ext cx="142621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4" b="1" sz="850">
                <a:solidFill>
                  <a:srgbClr val="232A33"/>
                </a:solidFill>
                <a:latin typeface="Roboto"/>
              </a:rPr>
              <a:t>Live mode (optional):</a:t>
            </a:r>
            <a:r>
              <a:rPr spc="13" sz="850">
                <a:solidFill>
                  <a:srgbClr val="232A33"/>
                </a:solidFill>
                <a:latin typeface="Roboto"/>
              </a:rPr>
              <a:t> None.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4200" y="2218690"/>
            <a:ext cx="177800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6" b="1" sz="800">
                <a:solidFill>
                  <a:srgbClr val="2C6DA3"/>
                </a:solidFill>
                <a:latin typeface="Roboto"/>
              </a:rPr>
              <a:t>PROMPT — copy &amp; paste into Codex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2463800"/>
            <a:ext cx="635762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4" sz="800">
                <a:solidFill>
                  <a:srgbClr val="23272E"/>
                </a:solidFill>
                <a:latin typeface="Roboto"/>
              </a:rPr>
              <a:t>You are OpenAI Codex, a senior game developer. Build a COMPLETE, polished, original single-file browser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4200" y="2599690"/>
            <a:ext cx="629539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1" sz="800">
                <a:solidFill>
                  <a:srgbClr val="23272E"/>
                </a:solidFill>
                <a:latin typeface="Roboto"/>
              </a:rPr>
              <a:t>game in the current empty folder. No code from me; don't ask questions—note assumptions in the README.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2735580"/>
            <a:ext cx="586359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4" sz="800">
                <a:solidFill>
                  <a:srgbClr val="23272E"/>
                </a:solidFill>
                <a:latin typeface="Roboto"/>
              </a:rPr>
              <a:t>PRODUCT: "Flux" — a one-tap gravity-flip endless runner. TRACK: Vibe Coding / Games / Creative.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871470"/>
            <a:ext cx="6391909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8" sz="800">
                <a:solidFill>
                  <a:srgbClr val="23272E"/>
                </a:solidFill>
                <a:latin typeface="Roboto"/>
              </a:rPr>
              <a:t>GAME DESIGN: character auto-runs at constant x-speed; one input (tap/click/Space) flips vertical gravity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3007360"/>
            <a:ext cx="6049009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1" sz="800">
                <a:solidFill>
                  <a:srgbClr val="23272E"/>
                </a:solidFill>
                <a:latin typeface="Roboto"/>
              </a:rPr>
              <a:t>floor&lt;-&gt;ceiling to dodge obstacles (gaps that tighten with score); difficulty ramp: obstacle gap =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3143250"/>
            <a:ext cx="635762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8" sz="800">
                <a:solidFill>
                  <a:srgbClr val="23272E"/>
                </a:solidFill>
                <a:latin typeface="Roboto"/>
              </a:rPr>
              <a:t>`max(120, 260 score*1.5)`px, spawn spacing shrinks with score; combo grows on a near-miss (within 14px,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3279140"/>
            <a:ext cx="617220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9" sz="800">
                <a:solidFill>
                  <a:srgbClr val="23272E"/>
                </a:solidFill>
                <a:latin typeface="Roboto"/>
              </a:rPr>
              <a:t>no collision), resets on hit. Juice: particles on flip/near-miss, subtle screen shake on hit, trail.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3415029"/>
            <a:ext cx="629539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8" sz="800">
                <a:solidFill>
                  <a:srgbClr val="23272E"/>
                </a:solidFill>
                <a:latin typeface="Roboto"/>
              </a:rPr>
              <a:t>Audio: procedural WebAudio SFX + a looping OscillatorNode bassline (no files); AudioContext resumed 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3550920"/>
            <a:ext cx="635762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5" sz="800">
                <a:solidFill>
                  <a:srgbClr val="23272E"/>
                </a:solidFill>
                <a:latin typeface="Roboto"/>
              </a:rPr>
              <a:t>first tap. Screens: Title (Tap to start + best), Playing (score+combo HUD), Game Over (score, best, Tap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3686810"/>
            <a:ext cx="530860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1" sz="800">
                <a:solidFill>
                  <a:srgbClr val="23272E"/>
                </a:solidFill>
                <a:latin typeface="Roboto"/>
              </a:rPr>
              <a:t>to retry, copyable share text). Touch + keyboard; best in localStorage; pause on blur.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3822700"/>
            <a:ext cx="543179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8" sz="800">
                <a:solidFill>
                  <a:srgbClr val="23272E"/>
                </a:solidFill>
                <a:latin typeface="Roboto"/>
              </a:rPr>
              <a:t>TECH: ONE self-contained index.html (inline CSS + vanilla JS + Canvas 2D + WebAudio); NO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3958590"/>
            <a:ext cx="617220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2" sz="800">
                <a:solidFill>
                  <a:srgbClr val="23272E"/>
                </a:solidFill>
                <a:latin typeface="Roboto"/>
              </a:rPr>
              <a:t>backend/assets/build/network; runs by double-clicking; 60fps via requestAnimationFrame; crisp at any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4094479"/>
            <a:ext cx="296291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0" sz="800">
                <a:solidFill>
                  <a:srgbClr val="23272E"/>
                </a:solidFill>
                <a:latin typeface="Roboto"/>
              </a:rPr>
              <a:t>devicePixelRatio; colour-blind-friendly palette.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4230370"/>
            <a:ext cx="512318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6" sz="800">
                <a:solidFill>
                  <a:srgbClr val="23272E"/>
                </a:solidFill>
                <a:latin typeface="Roboto"/>
              </a:rPr>
              <a:t>PREREQUISITES (also in README): NONE — no login, key, backend, or network. Offline.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4200" y="4366260"/>
            <a:ext cx="598678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6" sz="800">
                <a:solidFill>
                  <a:srgbClr val="23272E"/>
                </a:solidFill>
                <a:latin typeface="Roboto"/>
              </a:rPr>
              <a:t>WORK EFFICIENTLY: short PLANS.md first; milestones (core -&gt; juice -&gt; audio -&gt; screens -&gt; mobile),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4502150"/>
            <a:ext cx="536956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5" sz="800">
                <a:solidFill>
                  <a:srgbClr val="23272E"/>
                </a:solidFill>
                <a:latin typeface="Roboto"/>
              </a:rPr>
              <a:t>open/run after each; /review before finishing; small commits git commit --author="Codex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4638040"/>
            <a:ext cx="1234439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8" sz="800">
                <a:solidFill>
                  <a:srgbClr val="23272E"/>
                </a:solidFill>
                <a:latin typeface="Roboto"/>
              </a:rPr>
              <a:t>&lt;codex@openai.com&gt;".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4773930"/>
            <a:ext cx="635762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7" sz="800">
                <a:solidFill>
                  <a:srgbClr val="23272E"/>
                </a:solidFill>
                <a:latin typeface="Roboto"/>
              </a:rPr>
              <a:t>DELIVER: index.html (commented sections); AGENTS.md; README (play + 3-min static deploy + reskin + "How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200" y="4909820"/>
            <a:ext cx="3332479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7" sz="800">
                <a:solidFill>
                  <a:srgbClr val="23272E"/>
                </a:solidFill>
                <a:latin typeface="Roboto"/>
              </a:rPr>
              <a:t>Codex built this"); vercel.json (static); MIT LICENSE.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200" y="5045710"/>
            <a:ext cx="610997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4" sz="800">
                <a:solidFill>
                  <a:srgbClr val="23272E"/>
                </a:solidFill>
                <a:latin typeface="Roboto"/>
              </a:rPr>
              <a:t>DONE WHEN: opening index.html gives a fully playable, juicy gravity-flip game with the ramp + combo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4200" y="5181600"/>
            <a:ext cx="635762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0" sz="800">
                <a:solidFill>
                  <a:srgbClr val="23272E"/>
                </a:solidFill>
                <a:latin typeface="Roboto"/>
              </a:rPr>
              <a:t>above, sound (resumed on first tap), on mouse/keyboard/touch, saved best score, no console errors. Then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4200" y="5317490"/>
            <a:ext cx="462915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4" sz="800">
                <a:solidFill>
                  <a:srgbClr val="23272E"/>
                </a:solidFill>
                <a:latin typeface="Roboto"/>
              </a:rPr>
              <a:t>print: run locally, static Vercel deploy steps, a 5-line demo-video script.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4200" y="5551170"/>
            <a:ext cx="192532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9" b="1" sz="800">
                <a:solidFill>
                  <a:srgbClr val="2C6DA3"/>
                </a:solidFill>
                <a:latin typeface="Roboto"/>
              </a:rPr>
              <a:t>SUGGESTED CHANGES (make it yours)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200" y="5793740"/>
            <a:ext cx="1640839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" sz="850">
                <a:solidFill>
                  <a:srgbClr val="232A33"/>
                </a:solidFill>
                <a:latin typeface="Roboto"/>
              </a:rPr>
              <a:t>• Reskin (space, monsoon, neon).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5951220"/>
            <a:ext cx="168275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" sz="850">
                <a:solidFill>
                  <a:srgbClr val="232A33"/>
                </a:solidFill>
                <a:latin typeface="Roboto"/>
              </a:rPr>
              <a:t>• Add power-ups / obstacle variety.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200" y="6108700"/>
            <a:ext cx="1330960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" sz="850">
                <a:solidFill>
                  <a:srgbClr val="232A33"/>
                </a:solidFill>
                <a:latin typeface="Roboto"/>
              </a:rPr>
              <a:t>• Add levels or a zen mode.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200" y="6266180"/>
            <a:ext cx="1409700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" sz="850">
                <a:solidFill>
                  <a:srgbClr val="232A33"/>
                </a:solidFill>
                <a:latin typeface="Roboto"/>
              </a:rPr>
              <a:t>• Add a daily-seed challenge.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73350" y="10261600"/>
            <a:ext cx="2213610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" sz="750">
                <a:solidFill>
                  <a:srgbClr val="5C6672"/>
                </a:solidFill>
                <a:latin typeface="Roboto"/>
              </a:rPr>
              <a:t>ChatGPT Codex India Hackathon 2026 - Track Kits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20509" y="10261600"/>
            <a:ext cx="355600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" sz="750">
                <a:solidFill>
                  <a:srgbClr val="5C6672"/>
                </a:solidFill>
                <a:latin typeface="Roboto"/>
              </a:rPr>
              <a:t>Page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0165080"/>
            <a:ext cx="6391909" cy="127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00" y="10217150"/>
            <a:ext cx="635000" cy="171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200" y="584200"/>
            <a:ext cx="6394450" cy="304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" y="1689100"/>
            <a:ext cx="6572250" cy="6540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" y="1612900"/>
            <a:ext cx="6724650" cy="806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600" y="2489200"/>
            <a:ext cx="6597650" cy="41465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6400" y="2413000"/>
            <a:ext cx="6750050" cy="42989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300" y="6781800"/>
            <a:ext cx="6572250" cy="812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9100" y="6705600"/>
            <a:ext cx="6724650" cy="965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6600" y="685800"/>
            <a:ext cx="234442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1" b="1" sz="900">
                <a:solidFill>
                  <a:srgbClr val="FFFFFF"/>
                </a:solidFill>
                <a:latin typeface="Roboto"/>
              </a:rPr>
              <a:t>TRACK 9 · Vibe Coding / Games / Creative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1106170"/>
            <a:ext cx="70104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4" b="1" sz="1400">
                <a:solidFill>
                  <a:srgbClr val="092A49"/>
                </a:solidFill>
                <a:latin typeface="Roboto"/>
              </a:rPr>
              <a:t>Loregen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1308100"/>
            <a:ext cx="3314700" cy="1181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" i="1" sz="950">
                <a:solidFill>
                  <a:srgbClr val="5C6672"/>
                </a:solidFill>
                <a:latin typeface="Roboto"/>
              </a:rPr>
              <a:t>AI dungeon-master mini-adventure (Next.js app, not single-file).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1565910"/>
            <a:ext cx="102235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8" b="1" sz="800">
                <a:solidFill>
                  <a:srgbClr val="2C6DA3"/>
                </a:solidFill>
                <a:latin typeface="Roboto"/>
              </a:rPr>
              <a:t>API PREREQUISITES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1808480"/>
            <a:ext cx="439547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3" b="1" sz="850">
                <a:solidFill>
                  <a:srgbClr val="232A33"/>
                </a:solidFill>
                <a:latin typeface="Roboto"/>
              </a:rPr>
              <a:t>Deploy / live demo:</a:t>
            </a:r>
            <a:r>
              <a:rPr spc="11" sz="850">
                <a:solidFill>
                  <a:srgbClr val="232A33"/>
                </a:solidFill>
                <a:latin typeface="Roboto"/>
              </a:rPr>
              <a:t> None - deploys and runs the full demo with NO login and NO API key.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4200" y="1963420"/>
            <a:ext cx="6379209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4" b="1" sz="850">
                <a:solidFill>
                  <a:srgbClr val="232A33"/>
                </a:solidFill>
                <a:latin typeface="Roboto"/>
              </a:rPr>
              <a:t>Live mode (optional):</a:t>
            </a:r>
            <a:r>
              <a:rPr spc="10" sz="850">
                <a:solidFill>
                  <a:srgbClr val="232A33"/>
                </a:solidFill>
                <a:latin typeface="Roboto"/>
              </a:rPr>
              <a:t> OPENAI_API_KEY (optional) for open-ended live scenes. Note: this one is a Next.js app (needs npm install 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4200" y="2118360"/>
            <a:ext cx="29718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" sz="850">
                <a:solidFill>
                  <a:srgbClr val="232A33"/>
                </a:solidFill>
                <a:latin typeface="Roboto"/>
              </a:rPr>
              <a:t>build).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2373630"/>
            <a:ext cx="177800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6" b="1" sz="800">
                <a:solidFill>
                  <a:srgbClr val="2C6DA3"/>
                </a:solidFill>
                <a:latin typeface="Roboto"/>
              </a:rPr>
              <a:t>PROMPT — copy &amp; paste into Codex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4200" y="2618740"/>
            <a:ext cx="635762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3" sz="800">
                <a:solidFill>
                  <a:srgbClr val="23272E"/>
                </a:solidFill>
                <a:latin typeface="Roboto"/>
              </a:rPr>
              <a:t>You are OpenAI Codex, a senior full-stack engineer. Build a COMPLETE, deployable web app in the current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2754630"/>
            <a:ext cx="610997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0" sz="800">
                <a:solidFill>
                  <a:srgbClr val="23272E"/>
                </a:solidFill>
                <a:latin typeface="Roboto"/>
              </a:rPr>
              <a:t>empty folder. No code from me; don't ask questions—note assumptions in the README. NOTE: unlike the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890520"/>
            <a:ext cx="635762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8" sz="800">
                <a:solidFill>
                  <a:srgbClr val="23272E"/>
                </a:solidFill>
                <a:latin typeface="Roboto"/>
              </a:rPr>
              <a:t>other two Track 9 products, this ships as a Next.js app (optional server route), NOT a single-file game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3026410"/>
            <a:ext cx="2900679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7" sz="800">
                <a:solidFill>
                  <a:srgbClr val="23272E"/>
                </a:solidFill>
                <a:latin typeface="Roboto"/>
              </a:rPr>
              <a:t>— so it needs npm install / dev / Vercel build.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3162300"/>
            <a:ext cx="6049009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6" sz="800">
                <a:solidFill>
                  <a:srgbClr val="23272E"/>
                </a:solidFill>
                <a:latin typeface="Roboto"/>
              </a:rPr>
              <a:t>PRODUCT: "Loregen" — a 10–15 min AI dungeon-master text adventure with light visuals + a shareable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3298190"/>
            <a:ext cx="277749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4" sz="800">
                <a:solidFill>
                  <a:srgbClr val="23272E"/>
                </a:solidFill>
                <a:latin typeface="Roboto"/>
              </a:rPr>
              <a:t>recap. TRACK: Vibe Coding / Games / Creative.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3434079"/>
            <a:ext cx="623443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4" sz="800">
                <a:solidFill>
                  <a:srgbClr val="23272E"/>
                </a:solidFill>
                <a:latin typeface="Roboto"/>
              </a:rPr>
              <a:t>CORE FLOW: (1) pick a theme (bundled: haunted temple / space derelict / monsoon city); (2) a narrated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3569970"/>
            <a:ext cx="6049009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1" sz="800">
                <a:solidFill>
                  <a:srgbClr val="23272E"/>
                </a:solidFill>
                <a:latin typeface="Roboto"/>
              </a:rPr>
              <a:t>scene with 2–4 choices that branch via a client-side story graph; simple inventory + health; light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3705860"/>
            <a:ext cx="425831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7" sz="800">
                <a:solidFill>
                  <a:srgbClr val="23272E"/>
                </a:solidFill>
                <a:latin typeface="Roboto"/>
              </a:rPr>
              <a:t>Canvas visuals per scene; (3) an ending screen with a copyable recap.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3841750"/>
            <a:ext cx="610997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4" sz="800">
                <a:solidFill>
                  <a:srgbClr val="23272E"/>
                </a:solidFill>
                <a:latin typeface="Roboto"/>
              </a:rPr>
              <a:t>STORY GRAPH (define + validate): /data/story.json nodes = {id, text, art?, choices:[{label, nextId,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3977640"/>
            <a:ext cx="629539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4" sz="800">
                <a:solidFill>
                  <a:srgbClr val="23272E"/>
                </a:solidFill>
                <a:latin typeface="Roboto"/>
              </a:rPr>
              <a:t>effects?:{inventory?:string[], health?:number}}], ending?:boolean}. Require &gt;=3 themes, each with &gt;=10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4113529"/>
            <a:ext cx="635762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8" sz="800">
                <a:solidFill>
                  <a:srgbClr val="23272E"/>
                </a:solidFill>
                <a:latin typeface="Roboto"/>
              </a:rPr>
              <a:t>nodes and &gt;=2 distinct endings, so "graph with multiple endings" is real (unit-test reachability of all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4249420"/>
            <a:ext cx="55499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8" sz="800">
                <a:solidFill>
                  <a:srgbClr val="23272E"/>
                </a:solidFill>
                <a:latin typeface="Roboto"/>
              </a:rPr>
              <a:t>endings).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4200" y="4385310"/>
            <a:ext cx="6391909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4" sz="800">
                <a:solidFill>
                  <a:srgbClr val="23272E"/>
                </a:solidFill>
                <a:latin typeface="Roboto"/>
              </a:rPr>
              <a:t>STACK: Next.js (App Router, latest stable) + TypeScript + Tailwind + Canvas (pick Canvas, not p5.js, for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4521200"/>
            <a:ext cx="413512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0" sz="800">
                <a:solidFill>
                  <a:srgbClr val="23272E"/>
                </a:solidFill>
                <a:latin typeface="Roboto"/>
              </a:rPr>
              <a:t>the light visuals). Deploy: Vercel. LLM optional in a server route.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4657090"/>
            <a:ext cx="592582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5" sz="800">
                <a:solidFill>
                  <a:srgbClr val="23272E"/>
                </a:solidFill>
                <a:latin typeface="Roboto"/>
              </a:rPr>
              <a:t>PREREQUISITES (also in README): Demo = NO login/key (bundled branching story). Live (optional) =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4792980"/>
            <a:ext cx="351790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3" sz="800">
                <a:solidFill>
                  <a:srgbClr val="23272E"/>
                </a:solidFill>
                <a:latin typeface="Roboto"/>
              </a:rPr>
              <a:t>OPENAI_API_KEY only (open-ended scenes from theme+state).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200" y="4928870"/>
            <a:ext cx="6049009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8" sz="800">
                <a:solidFill>
                  <a:srgbClr val="23272E"/>
                </a:solidFill>
                <a:latin typeface="Roboto"/>
              </a:rPr>
              <a:t>LIVE (optional): OPENAI_API_KEY + DEMO_MODE=false; OPENAI_MODEL env; never expose keys; .gitignore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200" y="5064760"/>
            <a:ext cx="1234439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1" sz="800">
                <a:solidFill>
                  <a:srgbClr val="23272E"/>
                </a:solidFill>
                <a:latin typeface="Roboto"/>
              </a:rPr>
              <a:t>.env*; .env.example.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4200" y="5200650"/>
            <a:ext cx="6391909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9" sz="800">
                <a:solidFill>
                  <a:srgbClr val="23272E"/>
                </a:solidFill>
                <a:latin typeface="Roboto"/>
              </a:rPr>
              <a:t>WORK EFFICIENTLY: plan mode first (PLANS.md w/ acceptance commands); parallel reads; high effort for the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4200" y="5336540"/>
            <a:ext cx="610997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5" sz="800">
                <a:solidFill>
                  <a:srgbClr val="23272E"/>
                </a:solidFill>
                <a:latin typeface="Roboto"/>
              </a:rPr>
              <a:t>story-graph engine + state, low for UI; app+npm test+typecheck each milestone; /review before done;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4200" y="5472430"/>
            <a:ext cx="376555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6" sz="800">
                <a:solidFill>
                  <a:srgbClr val="23272E"/>
                </a:solidFill>
                <a:latin typeface="Roboto"/>
              </a:rPr>
              <a:t>small commits git commit --author="Codex &lt;codex@openai.com&gt;".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200" y="5608320"/>
            <a:ext cx="635762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7" sz="800">
                <a:solidFill>
                  <a:srgbClr val="23272E"/>
                </a:solidFill>
                <a:latin typeface="Roboto"/>
              </a:rPr>
              <a:t>DELIVER: full code; AGENTS.md; README (run + 5-min Vercel deploy + PREREQUISITES + how to add a story +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5744210"/>
            <a:ext cx="6391909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0" sz="800">
                <a:solidFill>
                  <a:srgbClr val="23272E"/>
                </a:solidFill>
                <a:latin typeface="Roboto"/>
              </a:rPr>
              <a:t>"How Codex built this"); Vitest tests for the story-graph engine + inventory/state + ending-reachability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200" y="5880100"/>
            <a:ext cx="617220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4" sz="800">
                <a:solidFill>
                  <a:srgbClr val="23272E"/>
                </a:solidFill>
                <a:latin typeface="Roboto"/>
              </a:rPr>
              <a:t>+ a Playwright smoke test (start -&gt; choices -&gt; an ending); .env.example; MIT LICENSE; mobile-first +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200" y="6015990"/>
            <a:ext cx="178943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2" sz="800">
                <a:solidFill>
                  <a:srgbClr val="23272E"/>
                </a:solidFill>
                <a:latin typeface="Roboto"/>
              </a:rPr>
              <a:t>accessible; product original.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6151880"/>
            <a:ext cx="592582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5" sz="800">
                <a:solidFill>
                  <a:srgbClr val="23272E"/>
                </a:solidFill>
                <a:latin typeface="Roboto"/>
              </a:rPr>
              <a:t>DONE WHEN: `npm install &amp;&amp; npm run dev` plays a full branching run to an ending with visuals + 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4200" y="6287770"/>
            <a:ext cx="6391909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6" sz="800">
                <a:solidFill>
                  <a:srgbClr val="23272E"/>
                </a:solidFill>
                <a:latin typeface="Roboto"/>
              </a:rPr>
              <a:t>shareable recap, no key; npm test passes; npm run build succeeds. Then print run commands, Vercel deploy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6423660"/>
            <a:ext cx="209804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2" sz="800">
                <a:solidFill>
                  <a:srgbClr val="23272E"/>
                </a:solidFill>
                <a:latin typeface="Roboto"/>
              </a:rPr>
              <a:t>steps, a 5-line demo-video script.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4200" y="6657340"/>
            <a:ext cx="192532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9" b="1" sz="800">
                <a:solidFill>
                  <a:srgbClr val="2C6DA3"/>
                </a:solidFill>
                <a:latin typeface="Roboto"/>
              </a:rPr>
              <a:t>SUGGESTED CHANGES (make it yours)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4200" y="6899909"/>
            <a:ext cx="1798320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" sz="850">
                <a:solidFill>
                  <a:srgbClr val="232A33"/>
                </a:solidFill>
                <a:latin typeface="Roboto"/>
              </a:rPr>
              <a:t>• Write your own themed story graph.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4200" y="7057390"/>
            <a:ext cx="201168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" sz="850">
                <a:solidFill>
                  <a:srgbClr val="232A33"/>
                </a:solidFill>
                <a:latin typeface="Roboto"/>
              </a:rPr>
              <a:t>• Add art per scene (generated or drawn).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4200" y="7214870"/>
            <a:ext cx="1752600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850">
                <a:solidFill>
                  <a:srgbClr val="232A33"/>
                </a:solidFill>
                <a:latin typeface="Roboto"/>
              </a:rPr>
              <a:t>• Add save/continue + multiple slots.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4200" y="7372350"/>
            <a:ext cx="2186940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" sz="850">
                <a:solidFill>
                  <a:srgbClr val="232A33"/>
                </a:solidFill>
                <a:latin typeface="Roboto"/>
              </a:rPr>
              <a:t>• Add an LLM live mode for open-ended play.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673350" y="10261600"/>
            <a:ext cx="2213610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" sz="750">
                <a:solidFill>
                  <a:srgbClr val="5C6672"/>
                </a:solidFill>
                <a:latin typeface="Roboto"/>
              </a:rPr>
              <a:t>ChatGPT Codex India Hackathon 2026 - Track Kits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20509" y="10261600"/>
            <a:ext cx="355600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" sz="750">
                <a:solidFill>
                  <a:srgbClr val="5C6672"/>
                </a:solidFill>
                <a:latin typeface="Roboto"/>
              </a:rPr>
              <a:t>Page 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